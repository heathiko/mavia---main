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efb55cf-5fe5-bfb0-a1d4-f5f0d7400a8f}">
          <p14:sldIdLst>
            <p14:sldId id="256"/>
            <p14:sldId id="257"/>
            <p14:sldId id="258"/>
          </p14:sldIdLst>
        </p14:section>
        <p14:section name="Teacher side" id="{44e22c6c-5fd8-6599-0096-84a58c4ce4b6}">
          <p14:sldIdLst>
            <p14:sldId id="259"/>
            <p14:sldId id="260"/>
            <p14:sldId id="261"/>
            <p14:sldId id="262"/>
            <p14:sldId id="263"/>
            <p14:sldId id="264"/>
            <p14:sldId id="265"/>
            <p14:sldId id="266"/>
            <p14:sldId id="267"/>
            <p14:sldId id="268"/>
            <p14:sldId id="269"/>
          </p14:sldIdLst>
        </p14:section>
        <p14:section name="Learner side" id="{86de1227-1d8b-5088-e8bf-ce88f534f2fe}">
          <p14:sldIdLst>
            <p14:sldId id="270"/>
            <p14:sldId id="271"/>
            <p14:sldId id="272"/>
            <p14:sldId id="273"/>
            <p14:sldId id="274"/>
            <p14:sldId id="275"/>
            <p14:sldId id="276"/>
            <p14:sldId id="277"/>
            <p14:sldId id="278"/>
          </p14:sldIdLst>
        </p14:section>
        <p14:section name="Feedback and phase 2" id="{95879132-3739-aaa4-0aaf-8de47d34a699}">
          <p14:sldIdLst>
            <p14:sldId id="279"/>
            <p14:sldId id="280"/>
          </p14:sldIdLst>
        </p14:section>
        <p14:section name="Results" id="{9a911272-d963-a8f7-35cc-489198b6f070}">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Mastery after one answer, starting from 0.30</a:t>
            </a:r>
          </a:p>
        </c:rich>
      </c:tx>
      <c:layout/>
      <c:overlay val="0"/>
    </c:title>
    <c:autoTitleDeleted val="0"/>
    <c:plotArea>
      <c:layout/>
      <c:barChart>
        <c:barDir val="col"/>
        <c:grouping val="clustered"/>
        <c:varyColors val="0"/>
        <c:ser>
          <c:idx val="0"/>
          <c:order val="0"/>
          <c:tx>
            <c:strRef>
              <c:f>Sheet1!$B$1</c:f>
              <c:strCache>
                <c:ptCount val="1"/>
                <c:pt idx="0">
                  <c:v>Mastery after the answer</c:v>
                </c:pt>
              </c:strCache>
            </c:strRef>
          </c:tx>
          <c:spPr>
            <a:solidFill>
              <a:srgbClr val="1D5FD6"/>
            </a:solidFill>
            <a:effectLst/>
          </c:spPr>
          <c:invertIfNegative val="0"/>
          <c:dLbls>
            <c:numFmt formatCode="0.0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cat>
            <c:multiLvlStrRef>
              <c:f>Sheet1!$A$2:$A$5</c:f>
              <c:multiLvlStrCache>
                <c:ptCount val="4"/>
                <c:lvl>
                  <c:pt idx="0">
                    <c:v>MCQ, right</c:v>
                  </c:pt>
                  <c:pt idx="1">
                    <c:v>MCQ, wrong</c:v>
                  </c:pt>
                  <c:pt idx="2">
                    <c:v>T/F, right</c:v>
                  </c:pt>
                  <c:pt idx="3">
                    <c:v>T/F, wrong</c:v>
                  </c:pt>
                </c:lvl>
              </c:multiLvlStrCache>
            </c:multiLvlStrRef>
          </c:cat>
          <c:val>
            <c:numRef>
              <c:f>Sheet1!$B$2:$B$5</c:f>
              <c:numCache>
                <c:formatCode>General</c:formatCode>
                <c:ptCount val="4"/>
                <c:pt idx="0">
                  <c:v>0.71</c:v>
                </c:pt>
                <c:pt idx="1">
                  <c:v>0.193</c:v>
                </c:pt>
                <c:pt idx="2">
                  <c:v>0.542</c:v>
                </c:pt>
                <c:pt idx="3">
                  <c:v>0.211</c:v>
                </c:pt>
              </c:numCache>
            </c:numRef>
          </c:val>
        </c:ser>
        <c:dLbls>
          <c:numFmt formatCode="0.0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Weight of the student's own answers</a:t>
            </a:r>
          </a:p>
        </c:rich>
      </c:tx>
      <c:layout/>
      <c:overlay val="0"/>
    </c:title>
    <c:autoTitleDeleted val="0"/>
    <c:plotArea>
      <c:layout/>
      <c:lineChart>
        <c:varyColors val="0"/>
        <c:ser>
          <c:idx val="0"/>
          <c:order val="0"/>
          <c:tx>
            <c:strRef>
              <c:f>Sheet1!$B$1</c:f>
              <c:strCache>
                <c:ptCount val="1"/>
                <c:pt idx="0">
                  <c:v>Student's own share</c:v>
                </c:pt>
              </c:strCache>
            </c:strRef>
          </c:tx>
          <c:spPr>
            <a:solidFill>
              <a:srgbClr val="1D5FD6"/>
            </a:solidFill>
            <a:ln w="38100" cap="flat">
              <a:solidFill>
                <a:srgbClr val="1D5FD6"/>
              </a:solidFill>
              <a:prstDash val="solid"/>
              <a:round/>
            </a:ln>
            <a:effectLst/>
          </c:spPr>
          <c:invertIfNegative val="0"/>
          <c:dLbls>
            <c:numFmt formatCode="0%" sourceLinked="0"/>
            <c:txPr>
              <a:bodyPr/>
              <a:lstStyle/>
              <a:p>
                <a:pPr>
                  <a:defRPr b="0" i="0" strike="noStrike" sz="1200" u="none">
                    <a:solidFill>
                      <a:srgbClr val="14161A"/>
                    </a:solidFill>
                    <a:latin typeface="+mn-lt"/>
                  </a:defRPr>
                </a:pPr>
              </a:p>
            </c:txPr>
            <c:dLblPos val="t"/>
            <c:showLegendKey val="0"/>
            <c:showVal val="1"/>
            <c:showCatName val="0"/>
            <c:showSerName val="0"/>
            <c:showPercent val="0"/>
            <c:showBubbleSize val="0"/>
            <c:showLeaderLines val="0"/>
          </c:dLbls>
          <c:marker>
            <c:symbol val="circle"/>
            <c:size val="9"/>
            <c:spPr>
              <a:solidFill>
                <a:srgbClr val="1D5FD6"/>
              </a:solidFill>
              <a:ln w="9525" cap="flat">
                <a:solidFill>
                  <a:srgbClr val="1D5FD6"/>
                </a:solidFill>
                <a:prstDash val="solid"/>
                <a:round/>
              </a:ln>
              <a:effectLst/>
            </c:spPr>
          </c:marker>
          <c:cat>
            <c:multiLvlStrRef>
              <c:f>Sheet1!$A$2:$A$7</c:f>
              <c:multiLvlStrCache>
                <c:ptCount val="6"/>
                <c:lvl>
                  <c:pt idx="0">
                    <c:v>0</c:v>
                  </c:pt>
                  <c:pt idx="1">
                    <c:v>3</c:v>
                  </c:pt>
                  <c:pt idx="2">
                    <c:v>10</c:v>
                  </c:pt>
                  <c:pt idx="3">
                    <c:v>24</c:v>
                  </c:pt>
                  <c:pt idx="4">
                    <c:v>40</c:v>
                  </c:pt>
                  <c:pt idx="5">
                    <c:v>60</c:v>
                  </c:pt>
                </c:lvl>
              </c:multiLvlStrCache>
            </c:multiLvlStrRef>
          </c:cat>
          <c:val>
            <c:numRef>
              <c:f>Sheet1!$B$2:$B$7</c:f>
              <c:numCache>
                <c:formatCode>General</c:formatCode>
                <c:ptCount val="6"/>
                <c:pt idx="0">
                  <c:v>0</c:v>
                </c:pt>
                <c:pt idx="1">
                  <c:v>0.23</c:v>
                </c:pt>
                <c:pt idx="2">
                  <c:v>0.5</c:v>
                </c:pt>
                <c:pt idx="3">
                  <c:v>0.71</c:v>
                </c:pt>
                <c:pt idx="4">
                  <c:v>0.8</c:v>
                </c:pt>
                <c:pt idx="5">
                  <c:v>0.86</c:v>
                </c:pt>
              </c:numCache>
            </c:numRef>
          </c:val>
          <c:smooth val="0"/>
        </c:ser>
        <c:dLbls>
          <c:numFmt formatCode="0%" sourceLinked="0"/>
          <c:txPr>
            <a:bodyPr/>
            <a:lstStyle/>
            <a:p>
              <a:pPr>
                <a:defRPr b="0" i="0" strike="noStrike" sz="1200" u="none">
                  <a:solidFill>
                    <a:srgbClr val="1416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372"/>
                    </a:solidFill>
                    <a:latin typeface="+mn-lt"/>
                  </a:defRPr>
                </a:pPr>
                <a:r>
                  <a:rPr sz="1200" b="0" i="0" u="none" strike="noStrike">
                    <a:solidFill>
                      <a:srgbClr val="5B6372"/>
                    </a:solidFill>
                    <a:latin typeface="+mn-lt"/>
                  </a:rPr>
                  <a:t>answers given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1B3D"/>
                </a:solidFill>
                <a:latin typeface="+mn-lt"/>
              </a:defRPr>
            </a:pPr>
            <a:r>
              <a:rPr sz="1400" b="0" i="0" u="none" strike="noStrike">
                <a:solidFill>
                  <a:srgbClr val="0A1B3D"/>
                </a:solidFill>
                <a:latin typeface="+mn-lt"/>
              </a:rPr>
              <a:t>Simulated students on Solid, Liquid and Gas</a:t>
            </a:r>
          </a:p>
        </c:rich>
      </c:tx>
      <c:layout/>
      <c:overlay val="0"/>
    </c:title>
    <c:autoTitleDeleted val="0"/>
    <c:plotArea>
      <c:layout/>
      <c:barChart>
        <c:barDir val="bar"/>
        <c:grouping val="clustered"/>
        <c:varyColors val="0"/>
        <c:ser>
          <c:idx val="0"/>
          <c:order val="0"/>
          <c:tx>
            <c:strRef>
              <c:f>Sheet1!$B$1</c:f>
              <c:strCache>
                <c:ptCount val="1"/>
                <c:pt idx="0">
                  <c:v>Interactions to finish the topic</c:v>
                </c:pt>
              </c:strCache>
            </c:strRef>
          </c:tx>
          <c:spPr>
            <a:solidFill>
              <a:srgbClr val="1D5FD6"/>
            </a:solidFill>
            <a:effectLst/>
          </c:spPr>
          <c:invertIfNegative val="0"/>
          <c:dLbls>
            <c:numFmt formatCode="#,##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cat>
            <c:multiLvlStrRef>
              <c:f>Sheet1!$A$2:$A$4</c:f>
              <c:multiLvlStrCache>
                <c:ptCount val="3"/>
                <c:lvl>
                  <c:pt idx="0">
                    <c:v>Always right</c:v>
                  </c:pt>
                  <c:pt idx="1">
                    <c:v>Wrong on first try</c:v>
                  </c:pt>
                  <c:pt idx="2">
                    <c:v>Always wrong</c:v>
                  </c:pt>
                </c:lvl>
              </c:multiLvlStrCache>
            </c:multiLvlStrRef>
          </c:cat>
          <c:val>
            <c:numRef>
              <c:f>Sheet1!$B$2:$B$4</c:f>
              <c:numCache>
                <c:formatCode>General</c:formatCode>
                <c:ptCount val="3"/>
                <c:pt idx="0">
                  <c:v>25</c:v>
                </c:pt>
                <c:pt idx="1">
                  <c:v>49</c:v>
                </c:pt>
                <c:pt idx="2">
                  <c:v>71</c:v>
                </c:pt>
              </c:numCache>
            </c:numRef>
          </c:val>
        </c:ser>
        <c:dLbls>
          <c:numFmt formatCode="#,##0" sourceLinked="0"/>
          <c:txPr>
            <a:bodyPr/>
            <a:lstStyle/>
            <a:p>
              <a:pPr>
                <a:defRPr b="0" i="0" strike="noStrike" sz="1200" u="none">
                  <a:solidFill>
                    <a:srgbClr val="1416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6350" cap="flat">
              <a:solidFill>
                <a:srgbClr val="D9DE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3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MAVIA is an adaptive, audio-first science tutor for blind and low-vision elementary learners. A teacher uploads science PDFs; the system extracts the lesson, forms concepts across the files, prepares three versions of each concept, generates and checks questions, derives the order the ideas should be learned in, converts everything to speech and publishes it. On the phone, every answer a learner gives is scored and decides what they hear next. This defense walks the whole pipeline as Input, Process, Output, one stage at a time, and for each process names the algorithm that does the transforming.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in one picture. Inputs come from two people: the teacher, who supplies the course outline, at least two PDF lessons per topic, review decisions and a roster; and the learner, who answers and navigates on a braille-keycapped keypad. The process has two halves. The teacher side runs once per publish: extraction, concept formation, content versions, questions, the learning path, then audio and publishing. The learner side runs on every answer: the course package, mastery scoring with Bayesian Knowledge Tracing, the cold start, and the rule gating that picks the next step. The outputs are the published audio course, the learner record, and progress reports for the teacher. The decision log closes the loop and is the training data for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talk. For each process: the algorithm or model that does the work, and what it turns into what. Two encoders recur across the pipeline: the MiniLM sentence encoder, a bi-encoder used for fast similarity, and RoBERTa models, used where a pair or a question needs to be read in full. Large language models do drafting and classification, but every LLM output is checked by something that is not the LLM: measurements, retrieval, or the teacher. On the learner side the algorithms are probabilistic: Bayesian Knowledge Tracing for mastery and Bayesian shrinkage for the cold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side runs once per publish. Each of the next slides is one process, in the same Input, Process, Output frame, with the algorithms listed along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an uploaded PDF and the course outline. First, PyMuPDF reads every page as text blocks and sorts them into visual reading order, because a PDF's storage order is not the order a person reads. Second, a rule-based classifier gives every block one of twelve roles — lesson content, learning objective, assessment, teacher note, answer key, running header and so on — and only lesson content becomes narration. Third, a page-level pass removes whole pages around the lesson using structure, not word lists: pages before printed page one, upside-down pages, which is how modules hide answer keys, and link-heavy reference pages; measured on one DepEd module, about 35 of 116 objects were credits and answer keys before this pass. Fourth, the PDF is matched to its outline topic with TF-IDF vectors over single words and word pairs and cosine similarity, and short neighbouring objects under the same heading are merged when they are similar. Fifth, every figure is sent to a vision model that is asked what the figure teaches, because a blind learner needs the science, not the layout; descriptions are cached, and the caption is the fallback. Output: an ordered list of learning objects, each with a title, its section heading and its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the confirmed learning objects of every PDF in a topic. The same idea is usually taught by several files at different grain — one PDF teaches Solid in a paragraph, another as a section, a diagram and a list of examples. Grouping uses two models. The MiniLM bi-encoder embeds each object once, so cosine similarity can shortlist the ten closest concepts cheaply. Then the RoBERTa cross-encoder, trained on semantic textual similarity, reads the object together with every member of each shortlisted concept, which is slower but far more precise; MAVIA takes the lowest member score, so a strong match to one member cannot hide a weak match to another. Scores at or above 0.60 with a clear lead group automatically; scores between 0.30 and 0.60 become a suggestion card for the teacher; anything lower stays separate. Structure helps where scores fail: a run of objects under one heading becomes one concept only when another PDF names that unit. Output: concepts, each holding one bundle per PDF in that PDF's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two encoders. A bi-encoder embeds each text on its own, so vectors can be computed once and compared by cosine in microseconds; that makes it good for narrowing the field. A cross-encoder reads both texts at once, letting every word attend to every word of the other text, which is more accurate but must run once per pair; so it only scores the shortlist. MAVIA scores the object against every member of a candidate concept and keeps the minimum, a deliberately conservative rule. The thresholds are operating thresholds chosen for the teacher workflow — high goes automatic, medium asks the teacher, low is ignored — not calibrated probabilities; the code records them as unvalidated until a teacher-labelled evaluation replaces them. One exception learned from real data: figure descriptions written by a model share stock phrasing, so images need agreeing labels to be grouped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the concept's bundles. The first relevant PDF is the Standard version unless the teacher replaces it. For every other bundle, the language model compares it with the Standard and proposes a role — Simplified, Elaborated or needs review — and must quote its evidence first: what was simplified, what was added, and any problem. The model's proposal is not trusted on its own. Measurements that use no language model check it: every Standard sentence must have a close match in the candidate, so facts are kept; a candidate sentence that matches nothing in the Standard counts as new content; and the Dale-Chall readability score says whether it is easier. A role is stored only when the measurements agree. If a version is missing, the model writes it, the same measurements judge the draft, and failed drafts are retried up to three times with the reasons appended to the prompt. If none passes, the Standard text is used for that level and the teacher is told. Output: three versions of every concept, which is exactly what adaptation escalates through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role is checked. A Simplified version must keep every fact, add nothing substantial, and be easier to read. An Elaborated version must keep every fact and add something. Facts kept means every sentence of the Standard has a candidate sentence with cosine similarity of at least 0.55 under the MiniLM encoder; this is checked per sentence on purpose, because an average can hide one dropped fact. Adds content means at least one candidate sentence is below 0.60 against every Standard sentence. Easier means the Dale-Chall score drops. Dale-Chall counts the share of words outside a list of words most students know, plus sentence length; we chose it over Flesch-Kincaid because Flesch-Kincaid only counts syllables and lengths, and scored a sentence full of technical terms as easy. Honest limit: these cut-offs were set on 21 labelled pairs and need more labelled data; sentence similarity cannot prove entailment.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the full text of a concept — every PDF's telling of it — and the topic's raw PDF text. First the language model drafts questions per thinking order: five lower-order and five higher-order, split two multiple-choice to one True/False, and structurally broken items are rejected. Second, every draft goes through a corrective retrieval-augmented check: the draft question and answer become a search query over the topic's own PDFs, the top three passages are retrieved, and a second model acts as a judge, ruling whether the source supports the keyed answer. A failure goes back to generation with its reason. Third, each surviving question is classified by Bloom's level with a fine-tuned RoBERTa model, with an SVM pipeline as fallback; the classifier's label is authoritative, not the level we asked for. Finally duplicates are removed, banks are trimmed to quota, and top-up rounds run until every concept has at least four lower-order and two higher-order questions. Printed questions found in the PDFs are paired to concepts with the sentence 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grounding gate in detail. The topic's PDF text is cut into 90-word chunks with 30 words of overlap, small enough that a chunk is about one idea, and embedded with MiniLM. Each draft — question plus answer — is the retrieval query, and cosine similarity returns the three closest chunks from this topic only, so a question is never validated against text the learner was never read. A second model then judges: does this text support this answer, and which option does it actually support — so a wrong key is caught, not just flagged. Failures go back to the generator with the reason, a bounded number of times. Then classification: Bloom's taxonomy describes the kind of thinking, not difficulty. Remember, understand and apply are lower-order; analyze and evaluate are higher-order; create is dropped, because multiple-choice and True/False cannot assess producing something new. The classifier is RoBERTa fine-tuned on Bloom-labelled questions, with an SVM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the concepts of a topic with their text, headings and order. For every pair, two questions are answered by different evidence. Whether a link exists is decided by the text: the later concept names the earlier one, or uses at least two distinctive terms the earlier concept introduces — a term belongs to the earliest concept that uses it, a reference-distance idea — or sits under a heading that names it. Which way the link points is decided by the lesson's own order, because inside one topic the PDF order agreed with the teacher's direction on 145 of 156 linked pairs. Relatedness from the sentence encoder is recorded but does not vote. A link nothing contradicts is accepted; a contradicted one, or one resting on a single shared word, goes to the teacher as a suggestion. Then Kahn's algorithm orders the concepts so every prerequisite comes first. Output: the prerequisite links, the ordered steps, and a one-sentence reason per link for the review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Ordering uses Kahn's topological sort: count each concept's unmet prerequisites, repeatedly take one with none — the earliest in the lesson when several qualify — append it and remove its links. This guarantees no concept is heard before its prerequisites, and keeps the teacher's order wherever the graph leaves a choice. How well the link rule works was measured blind: three topics uploaded after the rule was frozen, with answer keys drafted from the PDFs with the concepts shuffled, then reviewed and frozen. The current rule, v6.1, accepts fewer links than ordering by position alone, but they are cleaner: precision 0.57 against 0.33, and wrong-way links down from 16 to 12 compared with v6. The cost is that more links go to the teacher as suggestions. The order-only baseline covers every link by construction, because it links each concept to the one before it, which is why its precision is low. The main remaining error is linking parallel concepts like separate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spoken, a completeness gate checks the topic: every concept must have all its versions, no question bank may be older than the text it was written from, and figures must be narrated. If any check fails, audio is skipped — it is the slow phase, over a hundred seconds on a real topic — and the teacher sees exactly what to fix. When the gate passes, every learning object and every generated version is converted to speech with Microsoft's Edge neural text-to-speech, retrying dropped connections, because one lost clip used to abort a whole publish. Finally the learning path is re-derived and saved as ordered steps; teacher approvals and rejections are never overwritten. Output: a published topic with its publish time, audio for every version in play order, and the published path, which is the contract the mobile side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learner side runs on every answer. Same frame: Input, Process, Output, with the algorithms along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the published learning path, its audio and its question banks. Reading the published path is expensive the first time — about six seconds on Solid, Liquid and Gas, because it loads models and checks versions — so the audio course package is built once per publish and cached; a republish changes the topic's publish time, which is how a stale package is detected. Each step keeps only what an audio-first learner needs: its versions as clips in play order, and questions without their answers. The answer key never leaves the server, so grading cannot be bypassed on the device. Spare bank questions are stored as reserves for one purpose: replacing a True/False question the student missed. Output: the package, served through five endpoints — courses, a course outline, a topic package, continue, and submit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is scored with Bayesian Knowledge Tracing, from Corbett and Anderson, 1995. Knowing a concept is a hidden state; we only hear answers, and answers are noisy: a student can guess right without knowing, with probability G, or slip despite knowing, with probability S. Each answer runs one forward step of a hidden Markov model. Predict the chance of a correct answer from the current mastery. Observe the actual answer and apply Bayes' rule to get the probability they knew it. Then add the chance they learned from the attempt, T, capped at 0.99 so later answers can always move it. MAVIA's adjustment is the guess rate by question format: 0.20 for four-choice questions and 0.45 for True/False. Output: the new mastery, plus the prediction made before the answer, which is logged so the model's accuracy can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formulas with numbers, taken from the running engine. From the starting mastery 0.30, a right multiple-choice answer: the prediction was 0.41 — 0.27 from knowing and 0.14 from guessing — so knowing explains about 66 percent of a right answer, and adding the learning chance gives 0.71. A wrong answer: slipping explains only 0.03 of the 0.59 chance of being wrong, so belief falls to 0.05, then learning lifts it to 0.19. The same right answer on a True/False only reaches 0.54, because with a 0.45 guess rate, guessing explains far more of it. That is the reason for a format-specific guess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starts as a stranger, so the system starts from population averages and moves toward the student's own record. Shrinkage blends the two: the population ability, 0.41, counts as ten imaginary answers, so after ten real answers the estimate is half the student's, after 24 it is 71 percent theirs. This is the posterior mean under a Beta prior worth ten answers. Second, only first answers on each new concept are inverted through the BKT formula into the student's own starting knowledge, L-zero, because retries after re-teaching would inflate it. Third, when the student meets a new concept, its mastery starts halfway between their L-zero and their prerequisites' mastery. Fourth, a 95 percent margin of error measures how sure the ability estimate is; once it is within plus or minus 0.15 the student is marked calibrated. The flag changes no number during this phase; it marks when the estimate becomes trustworthy, and in phase two it is the switch for score-based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is the student's own share of the estimate: zero at the start, a quarter after three answers, half after ten, 71 percent after one topic of about 24 answers. It works in both directions: a lucky start is pulled down, an unlucky one up, so mishearing the first few questions does not label a student as struggling. The right side solves the calibration margin for the number of answers: about 171 times p times one minus p. A 50 percent student needs 43 answers, a 70 percent student 36, an 85 percent student 22 — about one to two topics. Real data from our test account: after 29 answers the margin was 0.158, just short of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calibration the walk is gated by fixed rules, not by mastery thresholds, for three reasons: a stranger's estimate is not yet trustworthy, a fixed policy gives clean data for offline learning, and mastery can be checked in shadow mode first. A right answer moves to the concept's next open question, then advances. A wrong answer is never re-asked straight away, because the student could eliminate their wrong pick; the concept is re-taught first, escalating from Standard to Simplified to Elaborated. A missed True/False is never asked again, because after one miss the other answer is certain; a different question or a reserve follows the re-teach. When every version has been tried, the student detours through the nearest prerequisite once and resumes; if that fails too, they move on rather than being stranded. The answer, its score and the new position are saved in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as a flow. Right answers continue through the concept's open questions and then advance. Wrong answers climb the ladder: two escalations through the explanation types, each followed by a re-ask, then one detour through the nearest prerequisite, then moving on. The small table shows why the ladder re-teaches before re-asking: each re-ask of the same question removes an option, so a four-choice question drops from one in four to one in two, and a True/False becomes certain after one miss — which is why a missed True/False is spent. The end-to-end harness confirms that every simulated student completes the topic, including one who is always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transformation one answer goes through, with real values from the server's own log. The learner presses a key; the phone sends the letter. The server grades it against the answer key it never sent. BKT predicted a 77 percent chance of a right answer on this True/False, so the miss lowers mastery from 0.71 to 0.41. The baseline now stands at one of two right, shrunk to 0.425, with a margin of 0.685 — far from calibrated. The ladder sees a missed True/False, spends it, and chooses to re-teach with the Simplified version and then ask a different question, Q9. The command goes back to the phone, which plays the Simplified telling and then asks Q9. All of it is saved together, and the decision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process is not serving students yet; it is what the logs collected during calibration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replaces the fixed ladder with a learned policy. The environment composes a prerequisite graph, a mastery estimator and a simulated student whose type is hidden. The state is the estimated mastery of every concept plus graph features; an action is serving the next question from one concept, with impossible actions masked out; the reward is learning efficiency — mastery gained per step, minus a step cost and mastery lost elsewhere, plus bonuses for mastering concepts. The agent is a Double DQN, which reduces the overestimation that made our first prototype plateau. It is judged against non-learned baselines on graphs it never trained on. Honestly stated: it is trained on simulated learners only and is not wired into serving. The decision logs collected during calibration are what will calibrate the simulator and validate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The backend has 1,483 automated tests; 1,466 pass, and the 17 that fail are integration tests that need a live language-model or vision service, unrelated to the pipeline logic. An end-to-end harness compiles the phone's real traversal code and drives three simulated students through the real Solid, Liquid and Gas topic on a live server: always right finishes in 25 interactions, wrong on every first try in 49, and always wrong in 71 — still finishing, because the ladder never strands a student. The learning path was evaluated blind on three new topics: precision rose from 0.49 to 0.57 with the current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limitations. The grouping and content-version cut-offs are operating thresholds set on a small number of labelled pairs; they need a teacher-labelled evaluation. The learning path's main remaining error is linking parallel concepts, and on some lessons many links wait for teacher approval. The BKT weights are informed defaults from the literature, not yet fitted to our students. And the DQN has only been trained on simulated learners. The next steps follow directly: validate the thresholds with teacher labels, recognise parallel concepts, fit the BKT parameters per concept from the decision logs, and use those same logs to calibrate the simulator before the learned policy is ever trusted with a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open for questions. Useful back-pocket answers: why two encoders (speed versus precision); why the LLM never decides alone (measurements, retrieval, or the teacher check it); why rules gate during calibration (untrusted estimates, clean data for offline RL); and what the calibrated flag does (a readiness signal recorded per decision, the switch for score-based decisions in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VIA Title">
    <p:bg>
      <p:bgPr>
        <a:solidFill>
          <a:srgbClr val="0A1B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lstStyle>
            <a:lvl1pPr indent="0" marL="0">
              <a:buNone/>
              <a:defRPr lang="en-US" sz="2000" dirty="0">
                <a:solidFill>
                  <a:schemeClr val="accent6"/>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VIA Section">
    <p:bg>
      <p:bgPr>
        <a:solidFill>
          <a:srgbClr val="0A1B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VIA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rgbClr val="5B6372"/>
                </a:solidFill>
                <a:latin typeface="Calibri" pitchFamily="34" charset="0"/>
                <a:ea typeface="Calibri" pitchFamily="34" charset="-122"/>
                <a:cs typeface="Calibri" pitchFamily="34" charset="-120"/>
              </a:rPr>
              <a:t>MAVIA · thesis defense</a:t>
            </a:r>
            <a:endParaRPr lang="en-US" sz="10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4.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MAVIA: from teacher PDFs to an adaptive audio course</a:t>
            </a:r>
            <a:endParaRPr lang="en-US" sz="44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nchor="t"/>
          <a:lstStyle/>
          <a:p>
            <a:pPr indent="0" marL="0">
              <a:buNone/>
            </a:pPr>
            <a:r>
              <a:rPr lang="en-US" sz="2000" dirty="0">
                <a:solidFill>
                  <a:schemeClr val="accent6"/>
                </a:solidFill>
                <a:latin typeface="Calibri" pitchFamily="34" charset="0"/>
                <a:ea typeface="Calibri" pitchFamily="34" charset="-122"/>
                <a:cs typeface="Calibri" pitchFamily="34" charset="-120"/>
              </a:rPr>
              <a:t>The complete pipeline as Input → Process → Output, and the algorithms that turn each input into its output</a:t>
            </a:r>
            <a:endParaRPr lang="en-US" sz="2000" dirty="0"/>
          </a:p>
        </p:txBody>
      </p:sp>
      <p:pic>
        <p:nvPicPr>
          <p:cNvPr id="4" name="title-icon" descr="preencoded.png">    </p:cNvPr>
          <p:cNvPicPr>
            <a:picLocks noChangeAspect="1"/>
          </p:cNvPicPr>
          <p:nvPr/>
        </p:nvPicPr>
        <p:blipFill>
          <a:blip r:embed="rId1"/>
          <a:stretch>
            <a:fillRect/>
          </a:stretch>
        </p:blipFill>
        <p:spPr>
          <a:xfrm>
            <a:off x="731520" y="91440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MAVIA as one Input → Process → Output system</a:t>
            </a:r>
            <a:endParaRPr lang="en-US" sz="3000" dirty="0"/>
          </a:p>
        </p:txBody>
      </p:sp>
      <p:sp>
        <p:nvSpPr>
          <p:cNvPr id="3" name="card-1"/>
          <p:cNvSpPr/>
          <p:nvPr/>
        </p:nvSpPr>
        <p:spPr>
          <a:xfrm>
            <a:off x="548640" y="1325880"/>
            <a:ext cx="2514600" cy="4526280"/>
          </a:xfrm>
          <a:prstGeom prst="roundRect">
            <a:avLst>
              <a:gd name="adj" fmla="val 4364"/>
            </a:avLst>
          </a:prstGeom>
          <a:solidFill>
            <a:srgbClr val="EFF4FE"/>
          </a:solidFill>
          <a:ln w="12700">
            <a:solidFill>
              <a:srgbClr val="EFF4FE"/>
            </a:solidFill>
            <a:prstDash val="solid"/>
          </a:ln>
        </p:spPr>
      </p:sp>
      <p:sp>
        <p:nvSpPr>
          <p:cNvPr id="4" name="badge-2"/>
          <p:cNvSpPr/>
          <p:nvPr/>
        </p:nvSpPr>
        <p:spPr>
          <a:xfrm>
            <a:off x="749808" y="1508760"/>
            <a:ext cx="420624" cy="420624"/>
          </a:xfrm>
          <a:prstGeom prst="ellipse">
            <a:avLst/>
          </a:prstGeom>
          <a:solidFill>
            <a:srgbClr val="1D5FD6"/>
          </a:solidFill>
          <a:ln w="12700">
            <a:solidFill>
              <a:srgbClr val="1D5FD6"/>
            </a:solidFill>
            <a:prstDash val="solid"/>
          </a:ln>
        </p:spPr>
      </p:sp>
      <p:pic>
        <p:nvPicPr>
          <p:cNvPr id="5" name="icon-3" descr="preencoded.png">    </p:cNvPr>
          <p:cNvPicPr>
            <a:picLocks noChangeAspect="1"/>
          </p:cNvPicPr>
          <p:nvPr/>
        </p:nvPicPr>
        <p:blipFill>
          <a:blip r:embed="rId1"/>
          <a:stretch>
            <a:fillRect/>
          </a:stretch>
        </p:blipFill>
        <p:spPr>
          <a:xfrm>
            <a:off x="842345" y="1601297"/>
            <a:ext cx="235549" cy="235549"/>
          </a:xfrm>
          <a:prstGeom prst="rect">
            <a:avLst/>
          </a:prstGeom>
        </p:spPr>
      </p:pic>
      <p:sp>
        <p:nvSpPr>
          <p:cNvPr id="6" name="text-4"/>
          <p:cNvSpPr txBox="1"/>
          <p:nvPr/>
        </p:nvSpPr>
        <p:spPr>
          <a:xfrm>
            <a:off x="1280160" y="1508760"/>
            <a:ext cx="155448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7" name="text-5"/>
          <p:cNvSpPr txBox="1"/>
          <p:nvPr/>
        </p:nvSpPr>
        <p:spPr>
          <a:xfrm>
            <a:off x="749808" y="2103120"/>
            <a:ext cx="2194560" cy="3566160"/>
          </a:xfrm>
          <a:prstGeom prst="rect">
            <a:avLst/>
          </a:prstGeom>
          <a:noFill/>
          <a:ln/>
        </p:spPr>
        <p:txBody>
          <a:bodyPr wrap="square" lIns="0" tIns="0" rIns="0" bIns="0" rtlCol="0" anchor="t"/>
          <a:lstStyle/>
          <a:p>
            <a:pPr indent="0" marL="0">
              <a:spcAft>
                <a:spcPts val="400"/>
              </a:spcAft>
              <a:buNone/>
            </a:pPr>
            <a:r>
              <a:rPr lang="en-US" sz="1400" b="1" dirty="0">
                <a:solidFill>
                  <a:srgbClr val="0A1B3D"/>
                </a:solidFill>
                <a:latin typeface="Calibri" pitchFamily="34" charset="0"/>
                <a:ea typeface="Calibri" pitchFamily="34" charset="-122"/>
                <a:cs typeface="Calibri" pitchFamily="34" charset="-120"/>
              </a:rPr>
              <a:t>Teacher</a:t>
            </a:r>
            <a:endParaRPr lang="en-US" sz="1300" dirty="0"/>
          </a:p>
          <a:p>
            <a:pPr marL="152400" indent="-152400">
              <a:spcAft>
                <a:spcPts val="400"/>
              </a:spcAft>
              <a:buSzPct val="100000"/>
              <a:buChar char="•"/>
            </a:pPr>
            <a:r>
              <a:rPr lang="en-US" sz="1300" dirty="0">
                <a:solidFill>
                  <a:srgbClr val="14161A"/>
                </a:solidFill>
                <a:latin typeface="Calibri" pitchFamily="34" charset="0"/>
                <a:ea typeface="Calibri" pitchFamily="34" charset="-122"/>
                <a:cs typeface="Calibri" pitchFamily="34" charset="-120"/>
              </a:rPr>
              <a:t>Course outline</a:t>
            </a:r>
            <a:endParaRPr lang="en-US" sz="1300" dirty="0"/>
          </a:p>
          <a:p>
            <a:pPr marL="152400" indent="-152400">
              <a:spcAft>
                <a:spcPts val="400"/>
              </a:spcAft>
              <a:buSzPct val="100000"/>
              <a:buChar char="•"/>
            </a:pPr>
            <a:r>
              <a:rPr lang="en-US" sz="1300" dirty="0">
                <a:solidFill>
                  <a:srgbClr val="14161A"/>
                </a:solidFill>
                <a:latin typeface="Calibri" pitchFamily="34" charset="0"/>
                <a:ea typeface="Calibri" pitchFamily="34" charset="-122"/>
                <a:cs typeface="Calibri" pitchFamily="34" charset="-120"/>
              </a:rPr>
              <a:t>2+ PDF lessons per topic</a:t>
            </a:r>
            <a:endParaRPr lang="en-US" sz="1300" dirty="0"/>
          </a:p>
          <a:p>
            <a:pPr marL="152400" indent="-152400">
              <a:spcAft>
                <a:spcPts val="400"/>
              </a:spcAft>
              <a:buSzPct val="100000"/>
              <a:buChar char="•"/>
            </a:pPr>
            <a:r>
              <a:rPr lang="en-US" sz="1300" dirty="0">
                <a:solidFill>
                  <a:srgbClr val="14161A"/>
                </a:solidFill>
                <a:latin typeface="Calibri" pitchFamily="34" charset="0"/>
                <a:ea typeface="Calibri" pitchFamily="34" charset="-122"/>
                <a:cs typeface="Calibri" pitchFamily="34" charset="-120"/>
              </a:rPr>
              <a:t>Review decisions</a:t>
            </a:r>
            <a:endParaRPr lang="en-US" sz="1300" dirty="0"/>
          </a:p>
          <a:p>
            <a:pPr marL="152400" indent="-152400">
              <a:spcAft>
                <a:spcPts val="400"/>
              </a:spcAft>
              <a:buSzPct val="100000"/>
              <a:buChar char="•"/>
            </a:pPr>
            <a:r>
              <a:rPr lang="en-US" sz="1300" dirty="0">
                <a:solidFill>
                  <a:srgbClr val="14161A"/>
                </a:solidFill>
                <a:latin typeface="Calibri" pitchFamily="34" charset="0"/>
                <a:ea typeface="Calibri" pitchFamily="34" charset="-122"/>
                <a:cs typeface="Calibri" pitchFamily="34" charset="-120"/>
              </a:rPr>
              <a:t>Class roster</a:t>
            </a:r>
            <a:endParaRPr lang="en-US" sz="1300" dirty="0"/>
          </a:p>
          <a:p>
            <a:pPr indent="0" marL="0">
              <a:spcAft>
                <a:spcPts val="400"/>
              </a:spcAft>
              <a:buNone/>
            </a:pPr>
            <a:r>
              <a:rPr lang="en-US" sz="600" dirty="0">
                <a:solidFill>
                  <a:srgbClr val="14161A"/>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400" b="1" dirty="0">
                <a:solidFill>
                  <a:srgbClr val="0A1B3D"/>
                </a:solidFill>
                <a:latin typeface="Calibri" pitchFamily="34" charset="0"/>
                <a:ea typeface="Calibri" pitchFamily="34" charset="-122"/>
                <a:cs typeface="Calibri" pitchFamily="34" charset="-120"/>
              </a:rPr>
              <a:t>Learner</a:t>
            </a:r>
            <a:endParaRPr lang="en-US" sz="1300" dirty="0"/>
          </a:p>
          <a:p>
            <a:pPr marL="152400" indent="-152400">
              <a:spcAft>
                <a:spcPts val="400"/>
              </a:spcAft>
              <a:buSzPct val="100000"/>
              <a:buChar char="•"/>
            </a:pPr>
            <a:r>
              <a:rPr lang="en-US" sz="1300" dirty="0">
                <a:solidFill>
                  <a:srgbClr val="14161A"/>
                </a:solidFill>
                <a:latin typeface="Calibri" pitchFamily="34" charset="0"/>
                <a:ea typeface="Calibri" pitchFamily="34" charset="-122"/>
                <a:cs typeface="Calibri" pitchFamily="34" charset="-120"/>
              </a:rPr>
              <a:t>Answers on the braille keypad</a:t>
            </a:r>
            <a:endParaRPr lang="en-US" sz="1300" dirty="0"/>
          </a:p>
          <a:p>
            <a:pPr marL="152400" indent="-152400">
              <a:spcAft>
                <a:spcPts val="400"/>
              </a:spcAft>
              <a:buSzPct val="100000"/>
              <a:buChar char="•"/>
            </a:pPr>
            <a:r>
              <a:rPr lang="en-US" sz="1300" dirty="0">
                <a:solidFill>
                  <a:srgbClr val="14161A"/>
                </a:solidFill>
                <a:latin typeface="Calibri" pitchFamily="34" charset="0"/>
                <a:ea typeface="Calibri" pitchFamily="34" charset="-122"/>
                <a:cs typeface="Calibri" pitchFamily="34" charset="-120"/>
              </a:rPr>
              <a:t>Navigation keys</a:t>
            </a:r>
            <a:endParaRPr lang="en-US" sz="1300" dirty="0"/>
          </a:p>
        </p:txBody>
      </p:sp>
      <p:sp>
        <p:nvSpPr>
          <p:cNvPr id="8" name="arrow-6"/>
          <p:cNvSpPr/>
          <p:nvPr/>
        </p:nvSpPr>
        <p:spPr>
          <a:xfrm>
            <a:off x="3108960" y="3589020"/>
            <a:ext cx="292608" cy="0"/>
          </a:xfrm>
          <a:prstGeom prst="line">
            <a:avLst/>
          </a:prstGeom>
          <a:noFill/>
          <a:ln w="25400">
            <a:solidFill>
              <a:srgbClr val="0A1B3D"/>
            </a:solidFill>
            <a:prstDash val="solid"/>
            <a:tailEnd type="triangle"/>
          </a:ln>
        </p:spPr>
      </p:sp>
      <p:sp>
        <p:nvSpPr>
          <p:cNvPr id="9" name="card-7"/>
          <p:cNvSpPr/>
          <p:nvPr/>
        </p:nvSpPr>
        <p:spPr>
          <a:xfrm>
            <a:off x="3429000" y="1325880"/>
            <a:ext cx="5349240" cy="4526280"/>
          </a:xfrm>
          <a:prstGeom prst="roundRect">
            <a:avLst>
              <a:gd name="adj" fmla="val 2424"/>
            </a:avLst>
          </a:prstGeom>
          <a:solidFill>
            <a:srgbClr val="DCE8FD"/>
          </a:solidFill>
          <a:ln w="12700">
            <a:solidFill>
              <a:srgbClr val="DCE8FD"/>
            </a:solidFill>
            <a:prstDash val="solid"/>
          </a:ln>
        </p:spPr>
      </p:sp>
      <p:sp>
        <p:nvSpPr>
          <p:cNvPr id="10" name="badge-8"/>
          <p:cNvSpPr/>
          <p:nvPr/>
        </p:nvSpPr>
        <p:spPr>
          <a:xfrm>
            <a:off x="3630168" y="1508760"/>
            <a:ext cx="420624" cy="420624"/>
          </a:xfrm>
          <a:prstGeom prst="ellipse">
            <a:avLst/>
          </a:prstGeom>
          <a:solidFill>
            <a:srgbClr val="E8833A"/>
          </a:solidFill>
          <a:ln w="12700">
            <a:solidFill>
              <a:srgbClr val="E8833A"/>
            </a:solidFill>
            <a:prstDash val="solid"/>
          </a:ln>
        </p:spPr>
      </p:sp>
      <p:pic>
        <p:nvPicPr>
          <p:cNvPr id="11" name="icon-9" descr="preencoded.png">    </p:cNvPr>
          <p:cNvPicPr>
            <a:picLocks noChangeAspect="1"/>
          </p:cNvPicPr>
          <p:nvPr/>
        </p:nvPicPr>
        <p:blipFill>
          <a:blip r:embed="rId2"/>
          <a:stretch>
            <a:fillRect/>
          </a:stretch>
        </p:blipFill>
        <p:spPr>
          <a:xfrm>
            <a:off x="3722705" y="1601297"/>
            <a:ext cx="235549" cy="235549"/>
          </a:xfrm>
          <a:prstGeom prst="rect">
            <a:avLst/>
          </a:prstGeom>
        </p:spPr>
      </p:pic>
      <p:sp>
        <p:nvSpPr>
          <p:cNvPr id="12" name="text-10"/>
          <p:cNvSpPr txBox="1"/>
          <p:nvPr/>
        </p:nvSpPr>
        <p:spPr>
          <a:xfrm>
            <a:off x="4160520" y="1508760"/>
            <a:ext cx="22860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3" name="text-11"/>
          <p:cNvSpPr txBox="1"/>
          <p:nvPr/>
        </p:nvSpPr>
        <p:spPr>
          <a:xfrm>
            <a:off x="3630168" y="2103120"/>
            <a:ext cx="4937760" cy="274320"/>
          </a:xfrm>
          <a:prstGeom prst="rect">
            <a:avLst/>
          </a:prstGeom>
          <a:noFill/>
          <a:ln/>
        </p:spPr>
        <p:txBody>
          <a:bodyPr wrap="square" lIns="0" tIns="0" rIns="0" bIns="0" rtlCol="0" anchor="t"/>
          <a:lstStyle/>
          <a:p>
            <a:pPr indent="0" marL="0">
              <a:buNone/>
            </a:pPr>
            <a:r>
              <a:rPr lang="en-US" sz="1200" b="1" dirty="0">
                <a:solidFill>
                  <a:srgbClr val="1A47A8"/>
                </a:solidFill>
                <a:latin typeface="Calibri" pitchFamily="34" charset="0"/>
                <a:ea typeface="Calibri" pitchFamily="34" charset="-122"/>
                <a:cs typeface="Calibri" pitchFamily="34" charset="-120"/>
              </a:rPr>
              <a:t>Teacher side · once per publish</a:t>
            </a:r>
            <a:endParaRPr lang="en-US" sz="1200" dirty="0"/>
          </a:p>
        </p:txBody>
      </p:sp>
      <p:sp>
        <p:nvSpPr>
          <p:cNvPr id="14" name="card-12"/>
          <p:cNvSpPr/>
          <p:nvPr/>
        </p:nvSpPr>
        <p:spPr>
          <a:xfrm>
            <a:off x="3630168" y="2432304"/>
            <a:ext cx="1572768" cy="420624"/>
          </a:xfrm>
          <a:prstGeom prst="roundRect">
            <a:avLst>
              <a:gd name="adj" fmla="val 26087"/>
            </a:avLst>
          </a:prstGeom>
          <a:solidFill>
            <a:srgbClr val="FFFFFF"/>
          </a:solidFill>
          <a:ln w="12700">
            <a:solidFill>
              <a:srgbClr val="FFFFFF"/>
            </a:solidFill>
            <a:prstDash val="solid"/>
          </a:ln>
        </p:spPr>
      </p:sp>
      <p:sp>
        <p:nvSpPr>
          <p:cNvPr id="15" name="text-13"/>
          <p:cNvSpPr txBox="1"/>
          <p:nvPr/>
        </p:nvSpPr>
        <p:spPr>
          <a:xfrm>
            <a:off x="3739896" y="2432304"/>
            <a:ext cx="1353312"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1 Extraction</a:t>
            </a:r>
            <a:endParaRPr lang="en-US" sz="1300" dirty="0"/>
          </a:p>
        </p:txBody>
      </p:sp>
      <p:sp>
        <p:nvSpPr>
          <p:cNvPr id="16" name="card-14"/>
          <p:cNvSpPr/>
          <p:nvPr/>
        </p:nvSpPr>
        <p:spPr>
          <a:xfrm>
            <a:off x="5312664" y="2432304"/>
            <a:ext cx="1572768" cy="420624"/>
          </a:xfrm>
          <a:prstGeom prst="roundRect">
            <a:avLst>
              <a:gd name="adj" fmla="val 26087"/>
            </a:avLst>
          </a:prstGeom>
          <a:solidFill>
            <a:srgbClr val="FFFFFF"/>
          </a:solidFill>
          <a:ln w="12700">
            <a:solidFill>
              <a:srgbClr val="FFFFFF"/>
            </a:solidFill>
            <a:prstDash val="solid"/>
          </a:ln>
        </p:spPr>
      </p:sp>
      <p:sp>
        <p:nvSpPr>
          <p:cNvPr id="17" name="text-15"/>
          <p:cNvSpPr txBox="1"/>
          <p:nvPr/>
        </p:nvSpPr>
        <p:spPr>
          <a:xfrm>
            <a:off x="5422392" y="2432304"/>
            <a:ext cx="1353312"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2 Concept formation</a:t>
            </a:r>
            <a:endParaRPr lang="en-US" sz="1300" dirty="0"/>
          </a:p>
        </p:txBody>
      </p:sp>
      <p:sp>
        <p:nvSpPr>
          <p:cNvPr id="18" name="card-16"/>
          <p:cNvSpPr/>
          <p:nvPr/>
        </p:nvSpPr>
        <p:spPr>
          <a:xfrm>
            <a:off x="6995160" y="2432304"/>
            <a:ext cx="1572768" cy="420624"/>
          </a:xfrm>
          <a:prstGeom prst="roundRect">
            <a:avLst>
              <a:gd name="adj" fmla="val 26087"/>
            </a:avLst>
          </a:prstGeom>
          <a:solidFill>
            <a:srgbClr val="FFFFFF"/>
          </a:solidFill>
          <a:ln w="12700">
            <a:solidFill>
              <a:srgbClr val="FFFFFF"/>
            </a:solidFill>
            <a:prstDash val="solid"/>
          </a:ln>
        </p:spPr>
      </p:sp>
      <p:sp>
        <p:nvSpPr>
          <p:cNvPr id="19" name="text-17"/>
          <p:cNvSpPr txBox="1"/>
          <p:nvPr/>
        </p:nvSpPr>
        <p:spPr>
          <a:xfrm>
            <a:off x="7104888" y="2432304"/>
            <a:ext cx="1353312"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3 Content versions</a:t>
            </a:r>
            <a:endParaRPr lang="en-US" sz="1300" dirty="0"/>
          </a:p>
        </p:txBody>
      </p:sp>
      <p:sp>
        <p:nvSpPr>
          <p:cNvPr id="20" name="card-18"/>
          <p:cNvSpPr/>
          <p:nvPr/>
        </p:nvSpPr>
        <p:spPr>
          <a:xfrm>
            <a:off x="3630168" y="2944368"/>
            <a:ext cx="1572768" cy="420624"/>
          </a:xfrm>
          <a:prstGeom prst="roundRect">
            <a:avLst>
              <a:gd name="adj" fmla="val 26087"/>
            </a:avLst>
          </a:prstGeom>
          <a:solidFill>
            <a:srgbClr val="FFFFFF"/>
          </a:solidFill>
          <a:ln w="12700">
            <a:solidFill>
              <a:srgbClr val="FFFFFF"/>
            </a:solidFill>
            <a:prstDash val="solid"/>
          </a:ln>
        </p:spPr>
      </p:sp>
      <p:sp>
        <p:nvSpPr>
          <p:cNvPr id="21" name="text-19"/>
          <p:cNvSpPr txBox="1"/>
          <p:nvPr/>
        </p:nvSpPr>
        <p:spPr>
          <a:xfrm>
            <a:off x="3739896" y="2944368"/>
            <a:ext cx="1353312"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4 Questions</a:t>
            </a:r>
            <a:endParaRPr lang="en-US" sz="1300" dirty="0"/>
          </a:p>
        </p:txBody>
      </p:sp>
      <p:sp>
        <p:nvSpPr>
          <p:cNvPr id="22" name="card-20"/>
          <p:cNvSpPr/>
          <p:nvPr/>
        </p:nvSpPr>
        <p:spPr>
          <a:xfrm>
            <a:off x="5312664" y="2944368"/>
            <a:ext cx="1572768" cy="420624"/>
          </a:xfrm>
          <a:prstGeom prst="roundRect">
            <a:avLst>
              <a:gd name="adj" fmla="val 26087"/>
            </a:avLst>
          </a:prstGeom>
          <a:solidFill>
            <a:srgbClr val="FFFFFF"/>
          </a:solidFill>
          <a:ln w="12700">
            <a:solidFill>
              <a:srgbClr val="FFFFFF"/>
            </a:solidFill>
            <a:prstDash val="solid"/>
          </a:ln>
        </p:spPr>
      </p:sp>
      <p:sp>
        <p:nvSpPr>
          <p:cNvPr id="23" name="text-21"/>
          <p:cNvSpPr txBox="1"/>
          <p:nvPr/>
        </p:nvSpPr>
        <p:spPr>
          <a:xfrm>
            <a:off x="5422392" y="2944368"/>
            <a:ext cx="1353312"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5 Learning path</a:t>
            </a:r>
            <a:endParaRPr lang="en-US" sz="1300" dirty="0"/>
          </a:p>
        </p:txBody>
      </p:sp>
      <p:sp>
        <p:nvSpPr>
          <p:cNvPr id="24" name="card-22"/>
          <p:cNvSpPr/>
          <p:nvPr/>
        </p:nvSpPr>
        <p:spPr>
          <a:xfrm>
            <a:off x="6995160" y="2944368"/>
            <a:ext cx="1572768" cy="420624"/>
          </a:xfrm>
          <a:prstGeom prst="roundRect">
            <a:avLst>
              <a:gd name="adj" fmla="val 26087"/>
            </a:avLst>
          </a:prstGeom>
          <a:solidFill>
            <a:srgbClr val="FFFFFF"/>
          </a:solidFill>
          <a:ln w="12700">
            <a:solidFill>
              <a:srgbClr val="FFFFFF"/>
            </a:solidFill>
            <a:prstDash val="solid"/>
          </a:ln>
        </p:spPr>
      </p:sp>
      <p:sp>
        <p:nvSpPr>
          <p:cNvPr id="25" name="text-23"/>
          <p:cNvSpPr txBox="1"/>
          <p:nvPr/>
        </p:nvSpPr>
        <p:spPr>
          <a:xfrm>
            <a:off x="7104888" y="2944368"/>
            <a:ext cx="1353312"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6 Audio &amp; publish</a:t>
            </a:r>
            <a:endParaRPr lang="en-US" sz="1300" dirty="0"/>
          </a:p>
        </p:txBody>
      </p:sp>
      <p:sp>
        <p:nvSpPr>
          <p:cNvPr id="26" name="text-24"/>
          <p:cNvSpPr txBox="1"/>
          <p:nvPr/>
        </p:nvSpPr>
        <p:spPr>
          <a:xfrm>
            <a:off x="3630168" y="3566160"/>
            <a:ext cx="4937760" cy="274320"/>
          </a:xfrm>
          <a:prstGeom prst="rect">
            <a:avLst/>
          </a:prstGeom>
          <a:noFill/>
          <a:ln/>
        </p:spPr>
        <p:txBody>
          <a:bodyPr wrap="square" lIns="0" tIns="0" rIns="0" bIns="0" rtlCol="0" anchor="t"/>
          <a:lstStyle/>
          <a:p>
            <a:pPr indent="0" marL="0">
              <a:buNone/>
            </a:pPr>
            <a:r>
              <a:rPr lang="en-US" sz="1200" b="1" dirty="0">
                <a:solidFill>
                  <a:srgbClr val="1A47A8"/>
                </a:solidFill>
                <a:latin typeface="Calibri" pitchFamily="34" charset="0"/>
                <a:ea typeface="Calibri" pitchFamily="34" charset="-122"/>
                <a:cs typeface="Calibri" pitchFamily="34" charset="-120"/>
              </a:rPr>
              <a:t>Learner side · on every answer</a:t>
            </a:r>
            <a:endParaRPr lang="en-US" sz="1200" dirty="0"/>
          </a:p>
        </p:txBody>
      </p:sp>
      <p:sp>
        <p:nvSpPr>
          <p:cNvPr id="27" name="card-25"/>
          <p:cNvSpPr/>
          <p:nvPr/>
        </p:nvSpPr>
        <p:spPr>
          <a:xfrm>
            <a:off x="3630168" y="3895344"/>
            <a:ext cx="2414016" cy="420624"/>
          </a:xfrm>
          <a:prstGeom prst="roundRect">
            <a:avLst>
              <a:gd name="adj" fmla="val 26087"/>
            </a:avLst>
          </a:prstGeom>
          <a:solidFill>
            <a:srgbClr val="FFFFFF"/>
          </a:solidFill>
          <a:ln w="12700">
            <a:solidFill>
              <a:srgbClr val="FFFFFF"/>
            </a:solidFill>
            <a:prstDash val="solid"/>
          </a:ln>
        </p:spPr>
      </p:sp>
      <p:sp>
        <p:nvSpPr>
          <p:cNvPr id="28" name="text-26"/>
          <p:cNvSpPr txBox="1"/>
          <p:nvPr/>
        </p:nvSpPr>
        <p:spPr>
          <a:xfrm>
            <a:off x="3739896" y="3895344"/>
            <a:ext cx="2194560"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7 Course package</a:t>
            </a:r>
            <a:endParaRPr lang="en-US" sz="1300" dirty="0"/>
          </a:p>
        </p:txBody>
      </p:sp>
      <p:sp>
        <p:nvSpPr>
          <p:cNvPr id="29" name="card-27"/>
          <p:cNvSpPr/>
          <p:nvPr/>
        </p:nvSpPr>
        <p:spPr>
          <a:xfrm>
            <a:off x="6153912" y="3895344"/>
            <a:ext cx="2414016" cy="420624"/>
          </a:xfrm>
          <a:prstGeom prst="roundRect">
            <a:avLst>
              <a:gd name="adj" fmla="val 26087"/>
            </a:avLst>
          </a:prstGeom>
          <a:solidFill>
            <a:srgbClr val="FFFFFF"/>
          </a:solidFill>
          <a:ln w="12700">
            <a:solidFill>
              <a:srgbClr val="FFFFFF"/>
            </a:solidFill>
            <a:prstDash val="solid"/>
          </a:ln>
        </p:spPr>
      </p:sp>
      <p:sp>
        <p:nvSpPr>
          <p:cNvPr id="30" name="text-28"/>
          <p:cNvSpPr txBox="1"/>
          <p:nvPr/>
        </p:nvSpPr>
        <p:spPr>
          <a:xfrm>
            <a:off x="6263640" y="3895344"/>
            <a:ext cx="2194560"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8 Mastery (BKT)</a:t>
            </a:r>
            <a:endParaRPr lang="en-US" sz="1300" dirty="0"/>
          </a:p>
        </p:txBody>
      </p:sp>
      <p:sp>
        <p:nvSpPr>
          <p:cNvPr id="31" name="card-29"/>
          <p:cNvSpPr/>
          <p:nvPr/>
        </p:nvSpPr>
        <p:spPr>
          <a:xfrm>
            <a:off x="3630168" y="4407408"/>
            <a:ext cx="2414016" cy="420624"/>
          </a:xfrm>
          <a:prstGeom prst="roundRect">
            <a:avLst>
              <a:gd name="adj" fmla="val 26087"/>
            </a:avLst>
          </a:prstGeom>
          <a:solidFill>
            <a:srgbClr val="FFFFFF"/>
          </a:solidFill>
          <a:ln w="12700">
            <a:solidFill>
              <a:srgbClr val="FFFFFF"/>
            </a:solidFill>
            <a:prstDash val="solid"/>
          </a:ln>
        </p:spPr>
      </p:sp>
      <p:sp>
        <p:nvSpPr>
          <p:cNvPr id="32" name="text-30"/>
          <p:cNvSpPr txBox="1"/>
          <p:nvPr/>
        </p:nvSpPr>
        <p:spPr>
          <a:xfrm>
            <a:off x="3739896" y="4407408"/>
            <a:ext cx="2194560"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9 Cold start</a:t>
            </a:r>
            <a:endParaRPr lang="en-US" sz="1300" dirty="0"/>
          </a:p>
        </p:txBody>
      </p:sp>
      <p:sp>
        <p:nvSpPr>
          <p:cNvPr id="33" name="card-31"/>
          <p:cNvSpPr/>
          <p:nvPr/>
        </p:nvSpPr>
        <p:spPr>
          <a:xfrm>
            <a:off x="6153912" y="4407408"/>
            <a:ext cx="2414016" cy="420624"/>
          </a:xfrm>
          <a:prstGeom prst="roundRect">
            <a:avLst>
              <a:gd name="adj" fmla="val 26087"/>
            </a:avLst>
          </a:prstGeom>
          <a:solidFill>
            <a:srgbClr val="FFFFFF"/>
          </a:solidFill>
          <a:ln w="12700">
            <a:solidFill>
              <a:srgbClr val="FFFFFF"/>
            </a:solidFill>
            <a:prstDash val="solid"/>
          </a:ln>
        </p:spPr>
      </p:sp>
      <p:sp>
        <p:nvSpPr>
          <p:cNvPr id="34" name="text-32"/>
          <p:cNvSpPr txBox="1"/>
          <p:nvPr/>
        </p:nvSpPr>
        <p:spPr>
          <a:xfrm>
            <a:off x="6263640" y="4407408"/>
            <a:ext cx="2194560" cy="420624"/>
          </a:xfrm>
          <a:prstGeom prst="rect">
            <a:avLst/>
          </a:prstGeom>
          <a:noFill/>
          <a:ln/>
        </p:spPr>
        <p:txBody>
          <a:bodyPr wrap="square" lIns="0" tIns="0" rIns="0" bIns="0" rtlCol="0" anchor="ctr"/>
          <a:lstStyle/>
          <a:p>
            <a:pPr indent="0" marL="0">
              <a:buNone/>
            </a:pPr>
            <a:r>
              <a:rPr lang="en-US" sz="1300" b="1" dirty="0">
                <a:solidFill>
                  <a:srgbClr val="0A1B3D"/>
                </a:solidFill>
                <a:latin typeface="Calibri" pitchFamily="34" charset="0"/>
                <a:ea typeface="Calibri" pitchFamily="34" charset="-122"/>
                <a:cs typeface="Calibri" pitchFamily="34" charset="-120"/>
              </a:rPr>
              <a:t>10 Rule gating</a:t>
            </a:r>
            <a:endParaRPr lang="en-US" sz="1300" dirty="0"/>
          </a:p>
        </p:txBody>
      </p:sp>
      <p:sp>
        <p:nvSpPr>
          <p:cNvPr id="35" name="text-33"/>
          <p:cNvSpPr txBox="1"/>
          <p:nvPr/>
        </p:nvSpPr>
        <p:spPr>
          <a:xfrm>
            <a:off x="3630168" y="5047488"/>
            <a:ext cx="4937760" cy="457200"/>
          </a:xfrm>
          <a:prstGeom prst="rect">
            <a:avLst/>
          </a:prstGeom>
          <a:noFill/>
          <a:ln/>
        </p:spPr>
        <p:txBody>
          <a:bodyPr wrap="square" lIns="0" tIns="0" rIns="0" bIns="0" rtlCol="0" anchor="t"/>
          <a:lstStyle/>
          <a:p>
            <a:pPr indent="0" marL="0">
              <a:buNone/>
            </a:pPr>
            <a:r>
              <a:rPr lang="en-US" sz="1250" i="1" dirty="0">
                <a:solidFill>
                  <a:srgbClr val="5B6372"/>
                </a:solidFill>
                <a:latin typeface="Calibri" pitchFamily="34" charset="0"/>
                <a:ea typeface="Calibri" pitchFamily="34" charset="-122"/>
                <a:cs typeface="Calibri" pitchFamily="34" charset="-120"/>
              </a:rPr>
              <a:t>11 Phase 2 · a learned policy (Double DQN), trained on the decision log</a:t>
            </a:r>
            <a:endParaRPr lang="en-US" sz="1250" dirty="0"/>
          </a:p>
        </p:txBody>
      </p:sp>
      <p:sp>
        <p:nvSpPr>
          <p:cNvPr id="36" name="arrow-34"/>
          <p:cNvSpPr/>
          <p:nvPr/>
        </p:nvSpPr>
        <p:spPr>
          <a:xfrm>
            <a:off x="8805672" y="3589020"/>
            <a:ext cx="292608" cy="0"/>
          </a:xfrm>
          <a:prstGeom prst="line">
            <a:avLst/>
          </a:prstGeom>
          <a:noFill/>
          <a:ln w="25400">
            <a:solidFill>
              <a:srgbClr val="0A1B3D"/>
            </a:solidFill>
            <a:prstDash val="solid"/>
            <a:tailEnd type="triangle"/>
          </a:ln>
        </p:spPr>
      </p:sp>
      <p:sp>
        <p:nvSpPr>
          <p:cNvPr id="37" name="card-35"/>
          <p:cNvSpPr/>
          <p:nvPr/>
        </p:nvSpPr>
        <p:spPr>
          <a:xfrm>
            <a:off x="9125712" y="1325880"/>
            <a:ext cx="2514600" cy="4526280"/>
          </a:xfrm>
          <a:prstGeom prst="roundRect">
            <a:avLst>
              <a:gd name="adj" fmla="val 4364"/>
            </a:avLst>
          </a:prstGeom>
          <a:solidFill>
            <a:srgbClr val="EFF4FE"/>
          </a:solidFill>
          <a:ln w="12700">
            <a:solidFill>
              <a:srgbClr val="EFF4FE"/>
            </a:solidFill>
            <a:prstDash val="solid"/>
          </a:ln>
        </p:spPr>
      </p:sp>
      <p:sp>
        <p:nvSpPr>
          <p:cNvPr id="38" name="badge-36"/>
          <p:cNvSpPr/>
          <p:nvPr/>
        </p:nvSpPr>
        <p:spPr>
          <a:xfrm>
            <a:off x="9326880" y="1508760"/>
            <a:ext cx="420624" cy="420624"/>
          </a:xfrm>
          <a:prstGeom prst="ellipse">
            <a:avLst/>
          </a:prstGeom>
          <a:solidFill>
            <a:srgbClr val="157A4F"/>
          </a:solidFill>
          <a:ln w="12700">
            <a:solidFill>
              <a:srgbClr val="157A4F"/>
            </a:solidFill>
            <a:prstDash val="solid"/>
          </a:ln>
        </p:spPr>
      </p:sp>
      <p:pic>
        <p:nvPicPr>
          <p:cNvPr id="39" name="icon-37" descr="preencoded.png">    </p:cNvPr>
          <p:cNvPicPr>
            <a:picLocks noChangeAspect="1"/>
          </p:cNvPicPr>
          <p:nvPr/>
        </p:nvPicPr>
        <p:blipFill>
          <a:blip r:embed="rId3"/>
          <a:stretch>
            <a:fillRect/>
          </a:stretch>
        </p:blipFill>
        <p:spPr>
          <a:xfrm>
            <a:off x="9419417" y="1601297"/>
            <a:ext cx="235549" cy="235549"/>
          </a:xfrm>
          <a:prstGeom prst="rect">
            <a:avLst/>
          </a:prstGeom>
        </p:spPr>
      </p:pic>
      <p:sp>
        <p:nvSpPr>
          <p:cNvPr id="40" name="text-38"/>
          <p:cNvSpPr txBox="1"/>
          <p:nvPr/>
        </p:nvSpPr>
        <p:spPr>
          <a:xfrm>
            <a:off x="9857232" y="1508760"/>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41" name="text-39"/>
          <p:cNvSpPr txBox="1"/>
          <p:nvPr/>
        </p:nvSpPr>
        <p:spPr>
          <a:xfrm>
            <a:off x="9326880" y="2103120"/>
            <a:ext cx="2148840" cy="3611880"/>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Published audio course</a:t>
            </a:r>
            <a:endParaRPr lang="en-US" sz="1300" dirty="0"/>
          </a:p>
          <a:p>
            <a:pPr indent="0" marL="0">
              <a:buNone/>
            </a:pPr>
            <a:r>
              <a:rPr lang="en-US" sz="1300" dirty="0">
                <a:solidFill>
                  <a:srgbClr val="14161A"/>
                </a:solidFill>
                <a:latin typeface="Calibri" pitchFamily="34" charset="0"/>
                <a:ea typeface="Calibri" pitchFamily="34" charset="-122"/>
                <a:cs typeface="Calibri" pitchFamily="34" charset="-120"/>
              </a:rPr>
              <a:t>Concepts in prerequisite order, three versions each, narrated</a:t>
            </a:r>
            <a:endParaRPr lang="en-US" sz="1300" dirty="0"/>
          </a:p>
          <a:p>
            <a:pPr indent="0" marL="0">
              <a:buNone/>
            </a:pPr>
            <a:r>
              <a:rPr lang="en-US" sz="600" dirty="0">
                <a:solidFill>
                  <a:srgbClr val="14161A"/>
                </a:solidFill>
                <a:latin typeface="Calibri" pitchFamily="34" charset="0"/>
                <a:ea typeface="Calibri" pitchFamily="34" charset="-122"/>
                <a:cs typeface="Calibri" pitchFamily="34" charset="-120"/>
              </a:rPr>
              <a:t> </a:t>
            </a:r>
            <a:endParaRPr lang="en-US" sz="1300" dirty="0"/>
          </a:p>
          <a:p>
            <a:pPr indent="0" marL="0">
              <a:buNone/>
            </a:pPr>
            <a:r>
              <a:rPr lang="en-US" sz="1400" b="1" dirty="0">
                <a:solidFill>
                  <a:srgbClr val="0A1B3D"/>
                </a:solidFill>
                <a:latin typeface="Calibri" pitchFamily="34" charset="0"/>
                <a:ea typeface="Calibri" pitchFamily="34" charset="-122"/>
                <a:cs typeface="Calibri" pitchFamily="34" charset="-120"/>
              </a:rPr>
              <a:t>Learner record</a:t>
            </a:r>
            <a:endParaRPr lang="en-US" sz="1300" dirty="0"/>
          </a:p>
          <a:p>
            <a:pPr indent="0" marL="0">
              <a:buNone/>
            </a:pPr>
            <a:r>
              <a:rPr lang="en-US" sz="1300" dirty="0">
                <a:solidFill>
                  <a:srgbClr val="14161A"/>
                </a:solidFill>
                <a:latin typeface="Calibri" pitchFamily="34" charset="0"/>
                <a:ea typeface="Calibri" pitchFamily="34" charset="-122"/>
                <a:cs typeface="Calibri" pitchFamily="34" charset="-120"/>
              </a:rPr>
              <a:t>Mastery per concept, a baseline per student, a log of every decision</a:t>
            </a:r>
            <a:endParaRPr lang="en-US" sz="1300" dirty="0"/>
          </a:p>
          <a:p>
            <a:pPr indent="0" marL="0">
              <a:buNone/>
            </a:pPr>
            <a:r>
              <a:rPr lang="en-US" sz="600" dirty="0">
                <a:solidFill>
                  <a:srgbClr val="14161A"/>
                </a:solidFill>
                <a:latin typeface="Calibri" pitchFamily="34" charset="0"/>
                <a:ea typeface="Calibri" pitchFamily="34" charset="-122"/>
                <a:cs typeface="Calibri" pitchFamily="34" charset="-120"/>
              </a:rPr>
              <a:t> </a:t>
            </a:r>
            <a:endParaRPr lang="en-US" sz="1300" dirty="0"/>
          </a:p>
          <a:p>
            <a:pPr indent="0" marL="0">
              <a:buNone/>
            </a:pPr>
            <a:r>
              <a:rPr lang="en-US" sz="1400" b="1" dirty="0">
                <a:solidFill>
                  <a:srgbClr val="0A1B3D"/>
                </a:solidFill>
                <a:latin typeface="Calibri" pitchFamily="34" charset="0"/>
                <a:ea typeface="Calibri" pitchFamily="34" charset="-122"/>
                <a:cs typeface="Calibri" pitchFamily="34" charset="-120"/>
              </a:rPr>
              <a:t>Teacher reports</a:t>
            </a:r>
            <a:endParaRPr lang="en-US" sz="1300" dirty="0"/>
          </a:p>
          <a:p>
            <a:pPr indent="0" marL="0">
              <a:buNone/>
            </a:pPr>
            <a:r>
              <a:rPr lang="en-US" sz="1300" dirty="0">
                <a:solidFill>
                  <a:srgbClr val="14161A"/>
                </a:solidFill>
                <a:latin typeface="Calibri" pitchFamily="34" charset="0"/>
                <a:ea typeface="Calibri" pitchFamily="34" charset="-122"/>
                <a:cs typeface="Calibri" pitchFamily="34" charset="-120"/>
              </a:rPr>
              <a:t>Progress per student</a:t>
            </a:r>
            <a:endParaRPr lang="en-US" sz="1300" dirty="0"/>
          </a:p>
        </p:txBody>
      </p:sp>
      <p:sp>
        <p:nvSpPr>
          <p:cNvPr id="42" name="text-40"/>
          <p:cNvSpPr txBox="1"/>
          <p:nvPr/>
        </p:nvSpPr>
        <p:spPr>
          <a:xfrm>
            <a:off x="548640" y="5943600"/>
            <a:ext cx="11064240" cy="347472"/>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Feedback loop: every answer updates the learner record, which selects the next instructional action.</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algorithm behind each process</a:t>
            </a:r>
            <a:endParaRPr lang="en-US" sz="3000" dirty="0"/>
          </a:p>
        </p:txBody>
      </p:sp>
      <p:graphicFrame>
        <p:nvGraphicFramePr>
          <p:cNvPr id="4" name="table-41"/>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11680"/>
                <a:gridCol w="5532120"/>
                <a:gridCol w="3520440"/>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Algorithm / model</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Transforms</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1 Extraction</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PyMuPDF block parsing · rule-based block classifier · TF-IDF cosine · vision LLM</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PDF → ordered learning objects</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2 Concept formation</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MiniLM bi-encoder shortlist · RoBERTa cross-encoder · threshold routing</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objects from 2+ PDFs → concepts</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3 Content versions</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LLM classification · sentence coverage &amp; novelty · Dale-Chall readability</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bundles → Standard / Simplified / Elaborated</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4 Questions</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LLM drafting · corrective RAG (retrieval + LLM judge) · RoBERTa Bloom classifier</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concept text → graded question bank</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5 Learning path</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Text-evidence link rule (name · owned terms · heading) · Kahn's topological sort</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concepts → prerequisite graph → ordered path</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6 Audio &amp; publish</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Completeness gate · Edge neural TTS with retry</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reviewed topic → narrated, published course</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7 Course package</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One-time build keyed on publish time</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published path → audio package + answer key</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8 Mastery</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Bayesian Knowledge Tracing (hidden Markov model)</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answer → P(knows concept)</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9 Cold start</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Bayesian shrinkage · L₀ inversion · 95% margin of error</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answers → personal baseline</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10 Rule gating</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Fixed remediation ladder</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graded answer → next command</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384048">
                <a:tc>
                  <a:txBody>
                    <a:bodyPr/>
                    <a:lstStyle/>
                    <a:p>
                      <a:pPr algn="l" indent="0" marL="0">
                        <a:buNone/>
                      </a:pPr>
                      <a:r>
                        <a:rPr lang="en-US" sz="1250" b="1" dirty="0">
                          <a:solidFill>
                            <a:srgbClr val="0A1B3D"/>
                          </a:solidFill>
                          <a:latin typeface="Calibri" pitchFamily="34" charset="0"/>
                          <a:ea typeface="Calibri" pitchFamily="34" charset="-122"/>
                          <a:cs typeface="Calibri" pitchFamily="34" charset="-120"/>
                        </a:rPr>
                        <a:t>11 Phase 2</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Double DQN with action masking</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4161A"/>
                          </a:solidFill>
                          <a:latin typeface="Calibri" pitchFamily="34" charset="0"/>
                          <a:ea typeface="Calibri" pitchFamily="34" charset="-122"/>
                          <a:cs typeface="Calibri" pitchFamily="34" charset="-120"/>
                        </a:rPr>
                        <a:t>decision logs → learned policy</a:t>
                      </a:r>
                      <a:endParaRPr lang="en-US" sz="125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Teacher side</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From uploaded PDFs to a published audio course: processes 1 to 6</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 Extraction: a PDF becomes ordered learning objects</a:t>
            </a:r>
            <a:endParaRPr lang="en-US" sz="3000" dirty="0"/>
          </a:p>
        </p:txBody>
      </p:sp>
      <p:sp>
        <p:nvSpPr>
          <p:cNvPr id="3" name="text-42"/>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Raw page layout is turned into the smallest teachable units, in reading order, with figures described in words.</a:t>
            </a:r>
            <a:endParaRPr lang="en-US" sz="1600" dirty="0"/>
          </a:p>
        </p:txBody>
      </p:sp>
      <p:sp>
        <p:nvSpPr>
          <p:cNvPr id="4" name="card-43"/>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44"/>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45"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46"/>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47"/>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48"/>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49"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50"/>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51"/>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52"/>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53"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54"/>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55"/>
          <p:cNvSpPr/>
          <p:nvPr/>
        </p:nvSpPr>
        <p:spPr>
          <a:xfrm>
            <a:off x="3136392" y="3657600"/>
            <a:ext cx="310896" cy="0"/>
          </a:xfrm>
          <a:prstGeom prst="line">
            <a:avLst/>
          </a:prstGeom>
          <a:noFill/>
          <a:ln w="25400">
            <a:solidFill>
              <a:srgbClr val="0A1B3D"/>
            </a:solidFill>
            <a:prstDash val="solid"/>
            <a:tailEnd type="triangle"/>
          </a:ln>
        </p:spPr>
      </p:sp>
      <p:sp>
        <p:nvSpPr>
          <p:cNvPr id="17" name="arrow-56"/>
          <p:cNvSpPr/>
          <p:nvPr/>
        </p:nvSpPr>
        <p:spPr>
          <a:xfrm>
            <a:off x="8759952" y="3657600"/>
            <a:ext cx="310896" cy="0"/>
          </a:xfrm>
          <a:prstGeom prst="line">
            <a:avLst/>
          </a:prstGeom>
          <a:noFill/>
          <a:ln w="25400">
            <a:solidFill>
              <a:srgbClr val="0A1B3D"/>
            </a:solidFill>
            <a:prstDash val="solid"/>
            <a:tailEnd type="triangle"/>
          </a:ln>
        </p:spPr>
      </p:sp>
      <p:sp>
        <p:nvSpPr>
          <p:cNvPr id="18" name="text-57"/>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Uploaded PDF lesson</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course outline (modules and topics)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Figures and tables inside the PDF</a:t>
            </a:r>
            <a:endParaRPr lang="en-US" sz="1300" dirty="0"/>
          </a:p>
        </p:txBody>
      </p:sp>
      <p:sp>
        <p:nvSpPr>
          <p:cNvPr id="19" name="text-58"/>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Ordered learning objects: title, section heading, content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Figure objects with spoken descriptions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topic each PDF belongs to</a:t>
            </a:r>
            <a:endParaRPr lang="en-US" sz="1300" dirty="0"/>
          </a:p>
        </p:txBody>
      </p:sp>
      <p:sp>
        <p:nvSpPr>
          <p:cNvPr id="20" name="num-59"/>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60"/>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61"/>
          <p:cNvSpPr txBox="1"/>
          <p:nvPr/>
        </p:nvSpPr>
        <p:spPr>
          <a:xfrm>
            <a:off x="4114800" y="2359152"/>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Parse text blocks</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PyMuPDF reads each page as sorted blocks, restoring top-to-bottom reading order.</a:t>
            </a:r>
            <a:endParaRPr lang="en-US" sz="1400" dirty="0"/>
          </a:p>
        </p:txBody>
      </p:sp>
      <p:sp>
        <p:nvSpPr>
          <p:cNvPr id="23" name="num-62"/>
          <p:cNvSpPr/>
          <p:nvPr/>
        </p:nvSpPr>
        <p:spPr>
          <a:xfrm>
            <a:off x="3675888" y="3026664"/>
            <a:ext cx="310896" cy="310896"/>
          </a:xfrm>
          <a:prstGeom prst="ellipse">
            <a:avLst/>
          </a:prstGeom>
          <a:solidFill>
            <a:srgbClr val="1A47A8"/>
          </a:solidFill>
          <a:ln w="12700">
            <a:solidFill>
              <a:srgbClr val="1A47A8"/>
            </a:solidFill>
            <a:prstDash val="solid"/>
          </a:ln>
        </p:spPr>
      </p:sp>
      <p:sp>
        <p:nvSpPr>
          <p:cNvPr id="24" name="text-63"/>
          <p:cNvSpPr txBox="1"/>
          <p:nvPr/>
        </p:nvSpPr>
        <p:spPr>
          <a:xfrm>
            <a:off x="3675888" y="30266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64"/>
          <p:cNvSpPr txBox="1"/>
          <p:nvPr/>
        </p:nvSpPr>
        <p:spPr>
          <a:xfrm>
            <a:off x="4114800" y="3008376"/>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Classify every block</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Rule-based classifier: 12 roles (lesson content, objective, assessment, answer key, header…); only lesson content is kept.</a:t>
            </a:r>
            <a:endParaRPr lang="en-US" sz="1400" dirty="0"/>
          </a:p>
        </p:txBody>
      </p:sp>
      <p:sp>
        <p:nvSpPr>
          <p:cNvPr id="26" name="num-65"/>
          <p:cNvSpPr/>
          <p:nvPr/>
        </p:nvSpPr>
        <p:spPr>
          <a:xfrm>
            <a:off x="3675888" y="3675888"/>
            <a:ext cx="310896" cy="310896"/>
          </a:xfrm>
          <a:prstGeom prst="ellipse">
            <a:avLst/>
          </a:prstGeom>
          <a:solidFill>
            <a:srgbClr val="1A47A8"/>
          </a:solidFill>
          <a:ln w="12700">
            <a:solidFill>
              <a:srgbClr val="1A47A8"/>
            </a:solidFill>
            <a:prstDash val="solid"/>
          </a:ln>
        </p:spPr>
      </p:sp>
      <p:sp>
        <p:nvSpPr>
          <p:cNvPr id="27" name="text-66"/>
          <p:cNvSpPr txBox="1"/>
          <p:nvPr/>
        </p:nvSpPr>
        <p:spPr>
          <a:xfrm>
            <a:off x="3675888" y="36758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67"/>
          <p:cNvSpPr txBox="1"/>
          <p:nvPr/>
        </p:nvSpPr>
        <p:spPr>
          <a:xfrm>
            <a:off x="4114800" y="3657600"/>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Drop pages around the lesson</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Page-level pass: printed page numbers, upside-down text (answer keys), link-dense reference pages.</a:t>
            </a:r>
            <a:endParaRPr lang="en-US" sz="1400" dirty="0"/>
          </a:p>
        </p:txBody>
      </p:sp>
      <p:sp>
        <p:nvSpPr>
          <p:cNvPr id="29" name="num-68"/>
          <p:cNvSpPr/>
          <p:nvPr/>
        </p:nvSpPr>
        <p:spPr>
          <a:xfrm>
            <a:off x="3675888" y="4325112"/>
            <a:ext cx="310896" cy="310896"/>
          </a:xfrm>
          <a:prstGeom prst="ellipse">
            <a:avLst/>
          </a:prstGeom>
          <a:solidFill>
            <a:srgbClr val="1A47A8"/>
          </a:solidFill>
          <a:ln w="12700">
            <a:solidFill>
              <a:srgbClr val="1A47A8"/>
            </a:solidFill>
            <a:prstDash val="solid"/>
          </a:ln>
        </p:spPr>
      </p:sp>
      <p:sp>
        <p:nvSpPr>
          <p:cNvPr id="30" name="text-69"/>
          <p:cNvSpPr txBox="1"/>
          <p:nvPr/>
        </p:nvSpPr>
        <p:spPr>
          <a:xfrm>
            <a:off x="3675888" y="43251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70"/>
          <p:cNvSpPr txBox="1"/>
          <p:nvPr/>
        </p:nvSpPr>
        <p:spPr>
          <a:xfrm>
            <a:off x="4114800" y="4306824"/>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Match the PDF to its topic</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TF-IDF (1-2 word) vectors, cosine against every outline topic; short neighbours merge by the same cosine.</a:t>
            </a:r>
            <a:endParaRPr lang="en-US" sz="1400" dirty="0"/>
          </a:p>
        </p:txBody>
      </p:sp>
      <p:sp>
        <p:nvSpPr>
          <p:cNvPr id="32" name="num-71"/>
          <p:cNvSpPr/>
          <p:nvPr/>
        </p:nvSpPr>
        <p:spPr>
          <a:xfrm>
            <a:off x="3675888" y="4974336"/>
            <a:ext cx="310896" cy="310896"/>
          </a:xfrm>
          <a:prstGeom prst="ellipse">
            <a:avLst/>
          </a:prstGeom>
          <a:solidFill>
            <a:srgbClr val="1A47A8"/>
          </a:solidFill>
          <a:ln w="12700">
            <a:solidFill>
              <a:srgbClr val="1A47A8"/>
            </a:solidFill>
            <a:prstDash val="solid"/>
          </a:ln>
        </p:spPr>
      </p:sp>
      <p:sp>
        <p:nvSpPr>
          <p:cNvPr id="33" name="text-72"/>
          <p:cNvSpPr txBox="1"/>
          <p:nvPr/>
        </p:nvSpPr>
        <p:spPr>
          <a:xfrm>
            <a:off x="3675888" y="49743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73"/>
          <p:cNvSpPr txBox="1"/>
          <p:nvPr/>
        </p:nvSpPr>
        <p:spPr>
          <a:xfrm>
            <a:off x="4114800" y="4956048"/>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Describe each figure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vision LLM states what the figure teaches, not its layout; caption fallback; cached by image.</a:t>
            </a:r>
            <a:endParaRPr lang="en-US" sz="1400" dirty="0"/>
          </a:p>
        </p:txBody>
      </p:sp>
      <p:sp>
        <p:nvSpPr>
          <p:cNvPr id="35" name="text-74"/>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6" name="pill-75"/>
          <p:cNvSpPr/>
          <p:nvPr/>
        </p:nvSpPr>
        <p:spPr>
          <a:xfrm>
            <a:off x="1645920" y="5815584"/>
            <a:ext cx="809244" cy="329184"/>
          </a:xfrm>
          <a:prstGeom prst="roundRect">
            <a:avLst>
              <a:gd name="adj" fmla="val 50000"/>
            </a:avLst>
          </a:prstGeom>
          <a:solidFill>
            <a:srgbClr val="0A1B3D"/>
          </a:solidFill>
          <a:ln w="12700">
            <a:solidFill>
              <a:srgbClr val="0A1B3D"/>
            </a:solidFill>
            <a:prstDash val="solid"/>
          </a:ln>
        </p:spPr>
      </p:sp>
      <p:sp>
        <p:nvSpPr>
          <p:cNvPr id="37" name="text-76"/>
          <p:cNvSpPr txBox="1"/>
          <p:nvPr/>
        </p:nvSpPr>
        <p:spPr>
          <a:xfrm>
            <a:off x="1645920" y="5815584"/>
            <a:ext cx="8092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PyMuPDF</a:t>
            </a:r>
            <a:endParaRPr lang="en-US" sz="1100" dirty="0"/>
          </a:p>
        </p:txBody>
      </p:sp>
      <p:sp>
        <p:nvSpPr>
          <p:cNvPr id="38" name="pill-77"/>
          <p:cNvSpPr/>
          <p:nvPr/>
        </p:nvSpPr>
        <p:spPr>
          <a:xfrm>
            <a:off x="2564892" y="5815584"/>
            <a:ext cx="1769364" cy="329184"/>
          </a:xfrm>
          <a:prstGeom prst="roundRect">
            <a:avLst>
              <a:gd name="adj" fmla="val 50000"/>
            </a:avLst>
          </a:prstGeom>
          <a:solidFill>
            <a:srgbClr val="0A1B3D"/>
          </a:solidFill>
          <a:ln w="12700">
            <a:solidFill>
              <a:srgbClr val="0A1B3D"/>
            </a:solidFill>
            <a:prstDash val="solid"/>
          </a:ln>
        </p:spPr>
      </p:sp>
      <p:sp>
        <p:nvSpPr>
          <p:cNvPr id="39" name="text-78"/>
          <p:cNvSpPr txBox="1"/>
          <p:nvPr/>
        </p:nvSpPr>
        <p:spPr>
          <a:xfrm>
            <a:off x="2564892" y="5815584"/>
            <a:ext cx="17693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Rule-based classifier</a:t>
            </a:r>
            <a:endParaRPr lang="en-US" sz="1100" dirty="0"/>
          </a:p>
        </p:txBody>
      </p:sp>
      <p:sp>
        <p:nvSpPr>
          <p:cNvPr id="40" name="pill-79"/>
          <p:cNvSpPr/>
          <p:nvPr/>
        </p:nvSpPr>
        <p:spPr>
          <a:xfrm>
            <a:off x="4443984" y="5815584"/>
            <a:ext cx="1357884" cy="329184"/>
          </a:xfrm>
          <a:prstGeom prst="roundRect">
            <a:avLst>
              <a:gd name="adj" fmla="val 50000"/>
            </a:avLst>
          </a:prstGeom>
          <a:solidFill>
            <a:srgbClr val="0A1B3D"/>
          </a:solidFill>
          <a:ln w="12700">
            <a:solidFill>
              <a:srgbClr val="0A1B3D"/>
            </a:solidFill>
            <a:prstDash val="solid"/>
          </a:ln>
        </p:spPr>
      </p:sp>
      <p:sp>
        <p:nvSpPr>
          <p:cNvPr id="41" name="text-80"/>
          <p:cNvSpPr txBox="1"/>
          <p:nvPr/>
        </p:nvSpPr>
        <p:spPr>
          <a:xfrm>
            <a:off x="4443984" y="5815584"/>
            <a:ext cx="13578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TF-IDF + cosine</a:t>
            </a:r>
            <a:endParaRPr lang="en-US" sz="1100" dirty="0"/>
          </a:p>
        </p:txBody>
      </p:sp>
      <p:sp>
        <p:nvSpPr>
          <p:cNvPr id="42" name="pill-81"/>
          <p:cNvSpPr/>
          <p:nvPr/>
        </p:nvSpPr>
        <p:spPr>
          <a:xfrm>
            <a:off x="5911596" y="5815584"/>
            <a:ext cx="2112264" cy="329184"/>
          </a:xfrm>
          <a:prstGeom prst="roundRect">
            <a:avLst>
              <a:gd name="adj" fmla="val 50000"/>
            </a:avLst>
          </a:prstGeom>
          <a:solidFill>
            <a:srgbClr val="0A1B3D"/>
          </a:solidFill>
          <a:ln w="12700">
            <a:solidFill>
              <a:srgbClr val="0A1B3D"/>
            </a:solidFill>
            <a:prstDash val="solid"/>
          </a:ln>
        </p:spPr>
      </p:sp>
      <p:sp>
        <p:nvSpPr>
          <p:cNvPr id="43" name="text-82"/>
          <p:cNvSpPr txBox="1"/>
          <p:nvPr/>
        </p:nvSpPr>
        <p:spPr>
          <a:xfrm>
            <a:off x="5911596" y="5815584"/>
            <a:ext cx="21122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Vision LLM (Qwen via Groq)</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 Concept formation: objects across PDFs become one concept</a:t>
            </a:r>
            <a:endParaRPr lang="en-US" sz="3000" dirty="0"/>
          </a:p>
        </p:txBody>
      </p:sp>
      <p:sp>
        <p:nvSpPr>
          <p:cNvPr id="3" name="text-83"/>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Passages that teach the same idea in different files are gathered into one concept, holding one bundle per PDF.</a:t>
            </a:r>
            <a:endParaRPr lang="en-US" sz="1600" dirty="0"/>
          </a:p>
        </p:txBody>
      </p:sp>
      <p:sp>
        <p:nvSpPr>
          <p:cNvPr id="4" name="card-84"/>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85"/>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86"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87"/>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88"/>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89"/>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90"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91"/>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92"/>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93"/>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94"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95"/>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96"/>
          <p:cNvSpPr/>
          <p:nvPr/>
        </p:nvSpPr>
        <p:spPr>
          <a:xfrm>
            <a:off x="3136392" y="3657600"/>
            <a:ext cx="310896" cy="0"/>
          </a:xfrm>
          <a:prstGeom prst="line">
            <a:avLst/>
          </a:prstGeom>
          <a:noFill/>
          <a:ln w="25400">
            <a:solidFill>
              <a:srgbClr val="0A1B3D"/>
            </a:solidFill>
            <a:prstDash val="solid"/>
            <a:tailEnd type="triangle"/>
          </a:ln>
        </p:spPr>
      </p:sp>
      <p:sp>
        <p:nvSpPr>
          <p:cNvPr id="17" name="arrow-97"/>
          <p:cNvSpPr/>
          <p:nvPr/>
        </p:nvSpPr>
        <p:spPr>
          <a:xfrm>
            <a:off x="8759952" y="3657600"/>
            <a:ext cx="310896" cy="0"/>
          </a:xfrm>
          <a:prstGeom prst="line">
            <a:avLst/>
          </a:prstGeom>
          <a:noFill/>
          <a:ln w="25400">
            <a:solidFill>
              <a:srgbClr val="0A1B3D"/>
            </a:solidFill>
            <a:prstDash val="solid"/>
            <a:tailEnd type="triangle"/>
          </a:ln>
        </p:spPr>
      </p:sp>
      <p:sp>
        <p:nvSpPr>
          <p:cNvPr id="18" name="text-98"/>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Confirmed learning objects from two or more PDFs of one topic</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Their section headings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Teacher decisions (connect / keep separate)</a:t>
            </a:r>
            <a:endParaRPr lang="en-US" sz="1300" dirty="0"/>
          </a:p>
        </p:txBody>
      </p:sp>
      <p:sp>
        <p:nvSpPr>
          <p:cNvPr id="19" name="text-99"/>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Concepts (LearningObjectGroup)</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One bundle per PDF, in document order</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Suggestion cards for uncertain pairs</a:t>
            </a:r>
            <a:endParaRPr lang="en-US" sz="1300" dirty="0"/>
          </a:p>
        </p:txBody>
      </p:sp>
      <p:sp>
        <p:nvSpPr>
          <p:cNvPr id="20" name="num-100"/>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101"/>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102"/>
          <p:cNvSpPr txBox="1"/>
          <p:nvPr/>
        </p:nvSpPr>
        <p:spPr>
          <a:xfrm>
            <a:off x="4114800" y="2359152"/>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Embed and shortlist</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MiniLM bi-encoder turns each object into a vector; cosine picks the 10 closest concepts.</a:t>
            </a:r>
            <a:endParaRPr lang="en-US" sz="1400" dirty="0"/>
          </a:p>
        </p:txBody>
      </p:sp>
      <p:sp>
        <p:nvSpPr>
          <p:cNvPr id="23" name="num-103"/>
          <p:cNvSpPr/>
          <p:nvPr/>
        </p:nvSpPr>
        <p:spPr>
          <a:xfrm>
            <a:off x="3675888" y="3026664"/>
            <a:ext cx="310896" cy="310896"/>
          </a:xfrm>
          <a:prstGeom prst="ellipse">
            <a:avLst/>
          </a:prstGeom>
          <a:solidFill>
            <a:srgbClr val="1A47A8"/>
          </a:solidFill>
          <a:ln w="12700">
            <a:solidFill>
              <a:srgbClr val="1A47A8"/>
            </a:solidFill>
            <a:prstDash val="solid"/>
          </a:ln>
        </p:spPr>
      </p:sp>
      <p:sp>
        <p:nvSpPr>
          <p:cNvPr id="24" name="text-104"/>
          <p:cNvSpPr txBox="1"/>
          <p:nvPr/>
        </p:nvSpPr>
        <p:spPr>
          <a:xfrm>
            <a:off x="3675888" y="30266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105"/>
          <p:cNvSpPr txBox="1"/>
          <p:nvPr/>
        </p:nvSpPr>
        <p:spPr>
          <a:xfrm>
            <a:off x="4114800" y="3008376"/>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Re-score in full</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RoBERTa cross-encoder reads the object with every member of each candidate; the lowest score counts.</a:t>
            </a:r>
            <a:endParaRPr lang="en-US" sz="1400" dirty="0"/>
          </a:p>
        </p:txBody>
      </p:sp>
      <p:sp>
        <p:nvSpPr>
          <p:cNvPr id="26" name="num-106"/>
          <p:cNvSpPr/>
          <p:nvPr/>
        </p:nvSpPr>
        <p:spPr>
          <a:xfrm>
            <a:off x="3675888" y="3675888"/>
            <a:ext cx="310896" cy="310896"/>
          </a:xfrm>
          <a:prstGeom prst="ellipse">
            <a:avLst/>
          </a:prstGeom>
          <a:solidFill>
            <a:srgbClr val="1A47A8"/>
          </a:solidFill>
          <a:ln w="12700">
            <a:solidFill>
              <a:srgbClr val="1A47A8"/>
            </a:solidFill>
            <a:prstDash val="solid"/>
          </a:ln>
        </p:spPr>
      </p:sp>
      <p:sp>
        <p:nvSpPr>
          <p:cNvPr id="27" name="text-107"/>
          <p:cNvSpPr txBox="1"/>
          <p:nvPr/>
        </p:nvSpPr>
        <p:spPr>
          <a:xfrm>
            <a:off x="3675888" y="36758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108"/>
          <p:cNvSpPr txBox="1"/>
          <p:nvPr/>
        </p:nvSpPr>
        <p:spPr>
          <a:xfrm>
            <a:off x="4114800" y="3657600"/>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Route by threshold</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 0.60 with a 0.05 lead: grouped automatically · 0.30–0.60: a card for the teacher · below: stays apart.</a:t>
            </a:r>
            <a:endParaRPr lang="en-US" sz="1400" dirty="0"/>
          </a:p>
        </p:txBody>
      </p:sp>
      <p:sp>
        <p:nvSpPr>
          <p:cNvPr id="29" name="num-109"/>
          <p:cNvSpPr/>
          <p:nvPr/>
        </p:nvSpPr>
        <p:spPr>
          <a:xfrm>
            <a:off x="3675888" y="4325112"/>
            <a:ext cx="310896" cy="310896"/>
          </a:xfrm>
          <a:prstGeom prst="ellipse">
            <a:avLst/>
          </a:prstGeom>
          <a:solidFill>
            <a:srgbClr val="1A47A8"/>
          </a:solidFill>
          <a:ln w="12700">
            <a:solidFill>
              <a:srgbClr val="1A47A8"/>
            </a:solidFill>
            <a:prstDash val="solid"/>
          </a:ln>
        </p:spPr>
      </p:sp>
      <p:sp>
        <p:nvSpPr>
          <p:cNvPr id="30" name="text-110"/>
          <p:cNvSpPr txBox="1"/>
          <p:nvPr/>
        </p:nvSpPr>
        <p:spPr>
          <a:xfrm>
            <a:off x="3675888" y="43251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111"/>
          <p:cNvSpPr txBox="1"/>
          <p:nvPr/>
        </p:nvSpPr>
        <p:spPr>
          <a:xfrm>
            <a:off x="4114800" y="4306824"/>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Match whole sections</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run of objects under one heading joins as one concept only when another PDF names it.</a:t>
            </a:r>
            <a:endParaRPr lang="en-US" sz="1400" dirty="0"/>
          </a:p>
        </p:txBody>
      </p:sp>
      <p:sp>
        <p:nvSpPr>
          <p:cNvPr id="32" name="num-112"/>
          <p:cNvSpPr/>
          <p:nvPr/>
        </p:nvSpPr>
        <p:spPr>
          <a:xfrm>
            <a:off x="3675888" y="4974336"/>
            <a:ext cx="310896" cy="310896"/>
          </a:xfrm>
          <a:prstGeom prst="ellipse">
            <a:avLst/>
          </a:prstGeom>
          <a:solidFill>
            <a:srgbClr val="1A47A8"/>
          </a:solidFill>
          <a:ln w="12700">
            <a:solidFill>
              <a:srgbClr val="1A47A8"/>
            </a:solidFill>
            <a:prstDash val="solid"/>
          </a:ln>
        </p:spPr>
      </p:sp>
      <p:sp>
        <p:nvSpPr>
          <p:cNvPr id="33" name="text-113"/>
          <p:cNvSpPr txBox="1"/>
          <p:nvPr/>
        </p:nvSpPr>
        <p:spPr>
          <a:xfrm>
            <a:off x="3675888" y="49743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114"/>
          <p:cNvSpPr txBox="1"/>
          <p:nvPr/>
        </p:nvSpPr>
        <p:spPr>
          <a:xfrm>
            <a:off x="4114800" y="4956048"/>
            <a:ext cx="4462272" cy="612648"/>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Never undo the teacher</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Rejected pairs and teacher moves are respected by every automatic pass.</a:t>
            </a:r>
            <a:endParaRPr lang="en-US" sz="1400" dirty="0"/>
          </a:p>
        </p:txBody>
      </p:sp>
      <p:sp>
        <p:nvSpPr>
          <p:cNvPr id="35" name="text-115"/>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6" name="pill-116"/>
          <p:cNvSpPr/>
          <p:nvPr/>
        </p:nvSpPr>
        <p:spPr>
          <a:xfrm>
            <a:off x="1645920" y="5815584"/>
            <a:ext cx="1426464" cy="329184"/>
          </a:xfrm>
          <a:prstGeom prst="roundRect">
            <a:avLst>
              <a:gd name="adj" fmla="val 50000"/>
            </a:avLst>
          </a:prstGeom>
          <a:solidFill>
            <a:srgbClr val="0A1B3D"/>
          </a:solidFill>
          <a:ln w="12700">
            <a:solidFill>
              <a:srgbClr val="0A1B3D"/>
            </a:solidFill>
            <a:prstDash val="solid"/>
          </a:ln>
        </p:spPr>
      </p:sp>
      <p:sp>
        <p:nvSpPr>
          <p:cNvPr id="37" name="text-117"/>
          <p:cNvSpPr txBox="1"/>
          <p:nvPr/>
        </p:nvSpPr>
        <p:spPr>
          <a:xfrm>
            <a:off x="1645920" y="5815584"/>
            <a:ext cx="14264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all-MiniLM-L6-v2</a:t>
            </a:r>
            <a:endParaRPr lang="en-US" sz="1100" dirty="0"/>
          </a:p>
        </p:txBody>
      </p:sp>
      <p:sp>
        <p:nvSpPr>
          <p:cNvPr id="38" name="pill-118"/>
          <p:cNvSpPr/>
          <p:nvPr/>
        </p:nvSpPr>
        <p:spPr>
          <a:xfrm>
            <a:off x="3182112" y="5815584"/>
            <a:ext cx="2112264" cy="329184"/>
          </a:xfrm>
          <a:prstGeom prst="roundRect">
            <a:avLst>
              <a:gd name="adj" fmla="val 50000"/>
            </a:avLst>
          </a:prstGeom>
          <a:solidFill>
            <a:srgbClr val="0A1B3D"/>
          </a:solidFill>
          <a:ln w="12700">
            <a:solidFill>
              <a:srgbClr val="0A1B3D"/>
            </a:solidFill>
            <a:prstDash val="solid"/>
          </a:ln>
        </p:spPr>
      </p:sp>
      <p:sp>
        <p:nvSpPr>
          <p:cNvPr id="39" name="text-119"/>
          <p:cNvSpPr txBox="1"/>
          <p:nvPr/>
        </p:nvSpPr>
        <p:spPr>
          <a:xfrm>
            <a:off x="3182112" y="5815584"/>
            <a:ext cx="21122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stsb-RoBERTa cross-encoder</a:t>
            </a:r>
            <a:endParaRPr lang="en-US" sz="1100" dirty="0"/>
          </a:p>
        </p:txBody>
      </p:sp>
      <p:sp>
        <p:nvSpPr>
          <p:cNvPr id="40" name="pill-120"/>
          <p:cNvSpPr/>
          <p:nvPr/>
        </p:nvSpPr>
        <p:spPr>
          <a:xfrm>
            <a:off x="5404104" y="5815584"/>
            <a:ext cx="1495044" cy="329184"/>
          </a:xfrm>
          <a:prstGeom prst="roundRect">
            <a:avLst>
              <a:gd name="adj" fmla="val 50000"/>
            </a:avLst>
          </a:prstGeom>
          <a:solidFill>
            <a:srgbClr val="0A1B3D"/>
          </a:solidFill>
          <a:ln w="12700">
            <a:solidFill>
              <a:srgbClr val="0A1B3D"/>
            </a:solidFill>
            <a:prstDash val="solid"/>
          </a:ln>
        </p:spPr>
      </p:sp>
      <p:sp>
        <p:nvSpPr>
          <p:cNvPr id="41" name="text-121"/>
          <p:cNvSpPr txBox="1"/>
          <p:nvPr/>
        </p:nvSpPr>
        <p:spPr>
          <a:xfrm>
            <a:off x="5404104" y="5815584"/>
            <a:ext cx="14950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Cosine similarity</a:t>
            </a:r>
            <a:endParaRPr lang="en-US" sz="1100" dirty="0"/>
          </a:p>
        </p:txBody>
      </p:sp>
      <p:sp>
        <p:nvSpPr>
          <p:cNvPr id="42" name="pill-122"/>
          <p:cNvSpPr/>
          <p:nvPr/>
        </p:nvSpPr>
        <p:spPr>
          <a:xfrm>
            <a:off x="7008876" y="5815584"/>
            <a:ext cx="1495044" cy="329184"/>
          </a:xfrm>
          <a:prstGeom prst="roundRect">
            <a:avLst>
              <a:gd name="adj" fmla="val 50000"/>
            </a:avLst>
          </a:prstGeom>
          <a:solidFill>
            <a:srgbClr val="0A1B3D"/>
          </a:solidFill>
          <a:ln w="12700">
            <a:solidFill>
              <a:srgbClr val="0A1B3D"/>
            </a:solidFill>
            <a:prstDash val="solid"/>
          </a:ln>
        </p:spPr>
      </p:sp>
      <p:sp>
        <p:nvSpPr>
          <p:cNvPr id="43" name="text-123"/>
          <p:cNvSpPr txBox="1"/>
          <p:nvPr/>
        </p:nvSpPr>
        <p:spPr>
          <a:xfrm>
            <a:off x="7008876" y="5815584"/>
            <a:ext cx="14950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Threshold routing</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Two encoders, then three routes</a:t>
            </a:r>
            <a:endParaRPr lang="en-US" sz="3000" dirty="0"/>
          </a:p>
        </p:txBody>
      </p:sp>
      <p:sp>
        <p:nvSpPr>
          <p:cNvPr id="3" name="card-124"/>
          <p:cNvSpPr/>
          <p:nvPr/>
        </p:nvSpPr>
        <p:spPr>
          <a:xfrm>
            <a:off x="548640" y="1371600"/>
            <a:ext cx="3383280" cy="2331720"/>
          </a:xfrm>
          <a:prstGeom prst="roundRect">
            <a:avLst>
              <a:gd name="adj" fmla="val 4706"/>
            </a:avLst>
          </a:prstGeom>
          <a:solidFill>
            <a:srgbClr val="EFF4FE"/>
          </a:solidFill>
          <a:ln w="12700">
            <a:solidFill>
              <a:srgbClr val="EFF4FE"/>
            </a:solidFill>
            <a:prstDash val="solid"/>
          </a:ln>
        </p:spPr>
      </p:sp>
      <p:sp>
        <p:nvSpPr>
          <p:cNvPr id="4" name="text-125"/>
          <p:cNvSpPr txBox="1"/>
          <p:nvPr/>
        </p:nvSpPr>
        <p:spPr>
          <a:xfrm>
            <a:off x="822960" y="1508760"/>
            <a:ext cx="283464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1 · Bi-encoder</a:t>
            </a:r>
            <a:endParaRPr lang="en-US" sz="1800" dirty="0"/>
          </a:p>
        </p:txBody>
      </p:sp>
      <p:sp>
        <p:nvSpPr>
          <p:cNvPr id="5" name="text-126"/>
          <p:cNvSpPr txBox="1"/>
          <p:nvPr/>
        </p:nvSpPr>
        <p:spPr>
          <a:xfrm>
            <a:off x="822960" y="1874520"/>
            <a:ext cx="2834640" cy="320040"/>
          </a:xfrm>
          <a:prstGeom prst="rect">
            <a:avLst/>
          </a:prstGeom>
          <a:noFill/>
          <a:ln/>
        </p:spPr>
        <p:txBody>
          <a:bodyPr wrap="square" lIns="0" tIns="0" rIns="0" bIns="0" rtlCol="0" anchor="t"/>
          <a:lstStyle/>
          <a:p>
            <a:pPr indent="0" marL="0">
              <a:buNone/>
            </a:pPr>
            <a:r>
              <a:rPr lang="en-US" sz="1300" b="1" dirty="0">
                <a:solidFill>
                  <a:srgbClr val="1D5FD6"/>
                </a:solidFill>
                <a:latin typeface="Calibri" pitchFamily="34" charset="0"/>
                <a:ea typeface="Calibri" pitchFamily="34" charset="-122"/>
                <a:cs typeface="Calibri" pitchFamily="34" charset="-120"/>
              </a:rPr>
              <a:t>all-MiniLM-L6-v2</a:t>
            </a:r>
            <a:endParaRPr lang="en-US" sz="1300" dirty="0"/>
          </a:p>
        </p:txBody>
      </p:sp>
      <p:sp>
        <p:nvSpPr>
          <p:cNvPr id="6" name="text-127"/>
          <p:cNvSpPr txBox="1"/>
          <p:nvPr/>
        </p:nvSpPr>
        <p:spPr>
          <a:xfrm>
            <a:off x="822960" y="2240280"/>
            <a:ext cx="2834640" cy="137160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Each object becomes one vector, computed once and cached. Cosine of two vectors = similarity. Fast: shortlists the 10 nearest concepts.</a:t>
            </a:r>
            <a:endParaRPr lang="en-US" sz="1300" dirty="0"/>
          </a:p>
        </p:txBody>
      </p:sp>
      <p:sp>
        <p:nvSpPr>
          <p:cNvPr id="7" name="arrow-128"/>
          <p:cNvSpPr/>
          <p:nvPr/>
        </p:nvSpPr>
        <p:spPr>
          <a:xfrm>
            <a:off x="3959352" y="2542032"/>
            <a:ext cx="365760" cy="0"/>
          </a:xfrm>
          <a:prstGeom prst="line">
            <a:avLst/>
          </a:prstGeom>
          <a:noFill/>
          <a:ln w="25400">
            <a:solidFill>
              <a:srgbClr val="0A1B3D"/>
            </a:solidFill>
            <a:prstDash val="solid"/>
            <a:tailEnd type="triangle"/>
          </a:ln>
        </p:spPr>
      </p:sp>
      <p:sp>
        <p:nvSpPr>
          <p:cNvPr id="8" name="card-129"/>
          <p:cNvSpPr/>
          <p:nvPr/>
        </p:nvSpPr>
        <p:spPr>
          <a:xfrm>
            <a:off x="4343400" y="1371600"/>
            <a:ext cx="3383280" cy="2331720"/>
          </a:xfrm>
          <a:prstGeom prst="roundRect">
            <a:avLst>
              <a:gd name="adj" fmla="val 4706"/>
            </a:avLst>
          </a:prstGeom>
          <a:solidFill>
            <a:srgbClr val="EFF4FE"/>
          </a:solidFill>
          <a:ln w="12700">
            <a:solidFill>
              <a:srgbClr val="EFF4FE"/>
            </a:solidFill>
            <a:prstDash val="solid"/>
          </a:ln>
        </p:spPr>
      </p:sp>
      <p:sp>
        <p:nvSpPr>
          <p:cNvPr id="9" name="text-130"/>
          <p:cNvSpPr txBox="1"/>
          <p:nvPr/>
        </p:nvSpPr>
        <p:spPr>
          <a:xfrm>
            <a:off x="4617720" y="1508760"/>
            <a:ext cx="283464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2 · Cross-encoder</a:t>
            </a:r>
            <a:endParaRPr lang="en-US" sz="1800" dirty="0"/>
          </a:p>
        </p:txBody>
      </p:sp>
      <p:sp>
        <p:nvSpPr>
          <p:cNvPr id="10" name="text-131"/>
          <p:cNvSpPr txBox="1"/>
          <p:nvPr/>
        </p:nvSpPr>
        <p:spPr>
          <a:xfrm>
            <a:off x="4617720" y="1874520"/>
            <a:ext cx="2834640" cy="320040"/>
          </a:xfrm>
          <a:prstGeom prst="rect">
            <a:avLst/>
          </a:prstGeom>
          <a:noFill/>
          <a:ln/>
        </p:spPr>
        <p:txBody>
          <a:bodyPr wrap="square" lIns="0" tIns="0" rIns="0" bIns="0" rtlCol="0" anchor="t"/>
          <a:lstStyle/>
          <a:p>
            <a:pPr indent="0" marL="0">
              <a:buNone/>
            </a:pPr>
            <a:r>
              <a:rPr lang="en-US" sz="1300" b="1" dirty="0">
                <a:solidFill>
                  <a:srgbClr val="1D5FD6"/>
                </a:solidFill>
                <a:latin typeface="Calibri" pitchFamily="34" charset="0"/>
                <a:ea typeface="Calibri" pitchFamily="34" charset="-122"/>
                <a:cs typeface="Calibri" pitchFamily="34" charset="-120"/>
              </a:rPr>
              <a:t>stsb-RoBERTa-base</a:t>
            </a:r>
            <a:endParaRPr lang="en-US" sz="1300" dirty="0"/>
          </a:p>
        </p:txBody>
      </p:sp>
      <p:sp>
        <p:nvSpPr>
          <p:cNvPr id="11" name="text-132"/>
          <p:cNvSpPr txBox="1"/>
          <p:nvPr/>
        </p:nvSpPr>
        <p:spPr>
          <a:xfrm>
            <a:off x="4617720" y="2240280"/>
            <a:ext cx="2834640" cy="137160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Reads both texts together, so words can attend to each other. Precise but slow, so it scores only the shortlist — every member, both ways.</a:t>
            </a:r>
            <a:endParaRPr lang="en-US" sz="1300" dirty="0"/>
          </a:p>
        </p:txBody>
      </p:sp>
      <p:sp>
        <p:nvSpPr>
          <p:cNvPr id="12" name="arrow-133"/>
          <p:cNvSpPr/>
          <p:nvPr/>
        </p:nvSpPr>
        <p:spPr>
          <a:xfrm>
            <a:off x="7754112" y="2542032"/>
            <a:ext cx="365760" cy="0"/>
          </a:xfrm>
          <a:prstGeom prst="line">
            <a:avLst/>
          </a:prstGeom>
          <a:noFill/>
          <a:ln w="25400">
            <a:solidFill>
              <a:srgbClr val="0A1B3D"/>
            </a:solidFill>
            <a:prstDash val="solid"/>
            <a:tailEnd type="triangle"/>
          </a:ln>
        </p:spPr>
      </p:sp>
      <p:sp>
        <p:nvSpPr>
          <p:cNvPr id="13" name="card-134"/>
          <p:cNvSpPr/>
          <p:nvPr/>
        </p:nvSpPr>
        <p:spPr>
          <a:xfrm>
            <a:off x="8138160" y="1371600"/>
            <a:ext cx="3383280" cy="2331720"/>
          </a:xfrm>
          <a:prstGeom prst="roundRect">
            <a:avLst>
              <a:gd name="adj" fmla="val 4706"/>
            </a:avLst>
          </a:prstGeom>
          <a:solidFill>
            <a:srgbClr val="EFF4FE"/>
          </a:solidFill>
          <a:ln w="12700">
            <a:solidFill>
              <a:srgbClr val="EFF4FE"/>
            </a:solidFill>
            <a:prstDash val="solid"/>
          </a:ln>
        </p:spPr>
      </p:sp>
      <p:sp>
        <p:nvSpPr>
          <p:cNvPr id="14" name="text-135"/>
          <p:cNvSpPr txBox="1"/>
          <p:nvPr/>
        </p:nvSpPr>
        <p:spPr>
          <a:xfrm>
            <a:off x="8412480" y="1508760"/>
            <a:ext cx="283464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3 · Decide</a:t>
            </a:r>
            <a:endParaRPr lang="en-US" sz="1800" dirty="0"/>
          </a:p>
        </p:txBody>
      </p:sp>
      <p:sp>
        <p:nvSpPr>
          <p:cNvPr id="15" name="text-136"/>
          <p:cNvSpPr txBox="1"/>
          <p:nvPr/>
        </p:nvSpPr>
        <p:spPr>
          <a:xfrm>
            <a:off x="8412480" y="1874520"/>
            <a:ext cx="2834640" cy="320040"/>
          </a:xfrm>
          <a:prstGeom prst="rect">
            <a:avLst/>
          </a:prstGeom>
          <a:noFill/>
          <a:ln/>
        </p:spPr>
        <p:txBody>
          <a:bodyPr wrap="square" lIns="0" tIns="0" rIns="0" bIns="0" rtlCol="0" anchor="t"/>
          <a:lstStyle/>
          <a:p>
            <a:pPr indent="0" marL="0">
              <a:buNone/>
            </a:pPr>
            <a:r>
              <a:rPr lang="en-US" sz="1300" b="1" dirty="0">
                <a:solidFill>
                  <a:srgbClr val="1D5FD6"/>
                </a:solidFill>
                <a:latin typeface="Calibri" pitchFamily="34" charset="0"/>
                <a:ea typeface="Calibri" pitchFamily="34" charset="-122"/>
                <a:cs typeface="Calibri" pitchFamily="34" charset="-120"/>
              </a:rPr>
              <a:t>minimum over members</a:t>
            </a:r>
            <a:endParaRPr lang="en-US" sz="1300" dirty="0"/>
          </a:p>
        </p:txBody>
      </p:sp>
      <p:sp>
        <p:nvSpPr>
          <p:cNvPr id="16" name="text-137"/>
          <p:cNvSpPr txBox="1"/>
          <p:nvPr/>
        </p:nvSpPr>
        <p:spPr>
          <a:xfrm>
            <a:off x="8412480" y="2240280"/>
            <a:ext cx="2834640" cy="137160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A concept's score is its weakest member's score, so one close member cannot pull in an object the rest disagree with.</a:t>
            </a:r>
            <a:endParaRPr lang="en-US" sz="1300" dirty="0"/>
          </a:p>
        </p:txBody>
      </p:sp>
      <p:sp>
        <p:nvSpPr>
          <p:cNvPr id="17" name="text-138"/>
          <p:cNvSpPr txBox="1"/>
          <p:nvPr/>
        </p:nvSpPr>
        <p:spPr>
          <a:xfrm>
            <a:off x="548640" y="3977640"/>
            <a:ext cx="548640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Routing the score</a:t>
            </a:r>
            <a:endParaRPr lang="en-US" sz="1800" dirty="0"/>
          </a:p>
        </p:txBody>
      </p:sp>
      <p:sp>
        <p:nvSpPr>
          <p:cNvPr id="18" name="zone-139"/>
          <p:cNvSpPr/>
          <p:nvPr/>
        </p:nvSpPr>
        <p:spPr>
          <a:xfrm>
            <a:off x="548640" y="4480560"/>
            <a:ext cx="3319272" cy="566928"/>
          </a:xfrm>
          <a:prstGeom prst="rect">
            <a:avLst/>
          </a:prstGeom>
          <a:solidFill>
            <a:srgbClr val="EEF1F5"/>
          </a:solidFill>
          <a:ln w="19050">
            <a:solidFill>
              <a:srgbClr val="FFFFFF"/>
            </a:solidFill>
            <a:prstDash val="solid"/>
          </a:ln>
        </p:spPr>
      </p:sp>
      <p:sp>
        <p:nvSpPr>
          <p:cNvPr id="19" name="text-140"/>
          <p:cNvSpPr txBox="1"/>
          <p:nvPr/>
        </p:nvSpPr>
        <p:spPr>
          <a:xfrm>
            <a:off x="685800" y="4480560"/>
            <a:ext cx="3044952" cy="566928"/>
          </a:xfrm>
          <a:prstGeom prst="rect">
            <a:avLst/>
          </a:prstGeom>
          <a:noFill/>
          <a:ln/>
        </p:spPr>
        <p:txBody>
          <a:bodyPr wrap="square" lIns="0" tIns="0" rIns="0" bIns="0" rtlCol="0" anchor="ctr"/>
          <a:lstStyle/>
          <a:p>
            <a:pPr indent="0" marL="0">
              <a:buNone/>
            </a:pPr>
            <a:r>
              <a:rPr lang="en-US" sz="1400" b="1" dirty="0">
                <a:solidFill>
                  <a:srgbClr val="5B6372"/>
                </a:solidFill>
                <a:latin typeface="Calibri" pitchFamily="34" charset="0"/>
                <a:ea typeface="Calibri" pitchFamily="34" charset="-122"/>
                <a:cs typeface="Calibri" pitchFamily="34" charset="-120"/>
              </a:rPr>
              <a:t>No link — stays its own concept</a:t>
            </a:r>
            <a:endParaRPr lang="en-US" sz="1400" dirty="0"/>
          </a:p>
        </p:txBody>
      </p:sp>
      <p:sp>
        <p:nvSpPr>
          <p:cNvPr id="20" name="zone-141"/>
          <p:cNvSpPr/>
          <p:nvPr/>
        </p:nvSpPr>
        <p:spPr>
          <a:xfrm>
            <a:off x="3867912" y="4480560"/>
            <a:ext cx="3319272" cy="566928"/>
          </a:xfrm>
          <a:prstGeom prst="rect">
            <a:avLst/>
          </a:prstGeom>
          <a:solidFill>
            <a:srgbClr val="FCEBDD"/>
          </a:solidFill>
          <a:ln w="19050">
            <a:solidFill>
              <a:srgbClr val="FFFFFF"/>
            </a:solidFill>
            <a:prstDash val="solid"/>
          </a:ln>
        </p:spPr>
      </p:sp>
      <p:sp>
        <p:nvSpPr>
          <p:cNvPr id="21" name="text-142"/>
          <p:cNvSpPr txBox="1"/>
          <p:nvPr/>
        </p:nvSpPr>
        <p:spPr>
          <a:xfrm>
            <a:off x="4005072" y="4480560"/>
            <a:ext cx="3044952" cy="566928"/>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Suggestion card — the teacher decides</a:t>
            </a:r>
            <a:endParaRPr lang="en-US" sz="1400" dirty="0"/>
          </a:p>
        </p:txBody>
      </p:sp>
      <p:sp>
        <p:nvSpPr>
          <p:cNvPr id="22" name="zone-143"/>
          <p:cNvSpPr/>
          <p:nvPr/>
        </p:nvSpPr>
        <p:spPr>
          <a:xfrm>
            <a:off x="7187184" y="4480560"/>
            <a:ext cx="4425696" cy="566928"/>
          </a:xfrm>
          <a:prstGeom prst="rect">
            <a:avLst/>
          </a:prstGeom>
          <a:solidFill>
            <a:srgbClr val="DDF1E7"/>
          </a:solidFill>
          <a:ln w="19050">
            <a:solidFill>
              <a:srgbClr val="FFFFFF"/>
            </a:solidFill>
            <a:prstDash val="solid"/>
          </a:ln>
        </p:spPr>
      </p:sp>
      <p:sp>
        <p:nvSpPr>
          <p:cNvPr id="23" name="text-144"/>
          <p:cNvSpPr txBox="1"/>
          <p:nvPr/>
        </p:nvSpPr>
        <p:spPr>
          <a:xfrm>
            <a:off x="7324344" y="4480560"/>
            <a:ext cx="4151376" cy="566928"/>
          </a:xfrm>
          <a:prstGeom prst="rect">
            <a:avLst/>
          </a:prstGeom>
          <a:noFill/>
          <a:ln/>
        </p:spPr>
        <p:txBody>
          <a:bodyPr wrap="square" lIns="0" tIns="0" rIns="0" bIns="0" rtlCol="0" anchor="ctr"/>
          <a:lstStyle/>
          <a:p>
            <a:pPr indent="0" marL="0">
              <a:buNone/>
            </a:pPr>
            <a:r>
              <a:rPr lang="en-US" sz="1400" b="1" dirty="0">
                <a:solidFill>
                  <a:srgbClr val="157A4F"/>
                </a:solidFill>
                <a:latin typeface="Calibri" pitchFamily="34" charset="0"/>
                <a:ea typeface="Calibri" pitchFamily="34" charset="-122"/>
                <a:cs typeface="Calibri" pitchFamily="34" charset="-120"/>
              </a:rPr>
              <a:t>Grouped automatically (needs a 0.05 lead)</a:t>
            </a:r>
            <a:endParaRPr lang="en-US" sz="1400" dirty="0"/>
          </a:p>
        </p:txBody>
      </p:sp>
      <p:sp>
        <p:nvSpPr>
          <p:cNvPr id="24" name="text-145"/>
          <p:cNvSpPr txBox="1"/>
          <p:nvPr/>
        </p:nvSpPr>
        <p:spPr>
          <a:xfrm>
            <a:off x="274320" y="5102352"/>
            <a:ext cx="548640" cy="274320"/>
          </a:xfrm>
          <a:prstGeom prst="rect">
            <a:avLst/>
          </a:prstGeom>
          <a:noFill/>
          <a:ln/>
        </p:spPr>
        <p:txBody>
          <a:bodyPr wrap="square" lIns="0" tIns="0" rIns="0" bIns="0" rtlCol="0" anchor="t"/>
          <a:lstStyle/>
          <a:p>
            <a:pPr algn="ctr" indent="0" marL="0">
              <a:buNone/>
            </a:pPr>
            <a:r>
              <a:rPr lang="en-US" sz="1200" dirty="0">
                <a:solidFill>
                  <a:srgbClr val="5B6372"/>
                </a:solidFill>
                <a:latin typeface="Calibri" pitchFamily="34" charset="0"/>
                <a:ea typeface="Calibri" pitchFamily="34" charset="-122"/>
                <a:cs typeface="Calibri" pitchFamily="34" charset="-120"/>
              </a:rPr>
              <a:t>0</a:t>
            </a:r>
            <a:endParaRPr lang="en-US" sz="1200" dirty="0"/>
          </a:p>
        </p:txBody>
      </p:sp>
      <p:sp>
        <p:nvSpPr>
          <p:cNvPr id="25" name="text-146"/>
          <p:cNvSpPr txBox="1"/>
          <p:nvPr/>
        </p:nvSpPr>
        <p:spPr>
          <a:xfrm>
            <a:off x="3593592" y="5102352"/>
            <a:ext cx="548640" cy="274320"/>
          </a:xfrm>
          <a:prstGeom prst="rect">
            <a:avLst/>
          </a:prstGeom>
          <a:noFill/>
          <a:ln/>
        </p:spPr>
        <p:txBody>
          <a:bodyPr wrap="square" lIns="0" tIns="0" rIns="0" bIns="0" rtlCol="0" anchor="t"/>
          <a:lstStyle/>
          <a:p>
            <a:pPr algn="ctr" indent="0" marL="0">
              <a:buNone/>
            </a:pPr>
            <a:r>
              <a:rPr lang="en-US" sz="1200" dirty="0">
                <a:solidFill>
                  <a:srgbClr val="5B6372"/>
                </a:solidFill>
                <a:latin typeface="Calibri" pitchFamily="34" charset="0"/>
                <a:ea typeface="Calibri" pitchFamily="34" charset="-122"/>
                <a:cs typeface="Calibri" pitchFamily="34" charset="-120"/>
              </a:rPr>
              <a:t>0.30</a:t>
            </a:r>
            <a:endParaRPr lang="en-US" sz="1200" dirty="0"/>
          </a:p>
        </p:txBody>
      </p:sp>
      <p:sp>
        <p:nvSpPr>
          <p:cNvPr id="26" name="text-147"/>
          <p:cNvSpPr txBox="1"/>
          <p:nvPr/>
        </p:nvSpPr>
        <p:spPr>
          <a:xfrm>
            <a:off x="6912864" y="5102352"/>
            <a:ext cx="548640" cy="274320"/>
          </a:xfrm>
          <a:prstGeom prst="rect">
            <a:avLst/>
          </a:prstGeom>
          <a:noFill/>
          <a:ln/>
        </p:spPr>
        <p:txBody>
          <a:bodyPr wrap="square" lIns="0" tIns="0" rIns="0" bIns="0" rtlCol="0" anchor="t"/>
          <a:lstStyle/>
          <a:p>
            <a:pPr algn="ctr" indent="0" marL="0">
              <a:buNone/>
            </a:pPr>
            <a:r>
              <a:rPr lang="en-US" sz="1200" dirty="0">
                <a:solidFill>
                  <a:srgbClr val="5B6372"/>
                </a:solidFill>
                <a:latin typeface="Calibri" pitchFamily="34" charset="0"/>
                <a:ea typeface="Calibri" pitchFamily="34" charset="-122"/>
                <a:cs typeface="Calibri" pitchFamily="34" charset="-120"/>
              </a:rPr>
              <a:t>0.60</a:t>
            </a:r>
            <a:endParaRPr lang="en-US" sz="1200" dirty="0"/>
          </a:p>
        </p:txBody>
      </p:sp>
      <p:sp>
        <p:nvSpPr>
          <p:cNvPr id="27" name="text-148"/>
          <p:cNvSpPr txBox="1"/>
          <p:nvPr/>
        </p:nvSpPr>
        <p:spPr>
          <a:xfrm>
            <a:off x="11338560" y="5102352"/>
            <a:ext cx="548640" cy="274320"/>
          </a:xfrm>
          <a:prstGeom prst="rect">
            <a:avLst/>
          </a:prstGeom>
          <a:noFill/>
          <a:ln/>
        </p:spPr>
        <p:txBody>
          <a:bodyPr wrap="square" lIns="0" tIns="0" rIns="0" bIns="0" rtlCol="0" anchor="t"/>
          <a:lstStyle/>
          <a:p>
            <a:pPr algn="ctr" indent="0" marL="0">
              <a:buNone/>
            </a:pPr>
            <a:r>
              <a:rPr lang="en-US" sz="1200" dirty="0">
                <a:solidFill>
                  <a:srgbClr val="5B6372"/>
                </a:solidFill>
                <a:latin typeface="Calibri" pitchFamily="34" charset="0"/>
                <a:ea typeface="Calibri" pitchFamily="34" charset="-122"/>
                <a:cs typeface="Calibri" pitchFamily="34" charset="-120"/>
              </a:rPr>
              <a:t>1.0</a:t>
            </a:r>
            <a:endParaRPr lang="en-US" sz="1200" dirty="0"/>
          </a:p>
        </p:txBody>
      </p:sp>
      <p:sp>
        <p:nvSpPr>
          <p:cNvPr id="28" name="text-149"/>
          <p:cNvSpPr txBox="1"/>
          <p:nvPr/>
        </p:nvSpPr>
        <p:spPr>
          <a:xfrm>
            <a:off x="548640" y="5577840"/>
            <a:ext cx="11064240" cy="502920"/>
          </a:xfrm>
          <a:prstGeom prst="rect">
            <a:avLst/>
          </a:prstGeom>
          <a:noFill/>
          <a:ln/>
        </p:spPr>
        <p:txBody>
          <a:bodyPr wrap="square" lIns="0" tIns="0" rIns="0" bIns="0" rtlCol="0" anchor="t"/>
          <a:lstStyle/>
          <a:p>
            <a:pPr indent="0" marL="0">
              <a:buNone/>
            </a:pPr>
            <a:r>
              <a:rPr lang="en-US" sz="1300" i="1" dirty="0">
                <a:solidFill>
                  <a:srgbClr val="1A47A8"/>
                </a:solidFill>
                <a:latin typeface="Calibri" pitchFamily="34" charset="0"/>
                <a:ea typeface="Calibri" pitchFamily="34" charset="-122"/>
                <a:cs typeface="Calibri" pitchFamily="34" charset="-120"/>
              </a:rPr>
              <a:t>Images group automatically only when their labels also agree: AI-written figure descriptions share stock phrasing and scored 0.6+ regardless of subject.</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Content versions: each concept gets three tellings</a:t>
            </a:r>
            <a:endParaRPr lang="en-US" sz="3000" dirty="0"/>
          </a:p>
        </p:txBody>
      </p:sp>
      <p:sp>
        <p:nvSpPr>
          <p:cNvPr id="3" name="text-150"/>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One PDF is the Standard; the others are judged Simplified or Elaborated, and anything missing is written and checked.</a:t>
            </a:r>
            <a:endParaRPr lang="en-US" sz="1600" dirty="0"/>
          </a:p>
        </p:txBody>
      </p:sp>
      <p:sp>
        <p:nvSpPr>
          <p:cNvPr id="4" name="card-151"/>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152"/>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153"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154"/>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155"/>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156"/>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157"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158"/>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159"/>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160"/>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161"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162"/>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163"/>
          <p:cNvSpPr/>
          <p:nvPr/>
        </p:nvSpPr>
        <p:spPr>
          <a:xfrm>
            <a:off x="3136392" y="3657600"/>
            <a:ext cx="310896" cy="0"/>
          </a:xfrm>
          <a:prstGeom prst="line">
            <a:avLst/>
          </a:prstGeom>
          <a:noFill/>
          <a:ln w="25400">
            <a:solidFill>
              <a:srgbClr val="0A1B3D"/>
            </a:solidFill>
            <a:prstDash val="solid"/>
            <a:tailEnd type="triangle"/>
          </a:ln>
        </p:spPr>
      </p:sp>
      <p:sp>
        <p:nvSpPr>
          <p:cNvPr id="17" name="arrow-164"/>
          <p:cNvSpPr/>
          <p:nvPr/>
        </p:nvSpPr>
        <p:spPr>
          <a:xfrm>
            <a:off x="8759952" y="3657600"/>
            <a:ext cx="310896" cy="0"/>
          </a:xfrm>
          <a:prstGeom prst="line">
            <a:avLst/>
          </a:prstGeom>
          <a:noFill/>
          <a:ln w="25400">
            <a:solidFill>
              <a:srgbClr val="0A1B3D"/>
            </a:solidFill>
            <a:prstDash val="solid"/>
            <a:tailEnd type="triangle"/>
          </a:ln>
        </p:spPr>
      </p:sp>
      <p:sp>
        <p:nvSpPr>
          <p:cNvPr id="18" name="text-165"/>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 concept's bundles, one per PDF</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first relevant PDF fixed as Standard</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Teacher role choices</a:t>
            </a:r>
            <a:endParaRPr lang="en-US" sz="1300" dirty="0"/>
          </a:p>
        </p:txBody>
      </p:sp>
      <p:sp>
        <p:nvSpPr>
          <p:cNvPr id="19" name="text-166"/>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Standard, Simplified and Elaborated per concept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Roles with their evidence and source</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Flags for the teacher to review</a:t>
            </a:r>
            <a:endParaRPr lang="en-US" sz="1300" dirty="0"/>
          </a:p>
        </p:txBody>
      </p:sp>
      <p:sp>
        <p:nvSpPr>
          <p:cNvPr id="20" name="num-167"/>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168"/>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169"/>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LLM proposes a role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Each other bundle is compared with the Standard: SIMPLIFIED, ELABORATED or NEEDS_REVIEW, with quoted evidence.</a:t>
            </a:r>
            <a:endParaRPr lang="en-US" sz="1400" dirty="0"/>
          </a:p>
        </p:txBody>
      </p:sp>
      <p:sp>
        <p:nvSpPr>
          <p:cNvPr id="23" name="num-170"/>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171"/>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172"/>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Measurements verify it</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MiniLM sentence matching checks facts kept and new content; Dale-Chall checks it is easier. Disagreement → teacher.</a:t>
            </a:r>
            <a:endParaRPr lang="en-US" sz="1400" dirty="0"/>
          </a:p>
        </p:txBody>
      </p:sp>
      <p:sp>
        <p:nvSpPr>
          <p:cNvPr id="26" name="num-173"/>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174"/>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175"/>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Write what is missing</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The LLM writes a missing Simplified or Elaborated version as JSON from the Standard text.</a:t>
            </a:r>
            <a:endParaRPr lang="en-US" sz="1400" dirty="0"/>
          </a:p>
        </p:txBody>
      </p:sp>
      <p:sp>
        <p:nvSpPr>
          <p:cNvPr id="29" name="num-176"/>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177"/>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178"/>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Check, retry, or fall back</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The same measurements judge the draft; up to 3 attempts with the reasons fed back, else the Standard text stands in.</a:t>
            </a:r>
            <a:endParaRPr lang="en-US" sz="1400" dirty="0"/>
          </a:p>
        </p:txBody>
      </p:sp>
      <p:sp>
        <p:nvSpPr>
          <p:cNvPr id="32" name="text-179"/>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180"/>
          <p:cNvSpPr/>
          <p:nvPr/>
        </p:nvSpPr>
        <p:spPr>
          <a:xfrm>
            <a:off x="1645920" y="5815584"/>
            <a:ext cx="2249424" cy="329184"/>
          </a:xfrm>
          <a:prstGeom prst="roundRect">
            <a:avLst>
              <a:gd name="adj" fmla="val 50000"/>
            </a:avLst>
          </a:prstGeom>
          <a:solidFill>
            <a:srgbClr val="0A1B3D"/>
          </a:solidFill>
          <a:ln w="12700">
            <a:solidFill>
              <a:srgbClr val="0A1B3D"/>
            </a:solidFill>
            <a:prstDash val="solid"/>
          </a:ln>
        </p:spPr>
      </p:sp>
      <p:sp>
        <p:nvSpPr>
          <p:cNvPr id="34" name="text-181"/>
          <p:cNvSpPr txBox="1"/>
          <p:nvPr/>
        </p:nvSpPr>
        <p:spPr>
          <a:xfrm>
            <a:off x="1645920" y="5815584"/>
            <a:ext cx="22494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LLM classifier (gpt-oss-20b)</a:t>
            </a:r>
            <a:endParaRPr lang="en-US" sz="1100" dirty="0"/>
          </a:p>
        </p:txBody>
      </p:sp>
      <p:sp>
        <p:nvSpPr>
          <p:cNvPr id="35" name="pill-182"/>
          <p:cNvSpPr/>
          <p:nvPr/>
        </p:nvSpPr>
        <p:spPr>
          <a:xfrm>
            <a:off x="4005072" y="5815584"/>
            <a:ext cx="2180844" cy="329184"/>
          </a:xfrm>
          <a:prstGeom prst="roundRect">
            <a:avLst>
              <a:gd name="adj" fmla="val 50000"/>
            </a:avLst>
          </a:prstGeom>
          <a:solidFill>
            <a:srgbClr val="0A1B3D"/>
          </a:solidFill>
          <a:ln w="12700">
            <a:solidFill>
              <a:srgbClr val="0A1B3D"/>
            </a:solidFill>
            <a:prstDash val="solid"/>
          </a:ln>
        </p:spPr>
      </p:sp>
      <p:sp>
        <p:nvSpPr>
          <p:cNvPr id="36" name="text-183"/>
          <p:cNvSpPr txBox="1"/>
          <p:nvPr/>
        </p:nvSpPr>
        <p:spPr>
          <a:xfrm>
            <a:off x="4005072" y="5815584"/>
            <a:ext cx="21808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Sentence coverage / novelty</a:t>
            </a:r>
            <a:endParaRPr lang="en-US" sz="1100" dirty="0"/>
          </a:p>
        </p:txBody>
      </p:sp>
      <p:sp>
        <p:nvSpPr>
          <p:cNvPr id="37" name="pill-184"/>
          <p:cNvSpPr/>
          <p:nvPr/>
        </p:nvSpPr>
        <p:spPr>
          <a:xfrm>
            <a:off x="6295644" y="5815584"/>
            <a:ext cx="1014984" cy="329184"/>
          </a:xfrm>
          <a:prstGeom prst="roundRect">
            <a:avLst>
              <a:gd name="adj" fmla="val 50000"/>
            </a:avLst>
          </a:prstGeom>
          <a:solidFill>
            <a:srgbClr val="0A1B3D"/>
          </a:solidFill>
          <a:ln w="12700">
            <a:solidFill>
              <a:srgbClr val="0A1B3D"/>
            </a:solidFill>
            <a:prstDash val="solid"/>
          </a:ln>
        </p:spPr>
      </p:sp>
      <p:sp>
        <p:nvSpPr>
          <p:cNvPr id="38" name="text-185"/>
          <p:cNvSpPr txBox="1"/>
          <p:nvPr/>
        </p:nvSpPr>
        <p:spPr>
          <a:xfrm>
            <a:off x="6295644" y="5815584"/>
            <a:ext cx="10149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Dale-Chall</a:t>
            </a:r>
            <a:endParaRPr lang="en-US" sz="1100" dirty="0"/>
          </a:p>
        </p:txBody>
      </p:sp>
      <p:sp>
        <p:nvSpPr>
          <p:cNvPr id="39" name="pill-186"/>
          <p:cNvSpPr/>
          <p:nvPr/>
        </p:nvSpPr>
        <p:spPr>
          <a:xfrm>
            <a:off x="7420356" y="5815584"/>
            <a:ext cx="1289304" cy="329184"/>
          </a:xfrm>
          <a:prstGeom prst="roundRect">
            <a:avLst>
              <a:gd name="adj" fmla="val 50000"/>
            </a:avLst>
          </a:prstGeom>
          <a:solidFill>
            <a:srgbClr val="0A1B3D"/>
          </a:solidFill>
          <a:ln w="12700">
            <a:solidFill>
              <a:srgbClr val="0A1B3D"/>
            </a:solidFill>
            <a:prstDash val="solid"/>
          </a:ln>
        </p:spPr>
      </p:sp>
      <p:sp>
        <p:nvSpPr>
          <p:cNvPr id="40" name="text-187"/>
          <p:cNvSpPr txBox="1"/>
          <p:nvPr/>
        </p:nvSpPr>
        <p:spPr>
          <a:xfrm>
            <a:off x="7420356" y="5815584"/>
            <a:ext cx="12893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Feedback retry</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LLM proposes; measurements decide</a:t>
            </a:r>
            <a:endParaRPr lang="en-US" sz="3000" dirty="0"/>
          </a:p>
        </p:txBody>
      </p:sp>
      <p:graphicFrame>
        <p:nvGraphicFramePr>
          <p:cNvPr id="10" name="table-188"/>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1737360"/>
                <a:gridCol w="1371600"/>
                <a:gridCol w="1371600"/>
                <a:gridCol w="137160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Role proposed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Facts kept</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Adds content</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Easier to read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457200">
                <a:tc>
                  <a:txBody>
                    <a:bodyPr/>
                    <a:lstStyle/>
                    <a:p>
                      <a:pPr algn="l" indent="0" marL="0">
                        <a:buNone/>
                      </a:pPr>
                      <a:r>
                        <a:rPr lang="en-US" sz="1400" b="1" dirty="0">
                          <a:solidFill>
                            <a:srgbClr val="0A1B3D"/>
                          </a:solidFill>
                          <a:latin typeface="Calibri" pitchFamily="34" charset="0"/>
                          <a:ea typeface="Calibri" pitchFamily="34" charset="-122"/>
                          <a:cs typeface="Calibri" pitchFamily="34" charset="-120"/>
                        </a:rPr>
                        <a:t>SIMPLIFIED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required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must not</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required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A1B3D"/>
                          </a:solidFill>
                          <a:latin typeface="Calibri" pitchFamily="34" charset="0"/>
                          <a:ea typeface="Calibri" pitchFamily="34" charset="-122"/>
                          <a:cs typeface="Calibri" pitchFamily="34" charset="-120"/>
                        </a:rPr>
                        <a:t>ELABORATED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required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required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not checked</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bl>
          </a:graphicData>
        </a:graphic>
      </p:graphicFrame>
      <p:sp>
        <p:nvSpPr>
          <p:cNvPr id="4" name="num-189"/>
          <p:cNvSpPr/>
          <p:nvPr/>
        </p:nvSpPr>
        <p:spPr>
          <a:xfrm>
            <a:off x="548640" y="2999232"/>
            <a:ext cx="329184" cy="329184"/>
          </a:xfrm>
          <a:prstGeom prst="ellipse">
            <a:avLst/>
          </a:prstGeom>
          <a:solidFill>
            <a:srgbClr val="1D5FD6"/>
          </a:solidFill>
          <a:ln w="12700">
            <a:solidFill>
              <a:srgbClr val="1D5FD6"/>
            </a:solidFill>
            <a:prstDash val="solid"/>
          </a:ln>
        </p:spPr>
      </p:sp>
      <p:sp>
        <p:nvSpPr>
          <p:cNvPr id="5" name="text-190"/>
          <p:cNvSpPr txBox="1"/>
          <p:nvPr/>
        </p:nvSpPr>
        <p:spPr>
          <a:xfrm>
            <a:off x="548640" y="29992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191"/>
          <p:cNvSpPr txBox="1"/>
          <p:nvPr/>
        </p:nvSpPr>
        <p:spPr>
          <a:xfrm>
            <a:off x="1051560" y="2971800"/>
            <a:ext cx="5349240" cy="82296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Facts kept</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Every Standard sentence has a candidate sentence with MiniLM cosine ≥ 0.55 — checked per sentence, so a good average cannot hide one dropped fact.</a:t>
            </a:r>
            <a:endParaRPr lang="en-US" sz="1500" dirty="0"/>
          </a:p>
        </p:txBody>
      </p:sp>
      <p:sp>
        <p:nvSpPr>
          <p:cNvPr id="7" name="num-192"/>
          <p:cNvSpPr/>
          <p:nvPr/>
        </p:nvSpPr>
        <p:spPr>
          <a:xfrm>
            <a:off x="548640" y="3867912"/>
            <a:ext cx="329184" cy="329184"/>
          </a:xfrm>
          <a:prstGeom prst="ellipse">
            <a:avLst/>
          </a:prstGeom>
          <a:solidFill>
            <a:srgbClr val="1D5FD6"/>
          </a:solidFill>
          <a:ln w="12700">
            <a:solidFill>
              <a:srgbClr val="1D5FD6"/>
            </a:solidFill>
            <a:prstDash val="solid"/>
          </a:ln>
        </p:spPr>
      </p:sp>
      <p:sp>
        <p:nvSpPr>
          <p:cNvPr id="8" name="text-193"/>
          <p:cNvSpPr txBox="1"/>
          <p:nvPr/>
        </p:nvSpPr>
        <p:spPr>
          <a:xfrm>
            <a:off x="548640" y="3867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194"/>
          <p:cNvSpPr txBox="1"/>
          <p:nvPr/>
        </p:nvSpPr>
        <p:spPr>
          <a:xfrm>
            <a:off x="1051560" y="3840480"/>
            <a:ext cx="5349240" cy="82296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Adds content</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At least one candidate sentence has cosine &lt; 0.60 to every Standard sentence.</a:t>
            </a:r>
            <a:endParaRPr lang="en-US" sz="1500" dirty="0"/>
          </a:p>
        </p:txBody>
      </p:sp>
      <p:sp>
        <p:nvSpPr>
          <p:cNvPr id="10" name="num-195"/>
          <p:cNvSpPr/>
          <p:nvPr/>
        </p:nvSpPr>
        <p:spPr>
          <a:xfrm>
            <a:off x="548640" y="4736592"/>
            <a:ext cx="329184" cy="329184"/>
          </a:xfrm>
          <a:prstGeom prst="ellipse">
            <a:avLst/>
          </a:prstGeom>
          <a:solidFill>
            <a:srgbClr val="1D5FD6"/>
          </a:solidFill>
          <a:ln w="12700">
            <a:solidFill>
              <a:srgbClr val="1D5FD6"/>
            </a:solidFill>
            <a:prstDash val="solid"/>
          </a:ln>
        </p:spPr>
      </p:sp>
      <p:sp>
        <p:nvSpPr>
          <p:cNvPr id="11" name="text-196"/>
          <p:cNvSpPr txBox="1"/>
          <p:nvPr/>
        </p:nvSpPr>
        <p:spPr>
          <a:xfrm>
            <a:off x="548640" y="47365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197"/>
          <p:cNvSpPr txBox="1"/>
          <p:nvPr/>
        </p:nvSpPr>
        <p:spPr>
          <a:xfrm>
            <a:off x="1051560" y="4709160"/>
            <a:ext cx="5349240" cy="822960"/>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Easier</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The Dale-Chall score goes down.</a:t>
            </a:r>
            <a:endParaRPr lang="en-US" sz="1500" dirty="0"/>
          </a:p>
        </p:txBody>
      </p:sp>
      <p:sp>
        <p:nvSpPr>
          <p:cNvPr id="13" name="card-198"/>
          <p:cNvSpPr/>
          <p:nvPr/>
        </p:nvSpPr>
        <p:spPr>
          <a:xfrm>
            <a:off x="6766560" y="1371600"/>
            <a:ext cx="4846320" cy="4434840"/>
          </a:xfrm>
          <a:prstGeom prst="roundRect">
            <a:avLst>
              <a:gd name="adj" fmla="val 2474"/>
            </a:avLst>
          </a:prstGeom>
          <a:solidFill>
            <a:srgbClr val="EFF4FE"/>
          </a:solidFill>
          <a:ln w="12700">
            <a:solidFill>
              <a:srgbClr val="EFF4FE"/>
            </a:solidFill>
            <a:prstDash val="solid"/>
          </a:ln>
        </p:spPr>
      </p:sp>
      <p:sp>
        <p:nvSpPr>
          <p:cNvPr id="14" name="text-199"/>
          <p:cNvSpPr txBox="1"/>
          <p:nvPr/>
        </p:nvSpPr>
        <p:spPr>
          <a:xfrm>
            <a:off x="7040880" y="1536192"/>
            <a:ext cx="429768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Dale-Chall readability</a:t>
            </a:r>
            <a:endParaRPr lang="en-US" sz="1800" dirty="0"/>
          </a:p>
        </p:txBody>
      </p:sp>
      <p:sp>
        <p:nvSpPr>
          <p:cNvPr id="15" name="card-200"/>
          <p:cNvSpPr/>
          <p:nvPr/>
        </p:nvSpPr>
        <p:spPr>
          <a:xfrm>
            <a:off x="7040880" y="2011680"/>
            <a:ext cx="4297680" cy="1188720"/>
          </a:xfrm>
          <a:prstGeom prst="roundRect">
            <a:avLst>
              <a:gd name="adj" fmla="val 9231"/>
            </a:avLst>
          </a:prstGeom>
          <a:solidFill>
            <a:srgbClr val="0A1B3D"/>
          </a:solidFill>
          <a:ln w="12700">
            <a:solidFill>
              <a:srgbClr val="0A1B3D"/>
            </a:solidFill>
            <a:prstDash val="solid"/>
          </a:ln>
        </p:spPr>
      </p:sp>
      <p:sp>
        <p:nvSpPr>
          <p:cNvPr id="16" name="text-201"/>
          <p:cNvSpPr txBox="1"/>
          <p:nvPr/>
        </p:nvSpPr>
        <p:spPr>
          <a:xfrm>
            <a:off x="7242048" y="2103120"/>
            <a:ext cx="3895344" cy="100584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score = 0.1579 × % difficult words</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+ 0.0496 × words per sentence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(+ 3.6365 if difficult &gt; 5%)</a:t>
            </a:r>
            <a:endParaRPr lang="en-US" sz="1300" dirty="0"/>
          </a:p>
        </p:txBody>
      </p:sp>
      <p:sp>
        <p:nvSpPr>
          <p:cNvPr id="17" name="text-202"/>
          <p:cNvSpPr txBox="1"/>
          <p:nvPr/>
        </p:nvSpPr>
        <p:spPr>
          <a:xfrm>
            <a:off x="7040880" y="3383280"/>
            <a:ext cx="4297680" cy="86868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A word is difficult when neither it nor its base form is on the Dale list of familiar words, so “solids” counts like “solid”.</a:t>
            </a:r>
            <a:endParaRPr lang="en-US" sz="1300" dirty="0"/>
          </a:p>
        </p:txBody>
      </p:sp>
      <p:sp>
        <p:nvSpPr>
          <p:cNvPr id="18" name="text-203"/>
          <p:cNvSpPr txBox="1"/>
          <p:nvPr/>
        </p:nvSpPr>
        <p:spPr>
          <a:xfrm>
            <a:off x="7040880" y="4297680"/>
            <a:ext cx="4297680" cy="1097280"/>
          </a:xfrm>
          <a:prstGeom prst="rect">
            <a:avLst/>
          </a:prstGeom>
          <a:noFill/>
          <a:ln/>
        </p:spPr>
        <p:txBody>
          <a:bodyPr wrap="square" lIns="0" tIns="0" rIns="0" bIns="0" rtlCol="0" anchor="t"/>
          <a:lstStyle/>
          <a:p>
            <a:pPr indent="0" marL="0">
              <a:buNone/>
            </a:pPr>
            <a:r>
              <a:rPr lang="en-US" sz="1300" i="1" dirty="0">
                <a:solidFill>
                  <a:srgbClr val="1A47A8"/>
                </a:solidFill>
                <a:latin typeface="Calibri" pitchFamily="34" charset="0"/>
                <a:ea typeface="Calibri" pitchFamily="34" charset="-122"/>
                <a:cs typeface="Calibri" pitchFamily="34" charset="-120"/>
              </a:rPr>
              <a:t>Why not Flesch-Kincaid: it counts only word and sentence length, so “intermolecular forces lock particles into a lattice” scored as easy.</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Questions: a grounded, classified bank per concept</a:t>
            </a:r>
            <a:endParaRPr lang="en-US" sz="3000" dirty="0"/>
          </a:p>
        </p:txBody>
      </p:sp>
      <p:sp>
        <p:nvSpPr>
          <p:cNvPr id="3" name="text-204"/>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The concept's text becomes multiple-choice and True/False questions that the source supports, labelled by the thinking they demand.</a:t>
            </a:r>
            <a:endParaRPr lang="en-US" sz="1600" dirty="0"/>
          </a:p>
        </p:txBody>
      </p:sp>
      <p:sp>
        <p:nvSpPr>
          <p:cNvPr id="4" name="card-205"/>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206"/>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207"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208"/>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209"/>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210"/>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211"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212"/>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213"/>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214"/>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215"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216"/>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217"/>
          <p:cNvSpPr/>
          <p:nvPr/>
        </p:nvSpPr>
        <p:spPr>
          <a:xfrm>
            <a:off x="3136392" y="3657600"/>
            <a:ext cx="310896" cy="0"/>
          </a:xfrm>
          <a:prstGeom prst="line">
            <a:avLst/>
          </a:prstGeom>
          <a:noFill/>
          <a:ln w="25400">
            <a:solidFill>
              <a:srgbClr val="0A1B3D"/>
            </a:solidFill>
            <a:prstDash val="solid"/>
            <a:tailEnd type="triangle"/>
          </a:ln>
        </p:spPr>
      </p:sp>
      <p:sp>
        <p:nvSpPr>
          <p:cNvPr id="17" name="arrow-218"/>
          <p:cNvSpPr/>
          <p:nvPr/>
        </p:nvSpPr>
        <p:spPr>
          <a:xfrm>
            <a:off x="8759952" y="3657600"/>
            <a:ext cx="310896" cy="0"/>
          </a:xfrm>
          <a:prstGeom prst="line">
            <a:avLst/>
          </a:prstGeom>
          <a:noFill/>
          <a:ln w="25400">
            <a:solidFill>
              <a:srgbClr val="0A1B3D"/>
            </a:solidFill>
            <a:prstDash val="solid"/>
            <a:tailEnd type="triangle"/>
          </a:ln>
        </p:spPr>
      </p:sp>
      <p:sp>
        <p:nvSpPr>
          <p:cNvPr id="18" name="text-219"/>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Every telling of the concept (all its PDF bundles)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topic's raw PDF text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Printed questions in the PDFs</a:t>
            </a:r>
            <a:endParaRPr lang="en-US" sz="1300" dirty="0"/>
          </a:p>
        </p:txBody>
      </p:sp>
      <p:sp>
        <p:nvSpPr>
          <p:cNvPr id="19" name="text-220"/>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Final question bank per concept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Bloom level, category and LOTS/HOTS label per item</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Printed questions paired to concepts</a:t>
            </a:r>
            <a:endParaRPr lang="en-US" sz="1300" dirty="0"/>
          </a:p>
        </p:txBody>
      </p:sp>
      <p:sp>
        <p:nvSpPr>
          <p:cNvPr id="20" name="num-221"/>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222"/>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223"/>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Draft per thinking order</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The LLM drafts 5 lower-order and 5 higher-order questions, MCQ to True/False 2 : 1; malformed answers rejected.</a:t>
            </a:r>
            <a:endParaRPr lang="en-US" sz="1400" dirty="0"/>
          </a:p>
        </p:txBody>
      </p:sp>
      <p:sp>
        <p:nvSpPr>
          <p:cNvPr id="23" name="num-224"/>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225"/>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226"/>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Ground-check (corrective RAG)</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Retrieve the top 3 passages for each draft; an LLM judge rules whether the source supports its key.</a:t>
            </a:r>
            <a:endParaRPr lang="en-US" sz="1400" dirty="0"/>
          </a:p>
        </p:txBody>
      </p:sp>
      <p:sp>
        <p:nvSpPr>
          <p:cNvPr id="26" name="num-227"/>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228"/>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229"/>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Classify by Bloom's level</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fine-tuned RoBERTa (SVM fallback) labels each question; the label, not the request, is authoritative.</a:t>
            </a:r>
            <a:endParaRPr lang="en-US" sz="1400" dirty="0"/>
          </a:p>
        </p:txBody>
      </p:sp>
      <p:sp>
        <p:nvSpPr>
          <p:cNvPr id="29" name="num-230"/>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231"/>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232"/>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Deduplicate, trim, top up</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Duplicates dropped, banks trimmed to quota; up to 3 rounds until 4 LOTS + 2 HOTS.</a:t>
            </a:r>
            <a:endParaRPr lang="en-US" sz="1400" dirty="0"/>
          </a:p>
        </p:txBody>
      </p:sp>
      <p:sp>
        <p:nvSpPr>
          <p:cNvPr id="32" name="text-233"/>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234"/>
          <p:cNvSpPr/>
          <p:nvPr/>
        </p:nvSpPr>
        <p:spPr>
          <a:xfrm>
            <a:off x="1645920" y="5815584"/>
            <a:ext cx="1152144" cy="329184"/>
          </a:xfrm>
          <a:prstGeom prst="roundRect">
            <a:avLst>
              <a:gd name="adj" fmla="val 50000"/>
            </a:avLst>
          </a:prstGeom>
          <a:solidFill>
            <a:srgbClr val="0A1B3D"/>
          </a:solidFill>
          <a:ln w="12700">
            <a:solidFill>
              <a:srgbClr val="0A1B3D"/>
            </a:solidFill>
            <a:prstDash val="solid"/>
          </a:ln>
        </p:spPr>
      </p:sp>
      <p:sp>
        <p:nvSpPr>
          <p:cNvPr id="34" name="text-235"/>
          <p:cNvSpPr txBox="1"/>
          <p:nvPr/>
        </p:nvSpPr>
        <p:spPr>
          <a:xfrm>
            <a:off x="1645920" y="5815584"/>
            <a:ext cx="11521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LLM drafting</a:t>
            </a:r>
            <a:endParaRPr lang="en-US" sz="1100" dirty="0"/>
          </a:p>
        </p:txBody>
      </p:sp>
      <p:sp>
        <p:nvSpPr>
          <p:cNvPr id="35" name="pill-236"/>
          <p:cNvSpPr/>
          <p:nvPr/>
        </p:nvSpPr>
        <p:spPr>
          <a:xfrm>
            <a:off x="2907792" y="5815584"/>
            <a:ext cx="1975104" cy="329184"/>
          </a:xfrm>
          <a:prstGeom prst="roundRect">
            <a:avLst>
              <a:gd name="adj" fmla="val 50000"/>
            </a:avLst>
          </a:prstGeom>
          <a:solidFill>
            <a:srgbClr val="0A1B3D"/>
          </a:solidFill>
          <a:ln w="12700">
            <a:solidFill>
              <a:srgbClr val="0A1B3D"/>
            </a:solidFill>
            <a:prstDash val="solid"/>
          </a:ln>
        </p:spPr>
      </p:sp>
      <p:sp>
        <p:nvSpPr>
          <p:cNvPr id="36" name="text-237"/>
          <p:cNvSpPr txBox="1"/>
          <p:nvPr/>
        </p:nvSpPr>
        <p:spPr>
          <a:xfrm>
            <a:off x="2907792" y="5815584"/>
            <a:ext cx="19751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MiniLM retrieval (top-3)</a:t>
            </a:r>
            <a:endParaRPr lang="en-US" sz="1100" dirty="0"/>
          </a:p>
        </p:txBody>
      </p:sp>
      <p:sp>
        <p:nvSpPr>
          <p:cNvPr id="37" name="pill-238"/>
          <p:cNvSpPr/>
          <p:nvPr/>
        </p:nvSpPr>
        <p:spPr>
          <a:xfrm>
            <a:off x="4992624" y="5815584"/>
            <a:ext cx="1152144" cy="329184"/>
          </a:xfrm>
          <a:prstGeom prst="roundRect">
            <a:avLst>
              <a:gd name="adj" fmla="val 50000"/>
            </a:avLst>
          </a:prstGeom>
          <a:solidFill>
            <a:srgbClr val="0A1B3D"/>
          </a:solidFill>
          <a:ln w="12700">
            <a:solidFill>
              <a:srgbClr val="0A1B3D"/>
            </a:solidFill>
            <a:prstDash val="solid"/>
          </a:ln>
        </p:spPr>
      </p:sp>
      <p:sp>
        <p:nvSpPr>
          <p:cNvPr id="38" name="text-239"/>
          <p:cNvSpPr txBox="1"/>
          <p:nvPr/>
        </p:nvSpPr>
        <p:spPr>
          <a:xfrm>
            <a:off x="4992624" y="5815584"/>
            <a:ext cx="11521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LLM-as-judge</a:t>
            </a:r>
            <a:endParaRPr lang="en-US" sz="1100" dirty="0"/>
          </a:p>
        </p:txBody>
      </p:sp>
      <p:sp>
        <p:nvSpPr>
          <p:cNvPr id="39" name="pill-240"/>
          <p:cNvSpPr/>
          <p:nvPr/>
        </p:nvSpPr>
        <p:spPr>
          <a:xfrm>
            <a:off x="6254496" y="5815584"/>
            <a:ext cx="1563624" cy="329184"/>
          </a:xfrm>
          <a:prstGeom prst="roundRect">
            <a:avLst>
              <a:gd name="adj" fmla="val 50000"/>
            </a:avLst>
          </a:prstGeom>
          <a:solidFill>
            <a:srgbClr val="0A1B3D"/>
          </a:solidFill>
          <a:ln w="12700">
            <a:solidFill>
              <a:srgbClr val="0A1B3D"/>
            </a:solidFill>
            <a:prstDash val="solid"/>
          </a:ln>
        </p:spPr>
      </p:sp>
      <p:sp>
        <p:nvSpPr>
          <p:cNvPr id="40" name="text-241"/>
          <p:cNvSpPr txBox="1"/>
          <p:nvPr/>
        </p:nvSpPr>
        <p:spPr>
          <a:xfrm>
            <a:off x="6254496" y="5815584"/>
            <a:ext cx="15636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Fine-tuned RoBERTa</a:t>
            </a:r>
            <a:endParaRPr lang="en-US" sz="1100" dirty="0"/>
          </a:p>
        </p:txBody>
      </p:sp>
      <p:sp>
        <p:nvSpPr>
          <p:cNvPr id="41" name="pill-242"/>
          <p:cNvSpPr/>
          <p:nvPr/>
        </p:nvSpPr>
        <p:spPr>
          <a:xfrm>
            <a:off x="7927848" y="5815584"/>
            <a:ext cx="1152144" cy="329184"/>
          </a:xfrm>
          <a:prstGeom prst="roundRect">
            <a:avLst>
              <a:gd name="adj" fmla="val 50000"/>
            </a:avLst>
          </a:prstGeom>
          <a:solidFill>
            <a:srgbClr val="0A1B3D"/>
          </a:solidFill>
          <a:ln w="12700">
            <a:solidFill>
              <a:srgbClr val="0A1B3D"/>
            </a:solidFill>
            <a:prstDash val="solid"/>
          </a:ln>
        </p:spPr>
      </p:sp>
      <p:sp>
        <p:nvSpPr>
          <p:cNvPr id="42" name="text-243"/>
          <p:cNvSpPr txBox="1"/>
          <p:nvPr/>
        </p:nvSpPr>
        <p:spPr>
          <a:xfrm>
            <a:off x="7927848" y="5815584"/>
            <a:ext cx="11521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SVM fallback</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Checking questions, then labelling the thinking</a:t>
            </a:r>
            <a:endParaRPr lang="en-US" sz="3000" dirty="0"/>
          </a:p>
        </p:txBody>
      </p:sp>
      <p:sp>
        <p:nvSpPr>
          <p:cNvPr id="3" name="text-244"/>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Corrective RAG gate</a:t>
            </a:r>
            <a:endParaRPr lang="en-US" sz="1800" dirty="0"/>
          </a:p>
        </p:txBody>
      </p:sp>
      <p:sp>
        <p:nvSpPr>
          <p:cNvPr id="4" name="num-245"/>
          <p:cNvSpPr/>
          <p:nvPr/>
        </p:nvSpPr>
        <p:spPr>
          <a:xfrm>
            <a:off x="548640" y="1819656"/>
            <a:ext cx="347472" cy="347472"/>
          </a:xfrm>
          <a:prstGeom prst="ellipse">
            <a:avLst/>
          </a:prstGeom>
          <a:solidFill>
            <a:srgbClr val="1D5FD6"/>
          </a:solidFill>
          <a:ln w="12700">
            <a:solidFill>
              <a:srgbClr val="1D5FD6"/>
            </a:solidFill>
            <a:prstDash val="solid"/>
          </a:ln>
        </p:spPr>
      </p:sp>
      <p:sp>
        <p:nvSpPr>
          <p:cNvPr id="5" name="text-246"/>
          <p:cNvSpPr txBox="1"/>
          <p:nvPr/>
        </p:nvSpPr>
        <p:spPr>
          <a:xfrm>
            <a:off x="548640" y="18196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card-247"/>
          <p:cNvSpPr/>
          <p:nvPr/>
        </p:nvSpPr>
        <p:spPr>
          <a:xfrm>
            <a:off x="1051560" y="1783080"/>
            <a:ext cx="5074920" cy="749808"/>
          </a:xfrm>
          <a:prstGeom prst="roundRect">
            <a:avLst>
              <a:gd name="adj" fmla="val 14634"/>
            </a:avLst>
          </a:prstGeom>
          <a:solidFill>
            <a:srgbClr val="EFF4FE"/>
          </a:solidFill>
          <a:ln w="12700">
            <a:solidFill>
              <a:srgbClr val="EFF4FE"/>
            </a:solidFill>
            <a:prstDash val="solid"/>
          </a:ln>
        </p:spPr>
      </p:sp>
      <p:sp>
        <p:nvSpPr>
          <p:cNvPr id="7" name="text-248"/>
          <p:cNvSpPr txBox="1"/>
          <p:nvPr/>
        </p:nvSpPr>
        <p:spPr>
          <a:xfrm>
            <a:off x="1234440" y="1837944"/>
            <a:ext cx="4800600" cy="676656"/>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Index</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Topic PDFs cut into 90-word chunks (30-word overlap), embedded with MiniLM</a:t>
            </a:r>
            <a:endParaRPr lang="en-US" sz="1500" dirty="0"/>
          </a:p>
        </p:txBody>
      </p:sp>
      <p:sp>
        <p:nvSpPr>
          <p:cNvPr id="8" name="num-249"/>
          <p:cNvSpPr/>
          <p:nvPr/>
        </p:nvSpPr>
        <p:spPr>
          <a:xfrm>
            <a:off x="548640" y="2688336"/>
            <a:ext cx="347472" cy="347472"/>
          </a:xfrm>
          <a:prstGeom prst="ellipse">
            <a:avLst/>
          </a:prstGeom>
          <a:solidFill>
            <a:srgbClr val="1D5FD6"/>
          </a:solidFill>
          <a:ln w="12700">
            <a:solidFill>
              <a:srgbClr val="1D5FD6"/>
            </a:solidFill>
            <a:prstDash val="solid"/>
          </a:ln>
        </p:spPr>
      </p:sp>
      <p:sp>
        <p:nvSpPr>
          <p:cNvPr id="9" name="text-250"/>
          <p:cNvSpPr txBox="1"/>
          <p:nvPr/>
        </p:nvSpPr>
        <p:spPr>
          <a:xfrm>
            <a:off x="548640" y="26883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card-251"/>
          <p:cNvSpPr/>
          <p:nvPr/>
        </p:nvSpPr>
        <p:spPr>
          <a:xfrm>
            <a:off x="1051560" y="2651760"/>
            <a:ext cx="5074920" cy="749808"/>
          </a:xfrm>
          <a:prstGeom prst="roundRect">
            <a:avLst>
              <a:gd name="adj" fmla="val 14634"/>
            </a:avLst>
          </a:prstGeom>
          <a:solidFill>
            <a:srgbClr val="FFFFFF"/>
          </a:solidFill>
          <a:ln w="12700">
            <a:solidFill>
              <a:srgbClr val="FFFFFF"/>
            </a:solidFill>
            <a:prstDash val="solid"/>
          </a:ln>
        </p:spPr>
      </p:sp>
      <p:sp>
        <p:nvSpPr>
          <p:cNvPr id="11" name="text-252"/>
          <p:cNvSpPr txBox="1"/>
          <p:nvPr/>
        </p:nvSpPr>
        <p:spPr>
          <a:xfrm>
            <a:off x="1234440" y="2706624"/>
            <a:ext cx="4800600" cy="676656"/>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Retrieve</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Draft question + answer is the query; cosine returns the top 3 chunks</a:t>
            </a:r>
            <a:endParaRPr lang="en-US" sz="1500" dirty="0"/>
          </a:p>
        </p:txBody>
      </p:sp>
      <p:sp>
        <p:nvSpPr>
          <p:cNvPr id="12" name="num-253"/>
          <p:cNvSpPr/>
          <p:nvPr/>
        </p:nvSpPr>
        <p:spPr>
          <a:xfrm>
            <a:off x="548640" y="3557016"/>
            <a:ext cx="347472" cy="347472"/>
          </a:xfrm>
          <a:prstGeom prst="ellipse">
            <a:avLst/>
          </a:prstGeom>
          <a:solidFill>
            <a:srgbClr val="1D5FD6"/>
          </a:solidFill>
          <a:ln w="12700">
            <a:solidFill>
              <a:srgbClr val="1D5FD6"/>
            </a:solidFill>
            <a:prstDash val="solid"/>
          </a:ln>
        </p:spPr>
      </p:sp>
      <p:sp>
        <p:nvSpPr>
          <p:cNvPr id="13" name="text-254"/>
          <p:cNvSpPr txBox="1"/>
          <p:nvPr/>
        </p:nvSpPr>
        <p:spPr>
          <a:xfrm>
            <a:off x="548640" y="35570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card-255"/>
          <p:cNvSpPr/>
          <p:nvPr/>
        </p:nvSpPr>
        <p:spPr>
          <a:xfrm>
            <a:off x="1051560" y="3520440"/>
            <a:ext cx="5074920" cy="749808"/>
          </a:xfrm>
          <a:prstGeom prst="roundRect">
            <a:avLst>
              <a:gd name="adj" fmla="val 14634"/>
            </a:avLst>
          </a:prstGeom>
          <a:solidFill>
            <a:srgbClr val="EFF4FE"/>
          </a:solidFill>
          <a:ln w="12700">
            <a:solidFill>
              <a:srgbClr val="EFF4FE"/>
            </a:solidFill>
            <a:prstDash val="solid"/>
          </a:ln>
        </p:spPr>
      </p:sp>
      <p:sp>
        <p:nvSpPr>
          <p:cNvPr id="15" name="text-256"/>
          <p:cNvSpPr txBox="1"/>
          <p:nvPr/>
        </p:nvSpPr>
        <p:spPr>
          <a:xfrm>
            <a:off x="1234440" y="3575304"/>
            <a:ext cx="4800600" cy="676656"/>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Judge</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Second LLM: does this text support this answer? Which option does it support?</a:t>
            </a:r>
            <a:endParaRPr lang="en-US" sz="1500" dirty="0"/>
          </a:p>
        </p:txBody>
      </p:sp>
      <p:sp>
        <p:nvSpPr>
          <p:cNvPr id="16" name="num-257"/>
          <p:cNvSpPr/>
          <p:nvPr/>
        </p:nvSpPr>
        <p:spPr>
          <a:xfrm>
            <a:off x="548640" y="4425696"/>
            <a:ext cx="347472" cy="347472"/>
          </a:xfrm>
          <a:prstGeom prst="ellipse">
            <a:avLst/>
          </a:prstGeom>
          <a:solidFill>
            <a:srgbClr val="E8833A"/>
          </a:solidFill>
          <a:ln w="12700">
            <a:solidFill>
              <a:srgbClr val="E8833A"/>
            </a:solidFill>
            <a:prstDash val="solid"/>
          </a:ln>
        </p:spPr>
      </p:sp>
      <p:sp>
        <p:nvSpPr>
          <p:cNvPr id="17" name="text-258"/>
          <p:cNvSpPr txBox="1"/>
          <p:nvPr/>
        </p:nvSpPr>
        <p:spPr>
          <a:xfrm>
            <a:off x="548640" y="44256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card-259"/>
          <p:cNvSpPr/>
          <p:nvPr/>
        </p:nvSpPr>
        <p:spPr>
          <a:xfrm>
            <a:off x="1051560" y="4389120"/>
            <a:ext cx="5074920" cy="749808"/>
          </a:xfrm>
          <a:prstGeom prst="roundRect">
            <a:avLst>
              <a:gd name="adj" fmla="val 14634"/>
            </a:avLst>
          </a:prstGeom>
          <a:solidFill>
            <a:srgbClr val="FFFFFF"/>
          </a:solidFill>
          <a:ln w="12700">
            <a:solidFill>
              <a:srgbClr val="FFFFFF"/>
            </a:solidFill>
            <a:prstDash val="solid"/>
          </a:ln>
        </p:spPr>
      </p:sp>
      <p:sp>
        <p:nvSpPr>
          <p:cNvPr id="19" name="text-260"/>
          <p:cNvSpPr txBox="1"/>
          <p:nvPr/>
        </p:nvSpPr>
        <p:spPr>
          <a:xfrm>
            <a:off x="1234440" y="4443984"/>
            <a:ext cx="4800600" cy="676656"/>
          </a:xfrm>
          <a:prstGeom prst="rect">
            <a:avLst/>
          </a:prstGeom>
          <a:noFill/>
          <a:ln/>
        </p:spPr>
        <p:txBody>
          <a:bodyPr wrap="square" lIns="0" tIns="0" rIns="0" bIns="0" rtlCol="0" anchor="t"/>
          <a:lstStyle/>
          <a:p>
            <a:pPr indent="0" marL="0">
              <a:buNone/>
            </a:pPr>
            <a:r>
              <a:rPr lang="en-US" sz="1500" b="1" dirty="0">
                <a:solidFill>
                  <a:srgbClr val="0A1B3D"/>
                </a:solidFill>
                <a:latin typeface="Calibri" pitchFamily="34" charset="0"/>
                <a:ea typeface="Calibri" pitchFamily="34" charset="-122"/>
                <a:cs typeface="Calibri" pitchFamily="34" charset="-120"/>
              </a:rPr>
              <a:t>Correct</a:t>
            </a:r>
            <a:endParaRPr lang="en-US" sz="1500" dirty="0"/>
          </a:p>
          <a:p>
            <a:pPr indent="0" marL="0">
              <a:buNone/>
            </a:pPr>
            <a:r>
              <a:rPr lang="en-US" sz="1300" dirty="0">
                <a:solidFill>
                  <a:srgbClr val="14161A"/>
                </a:solidFill>
                <a:latin typeface="Calibri" pitchFamily="34" charset="0"/>
                <a:ea typeface="Calibri" pitchFamily="34" charset="-122"/>
                <a:cs typeface="Calibri" pitchFamily="34" charset="-120"/>
              </a:rPr>
              <a:t>Rejected drafts regenerate with the reason appended (bounded retries)</a:t>
            </a:r>
            <a:endParaRPr lang="en-US" sz="1500" dirty="0"/>
          </a:p>
        </p:txBody>
      </p:sp>
      <p:sp>
        <p:nvSpPr>
          <p:cNvPr id="20" name="text-261"/>
          <p:cNvSpPr txBox="1"/>
          <p:nvPr/>
        </p:nvSpPr>
        <p:spPr>
          <a:xfrm>
            <a:off x="548640" y="5349240"/>
            <a:ext cx="5577840" cy="777240"/>
          </a:xfrm>
          <a:prstGeom prst="rect">
            <a:avLst/>
          </a:prstGeom>
          <a:noFill/>
          <a:ln/>
        </p:spPr>
        <p:txBody>
          <a:bodyPr wrap="square" lIns="0" tIns="0" rIns="0" bIns="0" rtlCol="0" anchor="t"/>
          <a:lstStyle/>
          <a:p>
            <a:pPr indent="0" marL="0">
              <a:buNone/>
            </a:pPr>
            <a:r>
              <a:rPr lang="en-US" sz="1250" i="1" dirty="0">
                <a:solidFill>
                  <a:srgbClr val="1A47A8"/>
                </a:solidFill>
                <a:latin typeface="Calibri" pitchFamily="34" charset="0"/>
                <a:ea typeface="Calibri" pitchFamily="34" charset="-122"/>
                <a:cs typeface="Calibri" pitchFamily="34" charset="-120"/>
              </a:rPr>
              <a:t>Why: before this gate, 61 of 76 final questions on the first published topic used words absent from its PDFs, and two keyed “plasma” where the source says gas and solid.</a:t>
            </a:r>
            <a:endParaRPr lang="en-US" sz="1250" dirty="0"/>
          </a:p>
        </p:txBody>
      </p:sp>
      <p:sp>
        <p:nvSpPr>
          <p:cNvPr id="21" name="text-262"/>
          <p:cNvSpPr txBox="1"/>
          <p:nvPr/>
        </p:nvSpPr>
        <p:spPr>
          <a:xfrm>
            <a:off x="6492240" y="1325880"/>
            <a:ext cx="512064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Bloom's level → thinking order</a:t>
            </a:r>
            <a:endParaRPr lang="en-US" sz="1800" dirty="0"/>
          </a:p>
        </p:txBody>
      </p:sp>
      <p:graphicFrame>
        <p:nvGraphicFramePr>
          <p:cNvPr id="12" name="table-263"/>
          <p:cNvGraphicFramePr>
            <a:graphicFrameLocks noGrp="1"/>
          </p:cNvGraphicFramePr>
          <p:nvPr>
            <p:extLst>
              <p:ext uri="{D42A27DB-BD31-4B8C-83A1-F6EECF244321}">
                <p14:modId xmlns:p14="http://schemas.microsoft.com/office/powerpoint/2010/main" val="1579011935"/>
              </p:ext>
            </p:extLst>
          </p:nvPr>
        </p:nvGraphicFramePr>
        <p:xfrm>
          <a:off x="6492240" y="1783080"/>
          <a:ext cx="5120640" cy="914400"/>
        </p:xfrm>
        <a:graphic>
          <a:graphicData uri="http://schemas.openxmlformats.org/drawingml/2006/table">
            <a:tbl>
              <a:tblPr/>
              <a:tblGrid>
                <a:gridCol w="1371600"/>
                <a:gridCol w="1005840"/>
                <a:gridCol w="2743200"/>
              </a:tblGrid>
              <a:tr h="42062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Bloom level</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Order</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420624">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Remember</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LOTS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Facts and Information</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20624">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Understand</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LOTS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420624">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Apply</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LOTS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Skills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20624">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Analyze</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HOTS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Skills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420624">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Evaluate</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HOTS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20624">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Create</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dropped</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l" indent="0" marL="0">
                        <a:buNone/>
                      </a:pPr>
                      <a:r>
                        <a:rPr lang="en-US" sz="1300" dirty="0">
                          <a:solidFill>
                            <a:srgbClr val="14161A"/>
                          </a:solidFill>
                          <a:latin typeface="Calibri" pitchFamily="34" charset="0"/>
                          <a:ea typeface="Calibri" pitchFamily="34" charset="-122"/>
                          <a:cs typeface="Calibri" pitchFamily="34" charset="-120"/>
                        </a:rPr>
                        <a:t>MCQ / TF cannot assess it</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bl>
          </a:graphicData>
        </a:graphic>
      </p:graphicFrame>
      <p:sp>
        <p:nvSpPr>
          <p:cNvPr id="23" name="text-264"/>
          <p:cNvSpPr txBox="1"/>
          <p:nvPr/>
        </p:nvSpPr>
        <p:spPr>
          <a:xfrm>
            <a:off x="6492240" y="4892040"/>
            <a:ext cx="5120640" cy="77724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Classifier: RoBERTa fine-tuned on Bloom-labelled questions; a TF-IDF + SVM pipeline takes over if transformers is unavailable.</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Learning path: concepts become an ordered graph</a:t>
            </a:r>
            <a:endParaRPr lang="en-US" sz="3000" dirty="0"/>
          </a:p>
        </p:txBody>
      </p:sp>
      <p:sp>
        <p:nvSpPr>
          <p:cNvPr id="3" name="text-265"/>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Every pair of concepts is read for evidence that one needs the other; the accepted links are then sorted into a path.</a:t>
            </a:r>
            <a:endParaRPr lang="en-US" sz="1600" dirty="0"/>
          </a:p>
        </p:txBody>
      </p:sp>
      <p:sp>
        <p:nvSpPr>
          <p:cNvPr id="4" name="card-266"/>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267"/>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268"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269"/>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270"/>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271"/>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272"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273"/>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274"/>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275"/>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276"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277"/>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278"/>
          <p:cNvSpPr/>
          <p:nvPr/>
        </p:nvSpPr>
        <p:spPr>
          <a:xfrm>
            <a:off x="3136392" y="3657600"/>
            <a:ext cx="310896" cy="0"/>
          </a:xfrm>
          <a:prstGeom prst="line">
            <a:avLst/>
          </a:prstGeom>
          <a:noFill/>
          <a:ln w="25400">
            <a:solidFill>
              <a:srgbClr val="0A1B3D"/>
            </a:solidFill>
            <a:prstDash val="solid"/>
            <a:tailEnd type="triangle"/>
          </a:ln>
        </p:spPr>
      </p:sp>
      <p:sp>
        <p:nvSpPr>
          <p:cNvPr id="17" name="arrow-279"/>
          <p:cNvSpPr/>
          <p:nvPr/>
        </p:nvSpPr>
        <p:spPr>
          <a:xfrm>
            <a:off x="8759952" y="3657600"/>
            <a:ext cx="310896" cy="0"/>
          </a:xfrm>
          <a:prstGeom prst="line">
            <a:avLst/>
          </a:prstGeom>
          <a:noFill/>
          <a:ln w="25400">
            <a:solidFill>
              <a:srgbClr val="0A1B3D"/>
            </a:solidFill>
            <a:prstDash val="solid"/>
            <a:tailEnd type="triangle"/>
          </a:ln>
        </p:spPr>
      </p:sp>
      <p:sp>
        <p:nvSpPr>
          <p:cNvPr id="18" name="text-280"/>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topic's concepts: text, terms, headings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Their order in each PDF</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Teacher approvals and rejections</a:t>
            </a:r>
            <a:endParaRPr lang="en-US" sz="1300" dirty="0"/>
          </a:p>
        </p:txBody>
      </p:sp>
      <p:sp>
        <p:nvSpPr>
          <p:cNvPr id="19" name="text-281"/>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Prerequisite links (accepted / pending)</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Ordered LearningPathStep rows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 plain-language reason per link</a:t>
            </a:r>
            <a:endParaRPr lang="en-US" sz="1300" dirty="0"/>
          </a:p>
        </p:txBody>
      </p:sp>
      <p:sp>
        <p:nvSpPr>
          <p:cNvPr id="20" name="num-282"/>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283"/>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284"/>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Does the text link them?</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Yes if the later concept names the earlier one, uses 2+ terms the earlier one introduces, or sits under its heading.</a:t>
            </a:r>
            <a:endParaRPr lang="en-US" sz="1400" dirty="0"/>
          </a:p>
        </p:txBody>
      </p:sp>
      <p:sp>
        <p:nvSpPr>
          <p:cNvPr id="23" name="num-285"/>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286"/>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287"/>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Which way?</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The lesson's own order sets the direction; relatedness and meaning (MiniLM) are recorded, not counted.</a:t>
            </a:r>
            <a:endParaRPr lang="en-US" sz="1400" dirty="0"/>
          </a:p>
        </p:txBody>
      </p:sp>
      <p:sp>
        <p:nvSpPr>
          <p:cNvPr id="26" name="num-288"/>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289"/>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290"/>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Accept or ask</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link nothing contradicts is accepted; a contradicted or one-word link becomes a teacher suggestion.</a:t>
            </a:r>
            <a:endParaRPr lang="en-US" sz="1400" dirty="0"/>
          </a:p>
        </p:txBody>
      </p:sp>
      <p:sp>
        <p:nvSpPr>
          <p:cNvPr id="29" name="num-291"/>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292"/>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293"/>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Order the graph</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Kahn's topological sort over accepted + approved links; ties broken by document order.</a:t>
            </a:r>
            <a:endParaRPr lang="en-US" sz="1400" dirty="0"/>
          </a:p>
        </p:txBody>
      </p:sp>
      <p:sp>
        <p:nvSpPr>
          <p:cNvPr id="32" name="text-294"/>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295"/>
          <p:cNvSpPr/>
          <p:nvPr/>
        </p:nvSpPr>
        <p:spPr>
          <a:xfrm>
            <a:off x="1645920" y="5815584"/>
            <a:ext cx="2180844" cy="329184"/>
          </a:xfrm>
          <a:prstGeom prst="roundRect">
            <a:avLst>
              <a:gd name="adj" fmla="val 50000"/>
            </a:avLst>
          </a:prstGeom>
          <a:solidFill>
            <a:srgbClr val="0A1B3D"/>
          </a:solidFill>
          <a:ln w="12700">
            <a:solidFill>
              <a:srgbClr val="0A1B3D"/>
            </a:solidFill>
            <a:prstDash val="solid"/>
          </a:ln>
        </p:spPr>
      </p:sp>
      <p:sp>
        <p:nvSpPr>
          <p:cNvPr id="34" name="text-296"/>
          <p:cNvSpPr txBox="1"/>
          <p:nvPr/>
        </p:nvSpPr>
        <p:spPr>
          <a:xfrm>
            <a:off x="1645920" y="5815584"/>
            <a:ext cx="21808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Term ownership (RefD-style)</a:t>
            </a:r>
            <a:endParaRPr lang="en-US" sz="1100" dirty="0"/>
          </a:p>
        </p:txBody>
      </p:sp>
      <p:sp>
        <p:nvSpPr>
          <p:cNvPr id="35" name="pill-297"/>
          <p:cNvSpPr/>
          <p:nvPr/>
        </p:nvSpPr>
        <p:spPr>
          <a:xfrm>
            <a:off x="3936492" y="5815584"/>
            <a:ext cx="1906524" cy="329184"/>
          </a:xfrm>
          <a:prstGeom prst="roundRect">
            <a:avLst>
              <a:gd name="adj" fmla="val 50000"/>
            </a:avLst>
          </a:prstGeom>
          <a:solidFill>
            <a:srgbClr val="0A1B3D"/>
          </a:solidFill>
          <a:ln w="12700">
            <a:solidFill>
              <a:srgbClr val="0A1B3D"/>
            </a:solidFill>
            <a:prstDash val="solid"/>
          </a:ln>
        </p:spPr>
      </p:sp>
      <p:sp>
        <p:nvSpPr>
          <p:cNvPr id="36" name="text-298"/>
          <p:cNvSpPr txBox="1"/>
          <p:nvPr/>
        </p:nvSpPr>
        <p:spPr>
          <a:xfrm>
            <a:off x="3936492" y="5815584"/>
            <a:ext cx="19065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Name / heading matching</a:t>
            </a:r>
            <a:endParaRPr lang="en-US" sz="1100" dirty="0"/>
          </a:p>
        </p:txBody>
      </p:sp>
      <p:sp>
        <p:nvSpPr>
          <p:cNvPr id="37" name="pill-299"/>
          <p:cNvSpPr/>
          <p:nvPr/>
        </p:nvSpPr>
        <p:spPr>
          <a:xfrm>
            <a:off x="5952744" y="5815584"/>
            <a:ext cx="1563624" cy="329184"/>
          </a:xfrm>
          <a:prstGeom prst="roundRect">
            <a:avLst>
              <a:gd name="adj" fmla="val 50000"/>
            </a:avLst>
          </a:prstGeom>
          <a:solidFill>
            <a:srgbClr val="0A1B3D"/>
          </a:solidFill>
          <a:ln w="12700">
            <a:solidFill>
              <a:srgbClr val="0A1B3D"/>
            </a:solidFill>
            <a:prstDash val="solid"/>
          </a:ln>
        </p:spPr>
      </p:sp>
      <p:sp>
        <p:nvSpPr>
          <p:cNvPr id="38" name="text-300"/>
          <p:cNvSpPr txBox="1"/>
          <p:nvPr/>
        </p:nvSpPr>
        <p:spPr>
          <a:xfrm>
            <a:off x="5952744" y="5815584"/>
            <a:ext cx="15636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MiniLM relatedness</a:t>
            </a:r>
            <a:endParaRPr lang="en-US" sz="1100" dirty="0"/>
          </a:p>
        </p:txBody>
      </p:sp>
      <p:sp>
        <p:nvSpPr>
          <p:cNvPr id="39" name="pill-301"/>
          <p:cNvSpPr/>
          <p:nvPr/>
        </p:nvSpPr>
        <p:spPr>
          <a:xfrm>
            <a:off x="7626096" y="5815584"/>
            <a:ext cx="1426464" cy="329184"/>
          </a:xfrm>
          <a:prstGeom prst="roundRect">
            <a:avLst>
              <a:gd name="adj" fmla="val 50000"/>
            </a:avLst>
          </a:prstGeom>
          <a:solidFill>
            <a:srgbClr val="0A1B3D"/>
          </a:solidFill>
          <a:ln w="12700">
            <a:solidFill>
              <a:srgbClr val="0A1B3D"/>
            </a:solidFill>
            <a:prstDash val="solid"/>
          </a:ln>
        </p:spPr>
      </p:sp>
      <p:sp>
        <p:nvSpPr>
          <p:cNvPr id="40" name="text-302"/>
          <p:cNvSpPr txBox="1"/>
          <p:nvPr/>
        </p:nvSpPr>
        <p:spPr>
          <a:xfrm>
            <a:off x="7626096" y="5815584"/>
            <a:ext cx="14264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Kahn's algorithm</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From links to an order, and how well it works</a:t>
            </a:r>
            <a:endParaRPr lang="en-US" sz="3000" dirty="0"/>
          </a:p>
        </p:txBody>
      </p:sp>
      <p:sp>
        <p:nvSpPr>
          <p:cNvPr id="3" name="text-303"/>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Kahn's algorithm</a:t>
            </a:r>
            <a:endParaRPr lang="en-US" sz="1800" dirty="0"/>
          </a:p>
        </p:txBody>
      </p:sp>
      <p:sp>
        <p:nvSpPr>
          <p:cNvPr id="4" name="num-304"/>
          <p:cNvSpPr/>
          <p:nvPr/>
        </p:nvSpPr>
        <p:spPr>
          <a:xfrm>
            <a:off x="548640" y="1837944"/>
            <a:ext cx="347472" cy="347472"/>
          </a:xfrm>
          <a:prstGeom prst="ellipse">
            <a:avLst/>
          </a:prstGeom>
          <a:solidFill>
            <a:srgbClr val="1A47A8"/>
          </a:solidFill>
          <a:ln w="12700">
            <a:solidFill>
              <a:srgbClr val="1A47A8"/>
            </a:solidFill>
            <a:prstDash val="solid"/>
          </a:ln>
        </p:spPr>
      </p:sp>
      <p:sp>
        <p:nvSpPr>
          <p:cNvPr id="5" name="text-305"/>
          <p:cNvSpPr txBox="1"/>
          <p:nvPr/>
        </p:nvSpPr>
        <p:spPr>
          <a:xfrm>
            <a:off x="548640" y="18379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306"/>
          <p:cNvSpPr txBox="1"/>
          <p:nvPr/>
        </p:nvSpPr>
        <p:spPr>
          <a:xfrm>
            <a:off x="1051560" y="1810512"/>
            <a:ext cx="4846320" cy="54864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Count each concept's unmet prerequisites (in-degree)</a:t>
            </a:r>
            <a:endParaRPr lang="en-US" sz="1500" dirty="0"/>
          </a:p>
        </p:txBody>
      </p:sp>
      <p:sp>
        <p:nvSpPr>
          <p:cNvPr id="7" name="num-307"/>
          <p:cNvSpPr/>
          <p:nvPr/>
        </p:nvSpPr>
        <p:spPr>
          <a:xfrm>
            <a:off x="548640" y="2478024"/>
            <a:ext cx="347472" cy="347472"/>
          </a:xfrm>
          <a:prstGeom prst="ellipse">
            <a:avLst/>
          </a:prstGeom>
          <a:solidFill>
            <a:srgbClr val="1A47A8"/>
          </a:solidFill>
          <a:ln w="12700">
            <a:solidFill>
              <a:srgbClr val="1A47A8"/>
            </a:solidFill>
            <a:prstDash val="solid"/>
          </a:ln>
        </p:spPr>
      </p:sp>
      <p:sp>
        <p:nvSpPr>
          <p:cNvPr id="8" name="text-308"/>
          <p:cNvSpPr txBox="1"/>
          <p:nvPr/>
        </p:nvSpPr>
        <p:spPr>
          <a:xfrm>
            <a:off x="548640" y="24780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309"/>
          <p:cNvSpPr txBox="1"/>
          <p:nvPr/>
        </p:nvSpPr>
        <p:spPr>
          <a:xfrm>
            <a:off x="1051560" y="2450592"/>
            <a:ext cx="4846320" cy="54864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Take the concepts with none; pick the earliest in the lesson</a:t>
            </a:r>
            <a:endParaRPr lang="en-US" sz="1500" dirty="0"/>
          </a:p>
        </p:txBody>
      </p:sp>
      <p:sp>
        <p:nvSpPr>
          <p:cNvPr id="10" name="num-310"/>
          <p:cNvSpPr/>
          <p:nvPr/>
        </p:nvSpPr>
        <p:spPr>
          <a:xfrm>
            <a:off x="548640" y="3118104"/>
            <a:ext cx="347472" cy="347472"/>
          </a:xfrm>
          <a:prstGeom prst="ellipse">
            <a:avLst/>
          </a:prstGeom>
          <a:solidFill>
            <a:srgbClr val="1A47A8"/>
          </a:solidFill>
          <a:ln w="12700">
            <a:solidFill>
              <a:srgbClr val="1A47A8"/>
            </a:solidFill>
            <a:prstDash val="solid"/>
          </a:ln>
        </p:spPr>
      </p:sp>
      <p:sp>
        <p:nvSpPr>
          <p:cNvPr id="11" name="text-311"/>
          <p:cNvSpPr txBox="1"/>
          <p:nvPr/>
        </p:nvSpPr>
        <p:spPr>
          <a:xfrm>
            <a:off x="548640" y="31181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312"/>
          <p:cNvSpPr txBox="1"/>
          <p:nvPr/>
        </p:nvSpPr>
        <p:spPr>
          <a:xfrm>
            <a:off x="1051560" y="3090672"/>
            <a:ext cx="4846320" cy="54864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Append it to the path; remove its outgoing links</a:t>
            </a:r>
            <a:endParaRPr lang="en-US" sz="1500" dirty="0"/>
          </a:p>
        </p:txBody>
      </p:sp>
      <p:sp>
        <p:nvSpPr>
          <p:cNvPr id="13" name="num-313"/>
          <p:cNvSpPr/>
          <p:nvPr/>
        </p:nvSpPr>
        <p:spPr>
          <a:xfrm>
            <a:off x="548640" y="3758184"/>
            <a:ext cx="347472" cy="347472"/>
          </a:xfrm>
          <a:prstGeom prst="ellipse">
            <a:avLst/>
          </a:prstGeom>
          <a:solidFill>
            <a:srgbClr val="1A47A8"/>
          </a:solidFill>
          <a:ln w="12700">
            <a:solidFill>
              <a:srgbClr val="1A47A8"/>
            </a:solidFill>
            <a:prstDash val="solid"/>
          </a:ln>
        </p:spPr>
      </p:sp>
      <p:sp>
        <p:nvSpPr>
          <p:cNvPr id="14" name="text-314"/>
          <p:cNvSpPr txBox="1"/>
          <p:nvPr/>
        </p:nvSpPr>
        <p:spPr>
          <a:xfrm>
            <a:off x="548640" y="37581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315"/>
          <p:cNvSpPr txBox="1"/>
          <p:nvPr/>
        </p:nvSpPr>
        <p:spPr>
          <a:xfrm>
            <a:off x="1051560" y="3730752"/>
            <a:ext cx="4846320" cy="548640"/>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Repeat until every concept is placed</a:t>
            </a:r>
            <a:endParaRPr lang="en-US" sz="1500" dirty="0"/>
          </a:p>
        </p:txBody>
      </p:sp>
      <p:sp>
        <p:nvSpPr>
          <p:cNvPr id="16" name="text-316"/>
          <p:cNvSpPr txBox="1"/>
          <p:nvPr/>
        </p:nvSpPr>
        <p:spPr>
          <a:xfrm>
            <a:off x="548640" y="4434840"/>
            <a:ext cx="5394960" cy="731520"/>
          </a:xfrm>
          <a:prstGeom prst="rect">
            <a:avLst/>
          </a:prstGeom>
          <a:noFill/>
          <a:ln/>
        </p:spPr>
        <p:txBody>
          <a:bodyPr wrap="square" lIns="0" tIns="0" rIns="0" bIns="0" rtlCol="0" anchor="t"/>
          <a:lstStyle/>
          <a:p>
            <a:pPr indent="0" marL="0">
              <a:buNone/>
            </a:pPr>
            <a:r>
              <a:rPr lang="en-US" sz="1300" i="1" dirty="0">
                <a:solidFill>
                  <a:srgbClr val="1A47A8"/>
                </a:solidFill>
                <a:latin typeface="Calibri" pitchFamily="34" charset="0"/>
                <a:ea typeface="Calibri" pitchFamily="34" charset="-122"/>
                <a:cs typeface="Calibri" pitchFamily="34" charset="-120"/>
              </a:rPr>
              <a:t>Guarantees every prerequisite is heard before the concept that needs it; the teacher's own outline order breaks ties.</a:t>
            </a:r>
            <a:endParaRPr lang="en-US" sz="1300" dirty="0"/>
          </a:p>
        </p:txBody>
      </p:sp>
      <p:sp>
        <p:nvSpPr>
          <p:cNvPr id="17" name="text-317"/>
          <p:cNvSpPr txBox="1"/>
          <p:nvPr/>
        </p:nvSpPr>
        <p:spPr>
          <a:xfrm>
            <a:off x="6400800" y="1325880"/>
            <a:ext cx="521208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Blind evaluation (3 new topics, 40 required links)</a:t>
            </a:r>
            <a:endParaRPr lang="en-US" sz="1800" dirty="0"/>
          </a:p>
        </p:txBody>
      </p:sp>
      <p:graphicFrame>
        <p:nvGraphicFramePr>
          <p:cNvPr id="14" name="table-318"/>
          <p:cNvGraphicFramePr>
            <a:graphicFrameLocks noGrp="1"/>
          </p:cNvGraphicFramePr>
          <p:nvPr>
            <p:extLst>
              <p:ext uri="{D42A27DB-BD31-4B8C-83A1-F6EECF244321}">
                <p14:modId xmlns:p14="http://schemas.microsoft.com/office/powerpoint/2010/main" val="1579011935"/>
              </p:ext>
            </p:extLst>
          </p:nvPr>
        </p:nvGraphicFramePr>
        <p:xfrm>
          <a:off x="6400800" y="1810512"/>
          <a:ext cx="5212080" cy="914400"/>
        </p:xfrm>
        <a:graphic>
          <a:graphicData uri="http://schemas.openxmlformats.org/drawingml/2006/table">
            <a:tbl>
              <a:tblPr/>
              <a:tblGrid>
                <a:gridCol w="2148840"/>
                <a:gridCol w="822960"/>
                <a:gridCol w="1325880"/>
                <a:gridCol w="914400"/>
              </a:tblGrid>
              <a:tr h="457200">
                <a:tc>
                  <a:txBody>
                    <a:bodyPr/>
                    <a:lstStyle/>
                    <a:p>
                      <a:pPr algn="l" indent="0" marL="0">
                        <a:buNone/>
                      </a:pP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v6</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v6.1 (current)</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Order only</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457200">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Required links covered</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0.57</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0.33</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457200">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Wrong-way links</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0A1B3D"/>
                          </a:solidFill>
                          <a:latin typeface="Calibri" pitchFamily="34" charset="0"/>
                          <a:ea typeface="Calibri" pitchFamily="34" charset="-122"/>
                          <a:cs typeface="Calibri" pitchFamily="34" charset="-120"/>
                        </a:rPr>
                        <a:t>Sent to the teacher</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bl>
          </a:graphicData>
        </a:graphic>
      </p:graphicFrame>
      <p:sp>
        <p:nvSpPr>
          <p:cNvPr id="19" name="text-319"/>
          <p:cNvSpPr txBox="1"/>
          <p:nvPr/>
        </p:nvSpPr>
        <p:spPr>
          <a:xfrm>
            <a:off x="6400800" y="4251960"/>
            <a:ext cx="5212080" cy="1097280"/>
          </a:xfrm>
          <a:prstGeom prst="rect">
            <a:avLst/>
          </a:prstGeom>
          <a:noFill/>
          <a:ln/>
        </p:spPr>
        <p:txBody>
          <a:bodyPr wrap="square" lIns="0" tIns="0" rIns="0" bIns="0" rtlCol="0" anchor="t"/>
          <a:lstStyle/>
          <a:p>
            <a:pPr indent="0" marL="0">
              <a:buNone/>
            </a:pPr>
            <a:r>
              <a:rPr lang="en-US" sz="1300" dirty="0">
                <a:solidFill>
                  <a:srgbClr val="14161A"/>
                </a:solidFill>
                <a:latin typeface="Calibri" pitchFamily="34" charset="0"/>
                <a:ea typeface="Calibri" pitchFamily="34" charset="-122"/>
                <a:cs typeface="Calibri" pitchFamily="34" charset="-120"/>
              </a:rPr>
              <a:t>Keys were drafted from the PDFs with concepts shuffled, reviewed, and frozen before the rule ran. v6.1 passed its pre-set stop rule: fewer wrong-way links, precision +0.05, coverage within 3.</a:t>
            </a:r>
            <a:endParaRPr lang="en-US" sz="1300" dirty="0"/>
          </a:p>
        </p:txBody>
      </p:sp>
      <p:sp>
        <p:nvSpPr>
          <p:cNvPr id="20" name="text-320"/>
          <p:cNvSpPr txBox="1"/>
          <p:nvPr/>
        </p:nvSpPr>
        <p:spPr>
          <a:xfrm>
            <a:off x="548640" y="5577840"/>
            <a:ext cx="11064240" cy="411480"/>
          </a:xfrm>
          <a:prstGeom prst="rect">
            <a:avLst/>
          </a:prstGeom>
          <a:noFill/>
          <a:ln/>
        </p:spPr>
        <p:txBody>
          <a:bodyPr wrap="square" lIns="0" tIns="0" rIns="0" bIns="0" rtlCol="0" anchor="t"/>
          <a:lstStyle/>
          <a:p>
            <a:pPr indent="0" marL="0">
              <a:buNone/>
            </a:pPr>
            <a:r>
              <a:rPr lang="en-US" sz="1300" i="1" dirty="0">
                <a:solidFill>
                  <a:srgbClr val="5B6372"/>
                </a:solidFill>
                <a:latin typeface="Calibri" pitchFamily="34" charset="0"/>
                <a:ea typeface="Calibri" pitchFamily="34" charset="-122"/>
                <a:cs typeface="Calibri" pitchFamily="34" charset="-120"/>
              </a:rPr>
              <a:t>Main remaining error: linking parallel concepts (organs, body systems) that share no naming heading.</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Review, audio and publishing: a gate, then speech</a:t>
            </a:r>
            <a:endParaRPr lang="en-US" sz="3000" dirty="0"/>
          </a:p>
        </p:txBody>
      </p:sp>
      <p:sp>
        <p:nvSpPr>
          <p:cNvPr id="3" name="text-32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A topic is published only when it is complete; then every version is narrated and the path is saved.</a:t>
            </a:r>
            <a:endParaRPr lang="en-US" sz="1600" dirty="0"/>
          </a:p>
        </p:txBody>
      </p:sp>
      <p:sp>
        <p:nvSpPr>
          <p:cNvPr id="4" name="card-322"/>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323"/>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324"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325"/>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326"/>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327"/>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328"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329"/>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330"/>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331"/>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332"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333"/>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334"/>
          <p:cNvSpPr/>
          <p:nvPr/>
        </p:nvSpPr>
        <p:spPr>
          <a:xfrm>
            <a:off x="3136392" y="3657600"/>
            <a:ext cx="310896" cy="0"/>
          </a:xfrm>
          <a:prstGeom prst="line">
            <a:avLst/>
          </a:prstGeom>
          <a:noFill/>
          <a:ln w="25400">
            <a:solidFill>
              <a:srgbClr val="0A1B3D"/>
            </a:solidFill>
            <a:prstDash val="solid"/>
            <a:tailEnd type="triangle"/>
          </a:ln>
        </p:spPr>
      </p:sp>
      <p:sp>
        <p:nvSpPr>
          <p:cNvPr id="17" name="arrow-335"/>
          <p:cNvSpPr/>
          <p:nvPr/>
        </p:nvSpPr>
        <p:spPr>
          <a:xfrm>
            <a:off x="8759952" y="3657600"/>
            <a:ext cx="310896" cy="0"/>
          </a:xfrm>
          <a:prstGeom prst="line">
            <a:avLst/>
          </a:prstGeom>
          <a:noFill/>
          <a:ln w="25400">
            <a:solidFill>
              <a:srgbClr val="0A1B3D"/>
            </a:solidFill>
            <a:prstDash val="solid"/>
            <a:tailEnd type="triangle"/>
          </a:ln>
        </p:spPr>
      </p:sp>
      <p:sp>
        <p:nvSpPr>
          <p:cNvPr id="18" name="text-336"/>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reviewed topic: concepts, versions, question banks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Figure narrations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derived learning path</a:t>
            </a:r>
            <a:endParaRPr lang="en-US" sz="1300" dirty="0"/>
          </a:p>
        </p:txBody>
      </p:sp>
      <p:sp>
        <p:nvSpPr>
          <p:cNvPr id="19" name="text-337"/>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 published topic with a publish time</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Audio clips per version, in play order</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published learning path (API contract)</a:t>
            </a:r>
            <a:endParaRPr lang="en-US" sz="1300" dirty="0"/>
          </a:p>
        </p:txBody>
      </p:sp>
      <p:sp>
        <p:nvSpPr>
          <p:cNvPr id="20" name="num-338"/>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339"/>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340"/>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Completeness gate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Every concept has all versions, no question bank is out of date, figures are narrated — else stop.</a:t>
            </a:r>
            <a:endParaRPr lang="en-US" sz="1400" dirty="0"/>
          </a:p>
        </p:txBody>
      </p:sp>
      <p:sp>
        <p:nvSpPr>
          <p:cNvPr id="23" name="num-341"/>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342"/>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343"/>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Skip audio on failure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Audio is the slow phase, so it runs only when the publish can succeed.</a:t>
            </a:r>
            <a:endParaRPr lang="en-US" sz="1400" dirty="0"/>
          </a:p>
        </p:txBody>
      </p:sp>
      <p:sp>
        <p:nvSpPr>
          <p:cNvPr id="26" name="num-344"/>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345"/>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346"/>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Narrate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Edge neural TTS (en-US-AriaNeural) per object and per version; dropped connections retried up to 20 times.</a:t>
            </a:r>
            <a:endParaRPr lang="en-US" sz="1400" dirty="0"/>
          </a:p>
        </p:txBody>
      </p:sp>
      <p:sp>
        <p:nvSpPr>
          <p:cNvPr id="29" name="num-347"/>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348"/>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349"/>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Publish the path</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Links refreshed, Kahn order saved as steps; teacher decisions kept; only the latest path is kept.</a:t>
            </a:r>
            <a:endParaRPr lang="en-US" sz="1400" dirty="0"/>
          </a:p>
        </p:txBody>
      </p:sp>
      <p:sp>
        <p:nvSpPr>
          <p:cNvPr id="32" name="text-350"/>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351"/>
          <p:cNvSpPr/>
          <p:nvPr/>
        </p:nvSpPr>
        <p:spPr>
          <a:xfrm>
            <a:off x="1645920" y="5815584"/>
            <a:ext cx="1495044" cy="329184"/>
          </a:xfrm>
          <a:prstGeom prst="roundRect">
            <a:avLst>
              <a:gd name="adj" fmla="val 50000"/>
            </a:avLst>
          </a:prstGeom>
          <a:solidFill>
            <a:srgbClr val="0A1B3D"/>
          </a:solidFill>
          <a:ln w="12700">
            <a:solidFill>
              <a:srgbClr val="0A1B3D"/>
            </a:solidFill>
            <a:prstDash val="solid"/>
          </a:ln>
        </p:spPr>
      </p:sp>
      <p:sp>
        <p:nvSpPr>
          <p:cNvPr id="34" name="text-352"/>
          <p:cNvSpPr txBox="1"/>
          <p:nvPr/>
        </p:nvSpPr>
        <p:spPr>
          <a:xfrm>
            <a:off x="1645920" y="5815584"/>
            <a:ext cx="14950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Completeness gate</a:t>
            </a:r>
            <a:endParaRPr lang="en-US" sz="1100" dirty="0"/>
          </a:p>
        </p:txBody>
      </p:sp>
      <p:sp>
        <p:nvSpPr>
          <p:cNvPr id="35" name="pill-353"/>
          <p:cNvSpPr/>
          <p:nvPr/>
        </p:nvSpPr>
        <p:spPr>
          <a:xfrm>
            <a:off x="3250692" y="5815584"/>
            <a:ext cx="1357884" cy="329184"/>
          </a:xfrm>
          <a:prstGeom prst="roundRect">
            <a:avLst>
              <a:gd name="adj" fmla="val 50000"/>
            </a:avLst>
          </a:prstGeom>
          <a:solidFill>
            <a:srgbClr val="0A1B3D"/>
          </a:solidFill>
          <a:ln w="12700">
            <a:solidFill>
              <a:srgbClr val="0A1B3D"/>
            </a:solidFill>
            <a:prstDash val="solid"/>
          </a:ln>
        </p:spPr>
      </p:sp>
      <p:sp>
        <p:nvSpPr>
          <p:cNvPr id="36" name="text-354"/>
          <p:cNvSpPr txBox="1"/>
          <p:nvPr/>
        </p:nvSpPr>
        <p:spPr>
          <a:xfrm>
            <a:off x="3250692" y="5815584"/>
            <a:ext cx="13578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Edge neural TTS</a:t>
            </a:r>
            <a:endParaRPr lang="en-US" sz="1100" dirty="0"/>
          </a:p>
        </p:txBody>
      </p:sp>
      <p:sp>
        <p:nvSpPr>
          <p:cNvPr id="37" name="pill-355"/>
          <p:cNvSpPr/>
          <p:nvPr/>
        </p:nvSpPr>
        <p:spPr>
          <a:xfrm>
            <a:off x="4718304" y="5815584"/>
            <a:ext cx="1563624" cy="329184"/>
          </a:xfrm>
          <a:prstGeom prst="roundRect">
            <a:avLst>
              <a:gd name="adj" fmla="val 50000"/>
            </a:avLst>
          </a:prstGeom>
          <a:solidFill>
            <a:srgbClr val="0A1B3D"/>
          </a:solidFill>
          <a:ln w="12700">
            <a:solidFill>
              <a:srgbClr val="0A1B3D"/>
            </a:solidFill>
            <a:prstDash val="solid"/>
          </a:ln>
        </p:spPr>
      </p:sp>
      <p:sp>
        <p:nvSpPr>
          <p:cNvPr id="38" name="text-356"/>
          <p:cNvSpPr txBox="1"/>
          <p:nvPr/>
        </p:nvSpPr>
        <p:spPr>
          <a:xfrm>
            <a:off x="4718304" y="5815584"/>
            <a:ext cx="15636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Retry with backoff</a:t>
            </a:r>
            <a:endParaRPr lang="en-US" sz="1100" dirty="0"/>
          </a:p>
        </p:txBody>
      </p:sp>
      <p:sp>
        <p:nvSpPr>
          <p:cNvPr id="39" name="pill-357"/>
          <p:cNvSpPr/>
          <p:nvPr/>
        </p:nvSpPr>
        <p:spPr>
          <a:xfrm>
            <a:off x="6391656" y="5815584"/>
            <a:ext cx="1426464" cy="329184"/>
          </a:xfrm>
          <a:prstGeom prst="roundRect">
            <a:avLst>
              <a:gd name="adj" fmla="val 50000"/>
            </a:avLst>
          </a:prstGeom>
          <a:solidFill>
            <a:srgbClr val="0A1B3D"/>
          </a:solidFill>
          <a:ln w="12700">
            <a:solidFill>
              <a:srgbClr val="0A1B3D"/>
            </a:solidFill>
            <a:prstDash val="solid"/>
          </a:ln>
        </p:spPr>
      </p:sp>
      <p:sp>
        <p:nvSpPr>
          <p:cNvPr id="40" name="text-358"/>
          <p:cNvSpPr txBox="1"/>
          <p:nvPr/>
        </p:nvSpPr>
        <p:spPr>
          <a:xfrm>
            <a:off x="6391656" y="5815584"/>
            <a:ext cx="14264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Kahn's algorithm</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Learner side</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From a published path to an adaptive audio course: processes 7 to 10</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Course package: the path becomes an audio course</a:t>
            </a:r>
            <a:endParaRPr lang="en-US" sz="3000" dirty="0"/>
          </a:p>
        </p:txBody>
      </p:sp>
      <p:sp>
        <p:nvSpPr>
          <p:cNvPr id="3" name="text-359"/>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What the phone needs is built once per publish: audio and questions to play, the answer key kept on the server.</a:t>
            </a:r>
            <a:endParaRPr lang="en-US" sz="1600" dirty="0"/>
          </a:p>
        </p:txBody>
      </p:sp>
      <p:sp>
        <p:nvSpPr>
          <p:cNvPr id="4" name="card-360"/>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361"/>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362"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363"/>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364"/>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365"/>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366"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367"/>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368"/>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369"/>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370"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371"/>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372"/>
          <p:cNvSpPr/>
          <p:nvPr/>
        </p:nvSpPr>
        <p:spPr>
          <a:xfrm>
            <a:off x="3136392" y="3657600"/>
            <a:ext cx="310896" cy="0"/>
          </a:xfrm>
          <a:prstGeom prst="line">
            <a:avLst/>
          </a:prstGeom>
          <a:noFill/>
          <a:ln w="25400">
            <a:solidFill>
              <a:srgbClr val="0A1B3D"/>
            </a:solidFill>
            <a:prstDash val="solid"/>
            <a:tailEnd type="triangle"/>
          </a:ln>
        </p:spPr>
      </p:sp>
      <p:sp>
        <p:nvSpPr>
          <p:cNvPr id="17" name="arrow-373"/>
          <p:cNvSpPr/>
          <p:nvPr/>
        </p:nvSpPr>
        <p:spPr>
          <a:xfrm>
            <a:off x="8759952" y="3657600"/>
            <a:ext cx="310896" cy="0"/>
          </a:xfrm>
          <a:prstGeom prst="line">
            <a:avLst/>
          </a:prstGeom>
          <a:noFill/>
          <a:ln w="25400">
            <a:solidFill>
              <a:srgbClr val="0A1B3D"/>
            </a:solidFill>
            <a:prstDash val="solid"/>
            <a:tailEnd type="triangle"/>
          </a:ln>
        </p:spPr>
      </p:sp>
      <p:sp>
        <p:nvSpPr>
          <p:cNvPr id="18" name="text-374"/>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published learning path</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Audio clips for every version</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Each concept's final question bank and spares</a:t>
            </a:r>
            <a:endParaRPr lang="en-US" sz="1300" dirty="0"/>
          </a:p>
        </p:txBody>
      </p:sp>
      <p:sp>
        <p:nvSpPr>
          <p:cNvPr id="19" name="text-375"/>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TopicPackage: steps + answer key</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Five API endpoints for the phone</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First open 5.9 s → later opens instant</a:t>
            </a:r>
            <a:endParaRPr lang="en-US" sz="1300" dirty="0"/>
          </a:p>
        </p:txBody>
      </p:sp>
      <p:sp>
        <p:nvSpPr>
          <p:cNvPr id="20" name="num-376"/>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377"/>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378"/>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Build once per publish</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The saved package's publish time is compared with the topic's; rebuilt only when they differ.</a:t>
            </a:r>
            <a:endParaRPr lang="en-US" sz="1400" dirty="0"/>
          </a:p>
        </p:txBody>
      </p:sp>
      <p:sp>
        <p:nvSpPr>
          <p:cNvPr id="23" name="num-379"/>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380"/>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381"/>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Keep only what is heard</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Each step keeps its versions as ordered audio clips; text is dropped.</a:t>
            </a:r>
            <a:endParaRPr lang="en-US" sz="1400" dirty="0"/>
          </a:p>
        </p:txBody>
      </p:sp>
      <p:sp>
        <p:nvSpPr>
          <p:cNvPr id="26" name="num-382"/>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383"/>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384"/>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Split questions from answers</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Questions go to the phone without keys; the answer key stays server-side.</a:t>
            </a:r>
            <a:endParaRPr lang="en-US" sz="1400" dirty="0"/>
          </a:p>
        </p:txBody>
      </p:sp>
      <p:sp>
        <p:nvSpPr>
          <p:cNvPr id="29" name="num-385"/>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386"/>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387"/>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Store reserves</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Spare bank questions, used only to replace a missed True/False.</a:t>
            </a:r>
            <a:endParaRPr lang="en-US" sz="1400" dirty="0"/>
          </a:p>
        </p:txBody>
      </p:sp>
      <p:sp>
        <p:nvSpPr>
          <p:cNvPr id="32" name="text-388"/>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389"/>
          <p:cNvSpPr/>
          <p:nvPr/>
        </p:nvSpPr>
        <p:spPr>
          <a:xfrm>
            <a:off x="1645920" y="5815584"/>
            <a:ext cx="1837944" cy="329184"/>
          </a:xfrm>
          <a:prstGeom prst="roundRect">
            <a:avLst>
              <a:gd name="adj" fmla="val 50000"/>
            </a:avLst>
          </a:prstGeom>
          <a:solidFill>
            <a:srgbClr val="0A1B3D"/>
          </a:solidFill>
          <a:ln w="12700">
            <a:solidFill>
              <a:srgbClr val="0A1B3D"/>
            </a:solidFill>
            <a:prstDash val="solid"/>
          </a:ln>
        </p:spPr>
      </p:sp>
      <p:sp>
        <p:nvSpPr>
          <p:cNvPr id="34" name="text-390"/>
          <p:cNvSpPr txBox="1"/>
          <p:nvPr/>
        </p:nvSpPr>
        <p:spPr>
          <a:xfrm>
            <a:off x="1645920" y="5815584"/>
            <a:ext cx="18379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Publish-time cache key</a:t>
            </a:r>
            <a:endParaRPr lang="en-US" sz="1100" dirty="0"/>
          </a:p>
        </p:txBody>
      </p:sp>
      <p:sp>
        <p:nvSpPr>
          <p:cNvPr id="35" name="pill-391"/>
          <p:cNvSpPr/>
          <p:nvPr/>
        </p:nvSpPr>
        <p:spPr>
          <a:xfrm>
            <a:off x="3593592" y="5815584"/>
            <a:ext cx="1632204" cy="329184"/>
          </a:xfrm>
          <a:prstGeom prst="roundRect">
            <a:avLst>
              <a:gd name="adj" fmla="val 50000"/>
            </a:avLst>
          </a:prstGeom>
          <a:solidFill>
            <a:srgbClr val="0A1B3D"/>
          </a:solidFill>
          <a:ln w="12700">
            <a:solidFill>
              <a:srgbClr val="0A1B3D"/>
            </a:solidFill>
            <a:prstDash val="solid"/>
          </a:ln>
        </p:spPr>
      </p:sp>
      <p:sp>
        <p:nvSpPr>
          <p:cNvPr id="36" name="text-392"/>
          <p:cNvSpPr txBox="1"/>
          <p:nvPr/>
        </p:nvSpPr>
        <p:spPr>
          <a:xfrm>
            <a:off x="3593592" y="5815584"/>
            <a:ext cx="16322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Server-side grading</a:t>
            </a:r>
            <a:endParaRPr lang="en-US" sz="1100" dirty="0"/>
          </a:p>
        </p:txBody>
      </p:sp>
      <p:sp>
        <p:nvSpPr>
          <p:cNvPr id="37" name="pill-393"/>
          <p:cNvSpPr/>
          <p:nvPr/>
        </p:nvSpPr>
        <p:spPr>
          <a:xfrm>
            <a:off x="5335524" y="5815584"/>
            <a:ext cx="2523744" cy="329184"/>
          </a:xfrm>
          <a:prstGeom prst="roundRect">
            <a:avLst>
              <a:gd name="adj" fmla="val 50000"/>
            </a:avLst>
          </a:prstGeom>
          <a:solidFill>
            <a:srgbClr val="0A1B3D"/>
          </a:solidFill>
          <a:ln w="12700">
            <a:solidFill>
              <a:srgbClr val="0A1B3D"/>
            </a:solidFill>
            <a:prstDash val="solid"/>
          </a:ln>
        </p:spPr>
      </p:sp>
      <p:sp>
        <p:nvSpPr>
          <p:cNvPr id="38" name="text-394"/>
          <p:cNvSpPr txBox="1"/>
          <p:nvPr/>
        </p:nvSpPr>
        <p:spPr>
          <a:xfrm>
            <a:off x="5335524" y="5815584"/>
            <a:ext cx="25237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REST API (Django REST Framework)</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Mastery: each answer becomes P(knows the concept)</a:t>
            </a:r>
            <a:endParaRPr lang="en-US" sz="3000" dirty="0"/>
          </a:p>
        </p:txBody>
      </p:sp>
      <p:sp>
        <p:nvSpPr>
          <p:cNvPr id="3" name="text-395"/>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Bayesian Knowledge Tracing treats knowing as hidden and every answer as noisy evidence about it.</a:t>
            </a:r>
            <a:endParaRPr lang="en-US" sz="1600" dirty="0"/>
          </a:p>
        </p:txBody>
      </p:sp>
      <p:sp>
        <p:nvSpPr>
          <p:cNvPr id="4" name="card-396"/>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397"/>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398"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399"/>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400"/>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401"/>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402"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403"/>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404"/>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405"/>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406"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407"/>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408"/>
          <p:cNvSpPr/>
          <p:nvPr/>
        </p:nvSpPr>
        <p:spPr>
          <a:xfrm>
            <a:off x="3136392" y="3657600"/>
            <a:ext cx="310896" cy="0"/>
          </a:xfrm>
          <a:prstGeom prst="line">
            <a:avLst/>
          </a:prstGeom>
          <a:noFill/>
          <a:ln w="25400">
            <a:solidFill>
              <a:srgbClr val="0A1B3D"/>
            </a:solidFill>
            <a:prstDash val="solid"/>
            <a:tailEnd type="triangle"/>
          </a:ln>
        </p:spPr>
      </p:sp>
      <p:sp>
        <p:nvSpPr>
          <p:cNvPr id="17" name="arrow-409"/>
          <p:cNvSpPr/>
          <p:nvPr/>
        </p:nvSpPr>
        <p:spPr>
          <a:xfrm>
            <a:off x="8759952" y="3657600"/>
            <a:ext cx="310896" cy="0"/>
          </a:xfrm>
          <a:prstGeom prst="line">
            <a:avLst/>
          </a:prstGeom>
          <a:noFill/>
          <a:ln w="25400">
            <a:solidFill>
              <a:srgbClr val="0A1B3D"/>
            </a:solidFill>
            <a:prstDash val="solid"/>
            <a:tailEnd type="triangle"/>
          </a:ln>
        </p:spPr>
      </p:sp>
      <p:sp>
        <p:nvSpPr>
          <p:cNvPr id="18" name="text-410"/>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Whether the answer was right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Question format (MCQ or True/False)</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Prior mastery of the concept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Weights: G, S, T (admin-tunable)</a:t>
            </a:r>
            <a:endParaRPr lang="en-US" sz="1300" dirty="0"/>
          </a:p>
        </p:txBody>
      </p:sp>
      <p:sp>
        <p:nvSpPr>
          <p:cNvPr id="19" name="text-411"/>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Updated mastery per student per concept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prediction, for measuring accuracy</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 Decision log row</a:t>
            </a:r>
            <a:endParaRPr lang="en-US" sz="1300" dirty="0"/>
          </a:p>
        </p:txBody>
      </p:sp>
      <p:sp>
        <p:nvSpPr>
          <p:cNvPr id="20" name="num-412"/>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413"/>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414"/>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Predict</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P(correct) = L(1−S) + (1−L)G, before seeing the answer; logged as the model's prediction.</a:t>
            </a:r>
            <a:endParaRPr lang="en-US" sz="1400" dirty="0"/>
          </a:p>
        </p:txBody>
      </p:sp>
      <p:sp>
        <p:nvSpPr>
          <p:cNvPr id="23" name="num-415"/>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416"/>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417"/>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Observe (Bayes' rule)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Right: L(1−S)/P(correct) · Wrong: L·S / (1 − P(correct)).</a:t>
            </a:r>
            <a:endParaRPr lang="en-US" sz="1400" dirty="0"/>
          </a:p>
        </p:txBody>
      </p:sp>
      <p:sp>
        <p:nvSpPr>
          <p:cNvPr id="26" name="num-418"/>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419"/>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420"/>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Learn</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L_next = L_obs + (1 − L_obs)·T, capped at 0.99.</a:t>
            </a:r>
            <a:endParaRPr lang="en-US" sz="1400" dirty="0"/>
          </a:p>
        </p:txBody>
      </p:sp>
      <p:sp>
        <p:nvSpPr>
          <p:cNvPr id="29" name="num-421"/>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422"/>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423"/>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Use the right guess rate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G = 0.20 for 4-choice MCQ, 0.45 for True/False, so a lucky T/F counts for less.</a:t>
            </a:r>
            <a:endParaRPr lang="en-US" sz="1400" dirty="0"/>
          </a:p>
        </p:txBody>
      </p:sp>
      <p:sp>
        <p:nvSpPr>
          <p:cNvPr id="32" name="text-424"/>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425"/>
          <p:cNvSpPr/>
          <p:nvPr/>
        </p:nvSpPr>
        <p:spPr>
          <a:xfrm>
            <a:off x="1645920" y="5815584"/>
            <a:ext cx="2112264" cy="329184"/>
          </a:xfrm>
          <a:prstGeom prst="roundRect">
            <a:avLst>
              <a:gd name="adj" fmla="val 50000"/>
            </a:avLst>
          </a:prstGeom>
          <a:solidFill>
            <a:srgbClr val="0A1B3D"/>
          </a:solidFill>
          <a:ln w="12700">
            <a:solidFill>
              <a:srgbClr val="0A1B3D"/>
            </a:solidFill>
            <a:prstDash val="solid"/>
          </a:ln>
        </p:spPr>
      </p:sp>
      <p:sp>
        <p:nvSpPr>
          <p:cNvPr id="34" name="text-426"/>
          <p:cNvSpPr txBox="1"/>
          <p:nvPr/>
        </p:nvSpPr>
        <p:spPr>
          <a:xfrm>
            <a:off x="1645920" y="5815584"/>
            <a:ext cx="21122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Bayesian Knowledge Tracing</a:t>
            </a:r>
            <a:endParaRPr lang="en-US" sz="1100" dirty="0"/>
          </a:p>
        </p:txBody>
      </p:sp>
      <p:sp>
        <p:nvSpPr>
          <p:cNvPr id="35" name="pill-427"/>
          <p:cNvSpPr/>
          <p:nvPr/>
        </p:nvSpPr>
        <p:spPr>
          <a:xfrm>
            <a:off x="3867912" y="5815584"/>
            <a:ext cx="1632204" cy="329184"/>
          </a:xfrm>
          <a:prstGeom prst="roundRect">
            <a:avLst>
              <a:gd name="adj" fmla="val 50000"/>
            </a:avLst>
          </a:prstGeom>
          <a:solidFill>
            <a:srgbClr val="0A1B3D"/>
          </a:solidFill>
          <a:ln w="12700">
            <a:solidFill>
              <a:srgbClr val="0A1B3D"/>
            </a:solidFill>
            <a:prstDash val="solid"/>
          </a:ln>
        </p:spPr>
      </p:sp>
      <p:sp>
        <p:nvSpPr>
          <p:cNvPr id="36" name="text-428"/>
          <p:cNvSpPr txBox="1"/>
          <p:nvPr/>
        </p:nvSpPr>
        <p:spPr>
          <a:xfrm>
            <a:off x="3867912" y="5815584"/>
            <a:ext cx="16322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Hidden Markov model</a:t>
            </a:r>
            <a:endParaRPr lang="en-US" sz="1100" dirty="0"/>
          </a:p>
        </p:txBody>
      </p:sp>
      <p:sp>
        <p:nvSpPr>
          <p:cNvPr id="37" name="pill-429"/>
          <p:cNvSpPr/>
          <p:nvPr/>
        </p:nvSpPr>
        <p:spPr>
          <a:xfrm>
            <a:off x="5609844" y="5815584"/>
            <a:ext cx="1083564" cy="329184"/>
          </a:xfrm>
          <a:prstGeom prst="roundRect">
            <a:avLst>
              <a:gd name="adj" fmla="val 50000"/>
            </a:avLst>
          </a:prstGeom>
          <a:solidFill>
            <a:srgbClr val="0A1B3D"/>
          </a:solidFill>
          <a:ln w="12700">
            <a:solidFill>
              <a:srgbClr val="0A1B3D"/>
            </a:solidFill>
            <a:prstDash val="solid"/>
          </a:ln>
        </p:spPr>
      </p:sp>
      <p:sp>
        <p:nvSpPr>
          <p:cNvPr id="38" name="text-430"/>
          <p:cNvSpPr txBox="1"/>
          <p:nvPr/>
        </p:nvSpPr>
        <p:spPr>
          <a:xfrm>
            <a:off x="5609844" y="5815584"/>
            <a:ext cx="10835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Bayes' rule</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One answer, scored: the worked numbers</a:t>
            </a:r>
            <a:endParaRPr lang="en-US" sz="3000" dirty="0"/>
          </a:p>
        </p:txBody>
      </p:sp>
      <p:graphicFrame>
        <p:nvGraphicFramePr>
          <p:cNvPr id="3" name="chart-bkt" descr=""/>
          <p:cNvGraphicFramePr/>
          <p:nvPr/>
        </p:nvGraphicFramePr>
        <p:xfrm>
          <a:off x="548640" y="132588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card-431"/>
          <p:cNvSpPr/>
          <p:nvPr/>
        </p:nvSpPr>
        <p:spPr>
          <a:xfrm>
            <a:off x="6949440" y="1325880"/>
            <a:ext cx="4663440" cy="4480560"/>
          </a:xfrm>
          <a:prstGeom prst="roundRect">
            <a:avLst>
              <a:gd name="adj" fmla="val 2449"/>
            </a:avLst>
          </a:prstGeom>
          <a:solidFill>
            <a:srgbClr val="EFF4FE"/>
          </a:solidFill>
          <a:ln w="12700">
            <a:solidFill>
              <a:srgbClr val="EFF4FE"/>
            </a:solidFill>
            <a:prstDash val="solid"/>
          </a:ln>
        </p:spPr>
      </p:sp>
      <p:sp>
        <p:nvSpPr>
          <p:cNvPr id="5" name="text-432"/>
          <p:cNvSpPr txBox="1"/>
          <p:nvPr/>
        </p:nvSpPr>
        <p:spPr>
          <a:xfrm>
            <a:off x="7178040" y="1463040"/>
            <a:ext cx="4206240" cy="548640"/>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MCQ answered right · L = 0.30, G = 0.20, S = 0.10, T = 0.15</a:t>
            </a:r>
            <a:endParaRPr lang="en-US" sz="1400" dirty="0"/>
          </a:p>
        </p:txBody>
      </p:sp>
      <p:sp>
        <p:nvSpPr>
          <p:cNvPr id="6" name="card-433"/>
          <p:cNvSpPr/>
          <p:nvPr/>
        </p:nvSpPr>
        <p:spPr>
          <a:xfrm>
            <a:off x="7178040" y="2057400"/>
            <a:ext cx="4206240" cy="1188720"/>
          </a:xfrm>
          <a:prstGeom prst="roundRect">
            <a:avLst>
              <a:gd name="adj" fmla="val 9231"/>
            </a:avLst>
          </a:prstGeom>
          <a:solidFill>
            <a:srgbClr val="0A1B3D"/>
          </a:solidFill>
          <a:ln w="12700">
            <a:solidFill>
              <a:srgbClr val="0A1B3D"/>
            </a:solidFill>
            <a:prstDash val="solid"/>
          </a:ln>
        </p:spPr>
      </p:sp>
      <p:sp>
        <p:nvSpPr>
          <p:cNvPr id="7" name="text-434"/>
          <p:cNvSpPr txBox="1"/>
          <p:nvPr/>
        </p:nvSpPr>
        <p:spPr>
          <a:xfrm>
            <a:off x="7379208" y="2148840"/>
            <a:ext cx="3803904" cy="100584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predict   .27 + .14       = 0.41</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knew it   .27 / .41       = 0.659</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learned   .659 + .341·.15 = 0.71</a:t>
            </a:r>
            <a:endParaRPr lang="en-US" sz="1300" dirty="0"/>
          </a:p>
        </p:txBody>
      </p:sp>
      <p:sp>
        <p:nvSpPr>
          <p:cNvPr id="8" name="text-435"/>
          <p:cNvSpPr txBox="1"/>
          <p:nvPr/>
        </p:nvSpPr>
        <p:spPr>
          <a:xfrm>
            <a:off x="7178040" y="3429000"/>
            <a:ext cx="4206240" cy="365760"/>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MCQ answered wrong</a:t>
            </a:r>
            <a:endParaRPr lang="en-US" sz="1400" dirty="0"/>
          </a:p>
        </p:txBody>
      </p:sp>
      <p:sp>
        <p:nvSpPr>
          <p:cNvPr id="9" name="card-436"/>
          <p:cNvSpPr/>
          <p:nvPr/>
        </p:nvSpPr>
        <p:spPr>
          <a:xfrm>
            <a:off x="7178040" y="3840480"/>
            <a:ext cx="4206240" cy="914400"/>
          </a:xfrm>
          <a:prstGeom prst="roundRect">
            <a:avLst>
              <a:gd name="adj" fmla="val 12000"/>
            </a:avLst>
          </a:prstGeom>
          <a:solidFill>
            <a:srgbClr val="0A1B3D"/>
          </a:solidFill>
          <a:ln w="12700">
            <a:solidFill>
              <a:srgbClr val="0A1B3D"/>
            </a:solidFill>
            <a:prstDash val="solid"/>
          </a:ln>
        </p:spPr>
      </p:sp>
      <p:sp>
        <p:nvSpPr>
          <p:cNvPr id="10" name="text-437"/>
          <p:cNvSpPr txBox="1"/>
          <p:nvPr/>
        </p:nvSpPr>
        <p:spPr>
          <a:xfrm>
            <a:off x="7379208" y="3931920"/>
            <a:ext cx="3803904" cy="73152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knew it   .03 / .59       = 0.051</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learned   .051 + .949·.15 = 0.19</a:t>
            </a:r>
            <a:endParaRPr lang="en-US" sz="1300" dirty="0"/>
          </a:p>
        </p:txBody>
      </p:sp>
      <p:sp>
        <p:nvSpPr>
          <p:cNvPr id="11" name="text-438"/>
          <p:cNvSpPr txBox="1"/>
          <p:nvPr/>
        </p:nvSpPr>
        <p:spPr>
          <a:xfrm>
            <a:off x="7178040" y="4937760"/>
            <a:ext cx="4206240" cy="731520"/>
          </a:xfrm>
          <a:prstGeom prst="rect">
            <a:avLst/>
          </a:prstGeom>
          <a:noFill/>
          <a:ln/>
        </p:spPr>
        <p:txBody>
          <a:bodyPr wrap="square" lIns="0" tIns="0" rIns="0" bIns="0" rtlCol="0" anchor="t"/>
          <a:lstStyle/>
          <a:p>
            <a:pPr indent="0" marL="0">
              <a:buNone/>
            </a:pPr>
            <a:r>
              <a:rPr lang="en-US" sz="1300" i="1" dirty="0">
                <a:solidFill>
                  <a:srgbClr val="1A47A8"/>
                </a:solidFill>
                <a:latin typeface="Calibri" pitchFamily="34" charset="0"/>
                <a:ea typeface="Calibri" pitchFamily="34" charset="-122"/>
                <a:cs typeface="Calibri" pitchFamily="34" charset="-120"/>
              </a:rPr>
              <a:t>A right True/False reaches only 0.54: with G = 0.45, a guess explains more of it.</a:t>
            </a:r>
            <a:endParaRPr lang="en-US" sz="13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Cold start: a stranger becomes a known learner</a:t>
            </a:r>
            <a:endParaRPr lang="en-US" sz="3000" dirty="0"/>
          </a:p>
        </p:txBody>
      </p:sp>
      <p:sp>
        <p:nvSpPr>
          <p:cNvPr id="3" name="text-439"/>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A new student starts on population averages; their own answers take over as evidence accumulates.</a:t>
            </a:r>
            <a:endParaRPr lang="en-US" sz="1600" dirty="0"/>
          </a:p>
        </p:txBody>
      </p:sp>
      <p:sp>
        <p:nvSpPr>
          <p:cNvPr id="4" name="card-440"/>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441"/>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442"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443"/>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444"/>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445"/>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446"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447"/>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448"/>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449"/>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450"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451"/>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452"/>
          <p:cNvSpPr/>
          <p:nvPr/>
        </p:nvSpPr>
        <p:spPr>
          <a:xfrm>
            <a:off x="3136392" y="3657600"/>
            <a:ext cx="310896" cy="0"/>
          </a:xfrm>
          <a:prstGeom prst="line">
            <a:avLst/>
          </a:prstGeom>
          <a:noFill/>
          <a:ln w="25400">
            <a:solidFill>
              <a:srgbClr val="0A1B3D"/>
            </a:solidFill>
            <a:prstDash val="solid"/>
            <a:tailEnd type="triangle"/>
          </a:ln>
        </p:spPr>
      </p:sp>
      <p:sp>
        <p:nvSpPr>
          <p:cNvPr id="17" name="arrow-453"/>
          <p:cNvSpPr/>
          <p:nvPr/>
        </p:nvSpPr>
        <p:spPr>
          <a:xfrm>
            <a:off x="8759952" y="3657600"/>
            <a:ext cx="310896" cy="0"/>
          </a:xfrm>
          <a:prstGeom prst="line">
            <a:avLst/>
          </a:prstGeom>
          <a:noFill/>
          <a:ln w="25400">
            <a:solidFill>
              <a:srgbClr val="0A1B3D"/>
            </a:solidFill>
            <a:prstDash val="solid"/>
            <a:tailEnd type="triangle"/>
          </a:ln>
        </p:spPr>
      </p:sp>
      <p:sp>
        <p:nvSpPr>
          <p:cNvPr id="18" name="text-454"/>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Population weights (L₀ 0.30, G, S, T, prior weight 10)</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student's total and correct answers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First answers on each new concept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Prerequisite mastery</a:t>
            </a:r>
            <a:endParaRPr lang="en-US" sz="1300" dirty="0"/>
          </a:p>
        </p:txBody>
      </p:sp>
      <p:sp>
        <p:nvSpPr>
          <p:cNvPr id="19" name="text-455"/>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StudentBaseline: ability, L₀, calibrated + when</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Personal starting mastery per new concept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Decision rows tagged calibrating / calibrated</a:t>
            </a:r>
            <a:endParaRPr lang="en-US" sz="1300" dirty="0"/>
          </a:p>
        </p:txBody>
      </p:sp>
      <p:sp>
        <p:nvSpPr>
          <p:cNvPr id="20" name="num-456"/>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457"/>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458"/>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Shrink toward the population</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ability = (0.41 × 10 + correct) / (10 + answers): the average counts as 10 imaginary answers.</a:t>
            </a:r>
            <a:endParaRPr lang="en-US" sz="1400" dirty="0"/>
          </a:p>
        </p:txBody>
      </p:sp>
      <p:sp>
        <p:nvSpPr>
          <p:cNvPr id="23" name="num-459"/>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460"/>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461"/>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Invert first tries into L₀</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L₀ = (rate − G) / (1 − S − G), first answers only; clamped to 0.01–0.95.</a:t>
            </a:r>
            <a:endParaRPr lang="en-US" sz="1400" dirty="0"/>
          </a:p>
        </p:txBody>
      </p:sp>
      <p:sp>
        <p:nvSpPr>
          <p:cNvPr id="26" name="num-462"/>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463"/>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464"/>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Personal starting mastery</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new concept starts at the mean of the student's L₀ and their prerequisites' mastery.</a:t>
            </a:r>
            <a:endParaRPr lang="en-US" sz="1400" dirty="0"/>
          </a:p>
        </p:txBody>
      </p:sp>
      <p:sp>
        <p:nvSpPr>
          <p:cNvPr id="29" name="num-465"/>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466"/>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467"/>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Calibrate</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Margin = 1.96·√(p(1−p)/n); calibrated once ≤ ±0.15 (95% confidence).</a:t>
            </a:r>
            <a:endParaRPr lang="en-US" sz="1400" dirty="0"/>
          </a:p>
        </p:txBody>
      </p:sp>
      <p:sp>
        <p:nvSpPr>
          <p:cNvPr id="32" name="text-468"/>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469"/>
          <p:cNvSpPr/>
          <p:nvPr/>
        </p:nvSpPr>
        <p:spPr>
          <a:xfrm>
            <a:off x="1645920" y="5815584"/>
            <a:ext cx="2455164" cy="329184"/>
          </a:xfrm>
          <a:prstGeom prst="roundRect">
            <a:avLst>
              <a:gd name="adj" fmla="val 50000"/>
            </a:avLst>
          </a:prstGeom>
          <a:solidFill>
            <a:srgbClr val="0A1B3D"/>
          </a:solidFill>
          <a:ln w="12700">
            <a:solidFill>
              <a:srgbClr val="0A1B3D"/>
            </a:solidFill>
            <a:prstDash val="solid"/>
          </a:ln>
        </p:spPr>
      </p:sp>
      <p:sp>
        <p:nvSpPr>
          <p:cNvPr id="34" name="text-470"/>
          <p:cNvSpPr txBox="1"/>
          <p:nvPr/>
        </p:nvSpPr>
        <p:spPr>
          <a:xfrm>
            <a:off x="1645920" y="5815584"/>
            <a:ext cx="245516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Bayesian shrinkage (Beta prior)</a:t>
            </a:r>
            <a:endParaRPr lang="en-US" sz="1100" dirty="0"/>
          </a:p>
        </p:txBody>
      </p:sp>
      <p:sp>
        <p:nvSpPr>
          <p:cNvPr id="35" name="pill-471"/>
          <p:cNvSpPr/>
          <p:nvPr/>
        </p:nvSpPr>
        <p:spPr>
          <a:xfrm>
            <a:off x="4210812" y="5815584"/>
            <a:ext cx="1220724" cy="329184"/>
          </a:xfrm>
          <a:prstGeom prst="roundRect">
            <a:avLst>
              <a:gd name="adj" fmla="val 50000"/>
            </a:avLst>
          </a:prstGeom>
          <a:solidFill>
            <a:srgbClr val="0A1B3D"/>
          </a:solidFill>
          <a:ln w="12700">
            <a:solidFill>
              <a:srgbClr val="0A1B3D"/>
            </a:solidFill>
            <a:prstDash val="solid"/>
          </a:ln>
        </p:spPr>
      </p:sp>
      <p:sp>
        <p:nvSpPr>
          <p:cNvPr id="36" name="text-472"/>
          <p:cNvSpPr txBox="1"/>
          <p:nvPr/>
        </p:nvSpPr>
        <p:spPr>
          <a:xfrm>
            <a:off x="4210812" y="5815584"/>
            <a:ext cx="12207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BKT inversion</a:t>
            </a:r>
            <a:endParaRPr lang="en-US" sz="1100" dirty="0"/>
          </a:p>
        </p:txBody>
      </p:sp>
      <p:sp>
        <p:nvSpPr>
          <p:cNvPr id="37" name="pill-473"/>
          <p:cNvSpPr/>
          <p:nvPr/>
        </p:nvSpPr>
        <p:spPr>
          <a:xfrm>
            <a:off x="5541264" y="5815584"/>
            <a:ext cx="2180844" cy="329184"/>
          </a:xfrm>
          <a:prstGeom prst="roundRect">
            <a:avLst>
              <a:gd name="adj" fmla="val 50000"/>
            </a:avLst>
          </a:prstGeom>
          <a:solidFill>
            <a:srgbClr val="0A1B3D"/>
          </a:solidFill>
          <a:ln w="12700">
            <a:solidFill>
              <a:srgbClr val="0A1B3D"/>
            </a:solidFill>
            <a:prstDash val="solid"/>
          </a:ln>
        </p:spPr>
      </p:sp>
      <p:sp>
        <p:nvSpPr>
          <p:cNvPr id="38" name="text-474"/>
          <p:cNvSpPr txBox="1"/>
          <p:nvPr/>
        </p:nvSpPr>
        <p:spPr>
          <a:xfrm>
            <a:off x="5541264" y="5815584"/>
            <a:ext cx="21808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Normal-approximation margin</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fast the stranger is learned</a:t>
            </a:r>
            <a:endParaRPr lang="en-US" sz="3000" dirty="0"/>
          </a:p>
        </p:txBody>
      </p:sp>
      <p:graphicFrame>
        <p:nvGraphicFramePr>
          <p:cNvPr id="3" name="chart-shrink" descr=""/>
          <p:cNvGraphicFramePr/>
          <p:nvPr/>
        </p:nvGraphicFramePr>
        <p:xfrm>
          <a:off x="548640" y="132588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4" name="text-475"/>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800" b="1" dirty="0">
                <a:solidFill>
                  <a:srgbClr val="0A1B3D"/>
                </a:solidFill>
                <a:latin typeface="Cambria" pitchFamily="34" charset="0"/>
                <a:ea typeface="Cambria" pitchFamily="34" charset="-122"/>
                <a:cs typeface="Cambria" pitchFamily="34" charset="-120"/>
              </a:rPr>
              <a:t>Answers needed to calibrate</a:t>
            </a:r>
            <a:endParaRPr lang="en-US" sz="1800" dirty="0"/>
          </a:p>
        </p:txBody>
      </p:sp>
      <p:graphicFrame>
        <p:nvGraphicFramePr>
          <p:cNvPr id="21" name="table-476"/>
          <p:cNvGraphicFramePr>
            <a:graphicFrameLocks noGrp="1"/>
          </p:cNvGraphicFramePr>
          <p:nvPr>
            <p:extLst>
              <p:ext uri="{D42A27DB-BD31-4B8C-83A1-F6EECF244321}">
                <p14:modId xmlns:p14="http://schemas.microsoft.com/office/powerpoint/2010/main" val="1579011935"/>
              </p:ext>
            </p:extLst>
          </p:nvPr>
        </p:nvGraphicFramePr>
        <p:xfrm>
          <a:off x="6400800" y="1828800"/>
          <a:ext cx="5212080" cy="914400"/>
        </p:xfrm>
        <a:graphic>
          <a:graphicData uri="http://schemas.openxmlformats.org/drawingml/2006/table">
            <a:tbl>
              <a:tblPr/>
              <a:tblGrid>
                <a:gridCol w="1645920"/>
                <a:gridCol w="1463040"/>
                <a:gridCol w="21031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Student's p</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p(1 − p)</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 to ±0.15</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457200">
                <a:tc>
                  <a:txBody>
                    <a:bodyPr/>
                    <a:lstStyle/>
                    <a:p>
                      <a:pPr algn="l" indent="0" marL="0">
                        <a:buNone/>
                      </a:pPr>
                      <a:r>
                        <a:rPr lang="en-US" sz="1400" b="1" dirty="0">
                          <a:solidFill>
                            <a:srgbClr val="0A1B3D"/>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43</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A1B3D"/>
                          </a:solidFill>
                          <a:latin typeface="Calibri" pitchFamily="34" charset="0"/>
                          <a:ea typeface="Calibri" pitchFamily="34" charset="-122"/>
                          <a:cs typeface="Calibri" pitchFamily="34" charset="-120"/>
                        </a:rPr>
                        <a:t>0.70</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0.21</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36</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r h="457200">
                <a:tc>
                  <a:txBody>
                    <a:bodyPr/>
                    <a:lstStyle/>
                    <a:p>
                      <a:pPr algn="l" indent="0" marL="0">
                        <a:buNone/>
                      </a:pPr>
                      <a:r>
                        <a:rPr lang="en-US" sz="1400" b="1" dirty="0">
                          <a:solidFill>
                            <a:srgbClr val="0A1B3D"/>
                          </a:solidFill>
                          <a:latin typeface="Calibri" pitchFamily="34" charset="0"/>
                          <a:ea typeface="Calibri" pitchFamily="34" charset="-122"/>
                          <a:cs typeface="Calibri" pitchFamily="34" charset="-120"/>
                        </a:rPr>
                        <a:t>0.85</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0.13</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61A"/>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6" name="card-477"/>
          <p:cNvSpPr/>
          <p:nvPr/>
        </p:nvSpPr>
        <p:spPr>
          <a:xfrm>
            <a:off x="6400800" y="3886200"/>
            <a:ext cx="5212080" cy="594360"/>
          </a:xfrm>
          <a:prstGeom prst="roundRect">
            <a:avLst>
              <a:gd name="adj" fmla="val 18462"/>
            </a:avLst>
          </a:prstGeom>
          <a:solidFill>
            <a:srgbClr val="0A1B3D"/>
          </a:solidFill>
          <a:ln w="12700">
            <a:solidFill>
              <a:srgbClr val="0A1B3D"/>
            </a:solidFill>
            <a:prstDash val="solid"/>
          </a:ln>
        </p:spPr>
      </p:sp>
      <p:sp>
        <p:nvSpPr>
          <p:cNvPr id="7" name="text-478"/>
          <p:cNvSpPr txBox="1"/>
          <p:nvPr/>
        </p:nvSpPr>
        <p:spPr>
          <a:xfrm>
            <a:off x="6601968" y="3977640"/>
            <a:ext cx="4809744" cy="41148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n ≥ (1.96 / 0.15)² × p(1 − p) ≈ 171 × p(1 − p)</a:t>
            </a:r>
            <a:endParaRPr lang="en-US" sz="1300" dirty="0"/>
          </a:p>
        </p:txBody>
      </p:sp>
      <p:sp>
        <p:nvSpPr>
          <p:cNvPr id="8" name="text-479"/>
          <p:cNvSpPr txBox="1"/>
          <p:nvPr/>
        </p:nvSpPr>
        <p:spPr>
          <a:xfrm>
            <a:off x="6400800" y="4663440"/>
            <a:ext cx="5212080" cy="82296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About one to two topics. Students near 50% take longest: their answers are the least predictable.</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10 · Rule gating: a graded answer becomes the next command</a:t>
            </a:r>
            <a:endParaRPr lang="en-US" sz="3000" dirty="0"/>
          </a:p>
        </p:txBody>
      </p:sp>
      <p:sp>
        <p:nvSpPr>
          <p:cNvPr id="3" name="text-480"/>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During calibration a fixed ladder, the same for every student, decides what the learner hears next.</a:t>
            </a:r>
            <a:endParaRPr lang="en-US" sz="1600" dirty="0"/>
          </a:p>
        </p:txBody>
      </p:sp>
      <p:sp>
        <p:nvSpPr>
          <p:cNvPr id="4" name="card-481"/>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482"/>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483"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484"/>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485"/>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486"/>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487"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488"/>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489"/>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490"/>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491"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492"/>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493"/>
          <p:cNvSpPr/>
          <p:nvPr/>
        </p:nvSpPr>
        <p:spPr>
          <a:xfrm>
            <a:off x="3136392" y="3657600"/>
            <a:ext cx="310896" cy="0"/>
          </a:xfrm>
          <a:prstGeom prst="line">
            <a:avLst/>
          </a:prstGeom>
          <a:noFill/>
          <a:ln w="25400">
            <a:solidFill>
              <a:srgbClr val="0A1B3D"/>
            </a:solidFill>
            <a:prstDash val="solid"/>
            <a:tailEnd type="triangle"/>
          </a:ln>
        </p:spPr>
      </p:sp>
      <p:sp>
        <p:nvSpPr>
          <p:cNvPr id="17" name="arrow-494"/>
          <p:cNvSpPr/>
          <p:nvPr/>
        </p:nvSpPr>
        <p:spPr>
          <a:xfrm>
            <a:off x="8759952" y="3657600"/>
            <a:ext cx="310896" cy="0"/>
          </a:xfrm>
          <a:prstGeom prst="line">
            <a:avLst/>
          </a:prstGeom>
          <a:noFill/>
          <a:ln w="25400">
            <a:solidFill>
              <a:srgbClr val="0A1B3D"/>
            </a:solidFill>
            <a:prstDash val="solid"/>
            <a:tailEnd type="triangle"/>
          </a:ln>
        </p:spPr>
      </p:sp>
      <p:sp>
        <p:nvSpPr>
          <p:cNvPr id="18" name="text-495"/>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Right or wrong, and the question format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Current explanation type (Standard / Simplified / Elaborated)</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Open and reserve questions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Return point and used detours</a:t>
            </a:r>
            <a:endParaRPr lang="en-US" sz="1300" dirty="0"/>
          </a:p>
        </p:txBody>
      </p:sp>
      <p:sp>
        <p:nvSpPr>
          <p:cNvPr id="19" name="text-496"/>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 command: action, step, version, question</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Whether audio plays</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new position, saved atomically</a:t>
            </a:r>
            <a:endParaRPr lang="en-US" sz="1300" dirty="0"/>
          </a:p>
        </p:txBody>
      </p:sp>
      <p:sp>
        <p:nvSpPr>
          <p:cNvPr id="20" name="num-497"/>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498"/>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499"/>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Right</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Ask the concept's next open question; when none is left, advance (or resume after a detour).</a:t>
            </a:r>
            <a:endParaRPr lang="en-US" sz="1400" dirty="0"/>
          </a:p>
        </p:txBody>
      </p:sp>
      <p:sp>
        <p:nvSpPr>
          <p:cNvPr id="23" name="num-500"/>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501"/>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502"/>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Wrong: re-teach first</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Never re-ask at once: escalate Standard → Simplified → Elaborated, then ask again.</a:t>
            </a:r>
            <a:endParaRPr lang="en-US" sz="1400" dirty="0"/>
          </a:p>
        </p:txBody>
      </p:sp>
      <p:sp>
        <p:nvSpPr>
          <p:cNvPr id="26" name="num-503"/>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504"/>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505"/>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True/False fairness</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A missed T/F is spent; after the re-teach ask a different open or reserve question.</a:t>
            </a:r>
            <a:endParaRPr lang="en-US" sz="1400" dirty="0"/>
          </a:p>
        </p:txBody>
      </p:sp>
      <p:sp>
        <p:nvSpPr>
          <p:cNvPr id="29" name="num-506"/>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507"/>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508"/>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Then detour, then move on</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Regress to the nearest prerequisite once, resume; if all else fails, move on.</a:t>
            </a:r>
            <a:endParaRPr lang="en-US" sz="1400" dirty="0"/>
          </a:p>
        </p:txBody>
      </p:sp>
      <p:sp>
        <p:nvSpPr>
          <p:cNvPr id="32" name="text-509"/>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510"/>
          <p:cNvSpPr/>
          <p:nvPr/>
        </p:nvSpPr>
        <p:spPr>
          <a:xfrm>
            <a:off x="1645920" y="5815584"/>
            <a:ext cx="1975104" cy="329184"/>
          </a:xfrm>
          <a:prstGeom prst="roundRect">
            <a:avLst>
              <a:gd name="adj" fmla="val 50000"/>
            </a:avLst>
          </a:prstGeom>
          <a:solidFill>
            <a:srgbClr val="0A1B3D"/>
          </a:solidFill>
          <a:ln w="12700">
            <a:solidFill>
              <a:srgbClr val="0A1B3D"/>
            </a:solidFill>
            <a:prstDash val="solid"/>
          </a:ln>
        </p:spPr>
      </p:sp>
      <p:sp>
        <p:nvSpPr>
          <p:cNvPr id="34" name="text-511"/>
          <p:cNvSpPr txBox="1"/>
          <p:nvPr/>
        </p:nvSpPr>
        <p:spPr>
          <a:xfrm>
            <a:off x="1645920" y="5815584"/>
            <a:ext cx="19751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Fixed remediation ladder</a:t>
            </a:r>
            <a:endParaRPr lang="en-US" sz="1100" dirty="0"/>
          </a:p>
        </p:txBody>
      </p:sp>
      <p:sp>
        <p:nvSpPr>
          <p:cNvPr id="35" name="pill-512"/>
          <p:cNvSpPr/>
          <p:nvPr/>
        </p:nvSpPr>
        <p:spPr>
          <a:xfrm>
            <a:off x="3730752" y="5815584"/>
            <a:ext cx="1632204" cy="329184"/>
          </a:xfrm>
          <a:prstGeom prst="roundRect">
            <a:avLst>
              <a:gd name="adj" fmla="val 50000"/>
            </a:avLst>
          </a:prstGeom>
          <a:solidFill>
            <a:srgbClr val="0A1B3D"/>
          </a:solidFill>
          <a:ln w="12700">
            <a:solidFill>
              <a:srgbClr val="0A1B3D"/>
            </a:solidFill>
            <a:prstDash val="solid"/>
          </a:ln>
        </p:spPr>
      </p:sp>
      <p:sp>
        <p:nvSpPr>
          <p:cNvPr id="36" name="text-513"/>
          <p:cNvSpPr txBox="1"/>
          <p:nvPr/>
        </p:nvSpPr>
        <p:spPr>
          <a:xfrm>
            <a:off x="3730752" y="5815584"/>
            <a:ext cx="16322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Prerequisite lookup</a:t>
            </a:r>
            <a:endParaRPr lang="en-US" sz="1100" dirty="0"/>
          </a:p>
        </p:txBody>
      </p:sp>
      <p:sp>
        <p:nvSpPr>
          <p:cNvPr id="37" name="pill-514"/>
          <p:cNvSpPr/>
          <p:nvPr/>
        </p:nvSpPr>
        <p:spPr>
          <a:xfrm>
            <a:off x="5472684" y="5815584"/>
            <a:ext cx="1563624" cy="329184"/>
          </a:xfrm>
          <a:prstGeom prst="roundRect">
            <a:avLst>
              <a:gd name="adj" fmla="val 50000"/>
            </a:avLst>
          </a:prstGeom>
          <a:solidFill>
            <a:srgbClr val="0A1B3D"/>
          </a:solidFill>
          <a:ln w="12700">
            <a:solidFill>
              <a:srgbClr val="0A1B3D"/>
            </a:solidFill>
            <a:prstDash val="solid"/>
          </a:ln>
        </p:spPr>
      </p:sp>
      <p:sp>
        <p:nvSpPr>
          <p:cNvPr id="38" name="text-515"/>
          <p:cNvSpPr txBox="1"/>
          <p:nvPr/>
        </p:nvSpPr>
        <p:spPr>
          <a:xfrm>
            <a:off x="5472684" y="5815584"/>
            <a:ext cx="15636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Atomic transaction</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ladder: re-teach before re-asking</a:t>
            </a:r>
            <a:endParaRPr lang="en-US" sz="3000" dirty="0"/>
          </a:p>
        </p:txBody>
      </p:sp>
      <p:sp>
        <p:nvSpPr>
          <p:cNvPr id="3" name="node-516"/>
          <p:cNvSpPr/>
          <p:nvPr/>
        </p:nvSpPr>
        <p:spPr>
          <a:xfrm>
            <a:off x="548640" y="1828800"/>
            <a:ext cx="2377440" cy="640080"/>
          </a:xfrm>
          <a:prstGeom prst="roundRect">
            <a:avLst>
              <a:gd name="adj" fmla="val 17143"/>
            </a:avLst>
          </a:prstGeom>
          <a:solidFill>
            <a:srgbClr val="0A1B3D"/>
          </a:solidFill>
          <a:ln w="12700">
            <a:solidFill>
              <a:srgbClr val="0A1B3D"/>
            </a:solidFill>
            <a:prstDash val="solid"/>
          </a:ln>
        </p:spPr>
      </p:sp>
      <p:sp>
        <p:nvSpPr>
          <p:cNvPr id="4" name="text-517"/>
          <p:cNvSpPr txBox="1"/>
          <p:nvPr/>
        </p:nvSpPr>
        <p:spPr>
          <a:xfrm>
            <a:off x="658368" y="1828800"/>
            <a:ext cx="215798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 graded</a:t>
            </a:r>
            <a:endParaRPr lang="en-US" sz="1400" dirty="0"/>
          </a:p>
        </p:txBody>
      </p:sp>
      <p:sp>
        <p:nvSpPr>
          <p:cNvPr id="5" name="node-518"/>
          <p:cNvSpPr/>
          <p:nvPr/>
        </p:nvSpPr>
        <p:spPr>
          <a:xfrm>
            <a:off x="3429000" y="1371600"/>
            <a:ext cx="1554480" cy="594360"/>
          </a:xfrm>
          <a:prstGeom prst="roundRect">
            <a:avLst>
              <a:gd name="adj" fmla="val 18462"/>
            </a:avLst>
          </a:prstGeom>
          <a:solidFill>
            <a:srgbClr val="157A4F"/>
          </a:solidFill>
          <a:ln w="12700">
            <a:solidFill>
              <a:srgbClr val="157A4F"/>
            </a:solidFill>
            <a:prstDash val="solid"/>
          </a:ln>
        </p:spPr>
      </p:sp>
      <p:sp>
        <p:nvSpPr>
          <p:cNvPr id="6" name="text-519"/>
          <p:cNvSpPr txBox="1"/>
          <p:nvPr/>
        </p:nvSpPr>
        <p:spPr>
          <a:xfrm>
            <a:off x="3538728" y="1371600"/>
            <a:ext cx="1335024"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Right</a:t>
            </a:r>
            <a:endParaRPr lang="en-US" sz="1400" dirty="0"/>
          </a:p>
        </p:txBody>
      </p:sp>
      <p:sp>
        <p:nvSpPr>
          <p:cNvPr id="7" name="node-520"/>
          <p:cNvSpPr/>
          <p:nvPr/>
        </p:nvSpPr>
        <p:spPr>
          <a:xfrm>
            <a:off x="3429000" y="2331720"/>
            <a:ext cx="1554480" cy="594360"/>
          </a:xfrm>
          <a:prstGeom prst="roundRect">
            <a:avLst>
              <a:gd name="adj" fmla="val 18462"/>
            </a:avLst>
          </a:prstGeom>
          <a:solidFill>
            <a:srgbClr val="B5271B"/>
          </a:solidFill>
          <a:ln w="12700">
            <a:solidFill>
              <a:srgbClr val="B5271B"/>
            </a:solidFill>
            <a:prstDash val="solid"/>
          </a:ln>
        </p:spPr>
      </p:sp>
      <p:sp>
        <p:nvSpPr>
          <p:cNvPr id="8" name="text-521"/>
          <p:cNvSpPr txBox="1"/>
          <p:nvPr/>
        </p:nvSpPr>
        <p:spPr>
          <a:xfrm>
            <a:off x="3538728" y="2331720"/>
            <a:ext cx="1335024"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Wrong</a:t>
            </a:r>
            <a:endParaRPr lang="en-US" sz="1400" dirty="0"/>
          </a:p>
        </p:txBody>
      </p:sp>
      <p:sp>
        <p:nvSpPr>
          <p:cNvPr id="9" name="arrow-522"/>
          <p:cNvSpPr/>
          <p:nvPr/>
        </p:nvSpPr>
        <p:spPr>
          <a:xfrm flipV="1">
            <a:off x="2926080" y="1673352"/>
            <a:ext cx="502920" cy="475488"/>
          </a:xfrm>
          <a:prstGeom prst="line">
            <a:avLst/>
          </a:prstGeom>
          <a:noFill/>
          <a:ln w="25400">
            <a:solidFill>
              <a:srgbClr val="0A1B3D"/>
            </a:solidFill>
            <a:prstDash val="solid"/>
            <a:tailEnd type="triangle"/>
          </a:ln>
        </p:spPr>
      </p:sp>
      <p:sp>
        <p:nvSpPr>
          <p:cNvPr id="10" name="arrow-523"/>
          <p:cNvSpPr/>
          <p:nvPr/>
        </p:nvSpPr>
        <p:spPr>
          <a:xfrm>
            <a:off x="2926080" y="2148840"/>
            <a:ext cx="502920" cy="484632"/>
          </a:xfrm>
          <a:prstGeom prst="line">
            <a:avLst/>
          </a:prstGeom>
          <a:noFill/>
          <a:ln w="25400">
            <a:solidFill>
              <a:srgbClr val="0A1B3D"/>
            </a:solidFill>
            <a:prstDash val="solid"/>
            <a:tailEnd type="triangle"/>
          </a:ln>
        </p:spPr>
      </p:sp>
      <p:sp>
        <p:nvSpPr>
          <p:cNvPr id="11" name="node-524"/>
          <p:cNvSpPr/>
          <p:nvPr/>
        </p:nvSpPr>
        <p:spPr>
          <a:xfrm>
            <a:off x="5486400" y="1325880"/>
            <a:ext cx="3108960" cy="685800"/>
          </a:xfrm>
          <a:prstGeom prst="roundRect">
            <a:avLst>
              <a:gd name="adj" fmla="val 16000"/>
            </a:avLst>
          </a:prstGeom>
          <a:solidFill>
            <a:srgbClr val="DCE8FD"/>
          </a:solidFill>
          <a:ln w="12700">
            <a:solidFill>
              <a:srgbClr val="DCE8FD"/>
            </a:solidFill>
            <a:prstDash val="solid"/>
          </a:ln>
        </p:spPr>
      </p:sp>
      <p:sp>
        <p:nvSpPr>
          <p:cNvPr id="12" name="text-525"/>
          <p:cNvSpPr txBox="1"/>
          <p:nvPr/>
        </p:nvSpPr>
        <p:spPr>
          <a:xfrm>
            <a:off x="5596128" y="1325880"/>
            <a:ext cx="2889504" cy="68580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Next open question in the concept</a:t>
            </a:r>
            <a:endParaRPr lang="en-US" sz="1400" dirty="0"/>
          </a:p>
        </p:txBody>
      </p:sp>
      <p:sp>
        <p:nvSpPr>
          <p:cNvPr id="13" name="node-526"/>
          <p:cNvSpPr/>
          <p:nvPr/>
        </p:nvSpPr>
        <p:spPr>
          <a:xfrm>
            <a:off x="8915400" y="1325880"/>
            <a:ext cx="2697480" cy="685800"/>
          </a:xfrm>
          <a:prstGeom prst="roundRect">
            <a:avLst>
              <a:gd name="adj" fmla="val 16000"/>
            </a:avLst>
          </a:prstGeom>
          <a:solidFill>
            <a:srgbClr val="DCE8FD"/>
          </a:solidFill>
          <a:ln w="12700">
            <a:solidFill>
              <a:srgbClr val="DCE8FD"/>
            </a:solidFill>
            <a:prstDash val="solid"/>
          </a:ln>
        </p:spPr>
      </p:sp>
      <p:sp>
        <p:nvSpPr>
          <p:cNvPr id="14" name="text-527"/>
          <p:cNvSpPr txBox="1"/>
          <p:nvPr/>
        </p:nvSpPr>
        <p:spPr>
          <a:xfrm>
            <a:off x="9025128" y="1325880"/>
            <a:ext cx="2478024" cy="68580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Concept done → advance (or resume)</a:t>
            </a:r>
            <a:endParaRPr lang="en-US" sz="1400" dirty="0"/>
          </a:p>
        </p:txBody>
      </p:sp>
      <p:sp>
        <p:nvSpPr>
          <p:cNvPr id="15" name="arrow-528"/>
          <p:cNvSpPr/>
          <p:nvPr/>
        </p:nvSpPr>
        <p:spPr>
          <a:xfrm>
            <a:off x="4983480" y="1673352"/>
            <a:ext cx="502920" cy="0"/>
          </a:xfrm>
          <a:prstGeom prst="line">
            <a:avLst/>
          </a:prstGeom>
          <a:noFill/>
          <a:ln w="25400">
            <a:solidFill>
              <a:srgbClr val="1D5FD6"/>
            </a:solidFill>
            <a:prstDash val="solid"/>
            <a:tailEnd type="triangle"/>
          </a:ln>
        </p:spPr>
      </p:sp>
      <p:sp>
        <p:nvSpPr>
          <p:cNvPr id="16" name="arrow-529"/>
          <p:cNvSpPr/>
          <p:nvPr/>
        </p:nvSpPr>
        <p:spPr>
          <a:xfrm>
            <a:off x="8595360" y="1673352"/>
            <a:ext cx="320040" cy="0"/>
          </a:xfrm>
          <a:prstGeom prst="line">
            <a:avLst/>
          </a:prstGeom>
          <a:noFill/>
          <a:ln w="25400">
            <a:solidFill>
              <a:srgbClr val="1D5FD6"/>
            </a:solidFill>
            <a:prstDash val="solid"/>
            <a:tailEnd type="triangle"/>
          </a:ln>
        </p:spPr>
      </p:sp>
      <p:sp>
        <p:nvSpPr>
          <p:cNvPr id="17" name="num-530"/>
          <p:cNvSpPr/>
          <p:nvPr/>
        </p:nvSpPr>
        <p:spPr>
          <a:xfrm>
            <a:off x="3520440" y="3282696"/>
            <a:ext cx="402336" cy="402336"/>
          </a:xfrm>
          <a:prstGeom prst="ellipse">
            <a:avLst/>
          </a:prstGeom>
          <a:solidFill>
            <a:srgbClr val="E8833A"/>
          </a:solidFill>
          <a:ln w="12700">
            <a:solidFill>
              <a:srgbClr val="E8833A"/>
            </a:solidFill>
            <a:prstDash val="solid"/>
          </a:ln>
        </p:spPr>
      </p:sp>
      <p:sp>
        <p:nvSpPr>
          <p:cNvPr id="18" name="text-531"/>
          <p:cNvSpPr txBox="1"/>
          <p:nvPr/>
        </p:nvSpPr>
        <p:spPr>
          <a:xfrm>
            <a:off x="3520440" y="32826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card-532"/>
          <p:cNvSpPr/>
          <p:nvPr/>
        </p:nvSpPr>
        <p:spPr>
          <a:xfrm>
            <a:off x="4160520" y="3200400"/>
            <a:ext cx="7452360" cy="566928"/>
          </a:xfrm>
          <a:prstGeom prst="roundRect">
            <a:avLst>
              <a:gd name="adj" fmla="val 19355"/>
            </a:avLst>
          </a:prstGeom>
          <a:solidFill>
            <a:srgbClr val="EFF4FE"/>
          </a:solidFill>
          <a:ln w="12700">
            <a:solidFill>
              <a:srgbClr val="EFF4FE"/>
            </a:solidFill>
            <a:prstDash val="solid"/>
          </a:ln>
        </p:spPr>
      </p:sp>
      <p:sp>
        <p:nvSpPr>
          <p:cNvPr id="20" name="text-533"/>
          <p:cNvSpPr txBox="1"/>
          <p:nvPr/>
        </p:nvSpPr>
        <p:spPr>
          <a:xfrm>
            <a:off x="4389120" y="3200400"/>
            <a:ext cx="7132320" cy="566928"/>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Escalate: Standard → Simplified</a:t>
            </a:r>
            <a:pPr indent="0" marL="0">
              <a:buNone/>
            </a:pPr>
            <a:r>
              <a:rPr lang="en-US" sz="1500" dirty="0">
                <a:solidFill>
                  <a:srgbClr val="14161A"/>
                </a:solidFill>
                <a:latin typeface="Calibri" pitchFamily="34" charset="0"/>
                <a:ea typeface="Calibri" pitchFamily="34" charset="-122"/>
                <a:cs typeface="Calibri" pitchFamily="34" charset="-120"/>
              </a:rPr>
              <a:t>  —  re-teach, then ask again</a:t>
            </a:r>
            <a:endParaRPr lang="en-US" sz="1500" dirty="0"/>
          </a:p>
        </p:txBody>
      </p:sp>
      <p:sp>
        <p:nvSpPr>
          <p:cNvPr id="21" name="num-534"/>
          <p:cNvSpPr/>
          <p:nvPr/>
        </p:nvSpPr>
        <p:spPr>
          <a:xfrm>
            <a:off x="3520440" y="3941064"/>
            <a:ext cx="402336" cy="402336"/>
          </a:xfrm>
          <a:prstGeom prst="ellipse">
            <a:avLst/>
          </a:prstGeom>
          <a:solidFill>
            <a:srgbClr val="E8833A"/>
          </a:solidFill>
          <a:ln w="12700">
            <a:solidFill>
              <a:srgbClr val="E8833A"/>
            </a:solidFill>
            <a:prstDash val="solid"/>
          </a:ln>
        </p:spPr>
      </p:sp>
      <p:sp>
        <p:nvSpPr>
          <p:cNvPr id="22" name="text-535"/>
          <p:cNvSpPr txBox="1"/>
          <p:nvPr/>
        </p:nvSpPr>
        <p:spPr>
          <a:xfrm>
            <a:off x="3520440" y="39410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card-536"/>
          <p:cNvSpPr/>
          <p:nvPr/>
        </p:nvSpPr>
        <p:spPr>
          <a:xfrm>
            <a:off x="4160520" y="3858768"/>
            <a:ext cx="7452360" cy="566928"/>
          </a:xfrm>
          <a:prstGeom prst="roundRect">
            <a:avLst>
              <a:gd name="adj" fmla="val 19355"/>
            </a:avLst>
          </a:prstGeom>
          <a:solidFill>
            <a:srgbClr val="EFF4FE"/>
          </a:solidFill>
          <a:ln w="12700">
            <a:solidFill>
              <a:srgbClr val="EFF4FE"/>
            </a:solidFill>
            <a:prstDash val="solid"/>
          </a:ln>
        </p:spPr>
      </p:sp>
      <p:sp>
        <p:nvSpPr>
          <p:cNvPr id="24" name="text-537"/>
          <p:cNvSpPr txBox="1"/>
          <p:nvPr/>
        </p:nvSpPr>
        <p:spPr>
          <a:xfrm>
            <a:off x="4389120" y="3858768"/>
            <a:ext cx="7132320" cy="566928"/>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Escalate: Simplified → Elaborated</a:t>
            </a:r>
            <a:pPr indent="0" marL="0">
              <a:buNone/>
            </a:pPr>
            <a:r>
              <a:rPr lang="en-US" sz="1500" dirty="0">
                <a:solidFill>
                  <a:srgbClr val="14161A"/>
                </a:solidFill>
                <a:latin typeface="Calibri" pitchFamily="34" charset="0"/>
                <a:ea typeface="Calibri" pitchFamily="34" charset="-122"/>
                <a:cs typeface="Calibri" pitchFamily="34" charset="-120"/>
              </a:rPr>
              <a:t>  —  re-teach, then ask again</a:t>
            </a:r>
            <a:endParaRPr lang="en-US" sz="1500" dirty="0"/>
          </a:p>
        </p:txBody>
      </p:sp>
      <p:sp>
        <p:nvSpPr>
          <p:cNvPr id="25" name="num-538"/>
          <p:cNvSpPr/>
          <p:nvPr/>
        </p:nvSpPr>
        <p:spPr>
          <a:xfrm>
            <a:off x="3520440" y="4599432"/>
            <a:ext cx="402336" cy="402336"/>
          </a:xfrm>
          <a:prstGeom prst="ellipse">
            <a:avLst/>
          </a:prstGeom>
          <a:solidFill>
            <a:srgbClr val="E8833A"/>
          </a:solidFill>
          <a:ln w="12700">
            <a:solidFill>
              <a:srgbClr val="E8833A"/>
            </a:solidFill>
            <a:prstDash val="solid"/>
          </a:ln>
        </p:spPr>
      </p:sp>
      <p:sp>
        <p:nvSpPr>
          <p:cNvPr id="26" name="text-539"/>
          <p:cNvSpPr txBox="1"/>
          <p:nvPr/>
        </p:nvSpPr>
        <p:spPr>
          <a:xfrm>
            <a:off x="3520440" y="45994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card-540"/>
          <p:cNvSpPr/>
          <p:nvPr/>
        </p:nvSpPr>
        <p:spPr>
          <a:xfrm>
            <a:off x="4160520" y="4517136"/>
            <a:ext cx="7452360" cy="566928"/>
          </a:xfrm>
          <a:prstGeom prst="roundRect">
            <a:avLst>
              <a:gd name="adj" fmla="val 19355"/>
            </a:avLst>
          </a:prstGeom>
          <a:solidFill>
            <a:srgbClr val="EFF4FE"/>
          </a:solidFill>
          <a:ln w="12700">
            <a:solidFill>
              <a:srgbClr val="EFF4FE"/>
            </a:solidFill>
            <a:prstDash val="solid"/>
          </a:ln>
        </p:spPr>
      </p:sp>
      <p:sp>
        <p:nvSpPr>
          <p:cNvPr id="28" name="text-541"/>
          <p:cNvSpPr txBox="1"/>
          <p:nvPr/>
        </p:nvSpPr>
        <p:spPr>
          <a:xfrm>
            <a:off x="4389120" y="4517136"/>
            <a:ext cx="7132320" cy="566928"/>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Regress to the nearest prerequisite</a:t>
            </a:r>
            <a:pPr indent="0" marL="0">
              <a:buNone/>
            </a:pPr>
            <a:r>
              <a:rPr lang="en-US" sz="1500" dirty="0">
                <a:solidFill>
                  <a:srgbClr val="14161A"/>
                </a:solidFill>
                <a:latin typeface="Calibri" pitchFamily="34" charset="0"/>
                <a:ea typeface="Calibri" pitchFamily="34" charset="-122"/>
                <a:cs typeface="Calibri" pitchFamily="34" charset="-120"/>
              </a:rPr>
              <a:t>  —  once per step; a detour, then resume</a:t>
            </a:r>
            <a:endParaRPr lang="en-US" sz="1500" dirty="0"/>
          </a:p>
        </p:txBody>
      </p:sp>
      <p:sp>
        <p:nvSpPr>
          <p:cNvPr id="29" name="num-542"/>
          <p:cNvSpPr/>
          <p:nvPr/>
        </p:nvSpPr>
        <p:spPr>
          <a:xfrm>
            <a:off x="3520440" y="5257800"/>
            <a:ext cx="402336" cy="402336"/>
          </a:xfrm>
          <a:prstGeom prst="ellipse">
            <a:avLst/>
          </a:prstGeom>
          <a:solidFill>
            <a:srgbClr val="E8833A"/>
          </a:solidFill>
          <a:ln w="12700">
            <a:solidFill>
              <a:srgbClr val="E8833A"/>
            </a:solidFill>
            <a:prstDash val="solid"/>
          </a:ln>
        </p:spPr>
      </p:sp>
      <p:sp>
        <p:nvSpPr>
          <p:cNvPr id="30" name="text-543"/>
          <p:cNvSpPr txBox="1"/>
          <p:nvPr/>
        </p:nvSpPr>
        <p:spPr>
          <a:xfrm>
            <a:off x="3520440" y="52578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card-544"/>
          <p:cNvSpPr/>
          <p:nvPr/>
        </p:nvSpPr>
        <p:spPr>
          <a:xfrm>
            <a:off x="4160520" y="5175504"/>
            <a:ext cx="7452360" cy="566928"/>
          </a:xfrm>
          <a:prstGeom prst="roundRect">
            <a:avLst>
              <a:gd name="adj" fmla="val 19355"/>
            </a:avLst>
          </a:prstGeom>
          <a:solidFill>
            <a:srgbClr val="EFF4FE"/>
          </a:solidFill>
          <a:ln w="12700">
            <a:solidFill>
              <a:srgbClr val="EFF4FE"/>
            </a:solidFill>
            <a:prstDash val="solid"/>
          </a:ln>
        </p:spPr>
      </p:sp>
      <p:sp>
        <p:nvSpPr>
          <p:cNvPr id="32" name="text-545"/>
          <p:cNvSpPr txBox="1"/>
          <p:nvPr/>
        </p:nvSpPr>
        <p:spPr>
          <a:xfrm>
            <a:off x="4389120" y="5175504"/>
            <a:ext cx="7132320" cy="566928"/>
          </a:xfrm>
          <a:prstGeom prst="rect">
            <a:avLst/>
          </a:prstGeom>
          <a:noFill/>
          <a:ln/>
        </p:spPr>
        <p:txBody>
          <a:bodyPr wrap="square" lIns="0" tIns="0" rIns="0" bIns="0" rtlCol="0" anchor="ctr"/>
          <a:lstStyle/>
          <a:p>
            <a:pPr indent="0" marL="0">
              <a:buNone/>
            </a:pPr>
            <a:r>
              <a:rPr lang="en-US" sz="1500" b="1" dirty="0">
                <a:solidFill>
                  <a:srgbClr val="0A1B3D"/>
                </a:solidFill>
                <a:latin typeface="Calibri" pitchFamily="34" charset="0"/>
                <a:ea typeface="Calibri" pitchFamily="34" charset="-122"/>
                <a:cs typeface="Calibri" pitchFamily="34" charset="-120"/>
              </a:rPr>
              <a:t>Move on</a:t>
            </a:r>
            <a:pPr indent="0" marL="0">
              <a:buNone/>
            </a:pPr>
            <a:r>
              <a:rPr lang="en-US" sz="1500" dirty="0">
                <a:solidFill>
                  <a:srgbClr val="14161A"/>
                </a:solidFill>
                <a:latin typeface="Calibri" pitchFamily="34" charset="0"/>
                <a:ea typeface="Calibri" pitchFamily="34" charset="-122"/>
                <a:cs typeface="Calibri" pitchFamily="34" charset="-120"/>
              </a:rPr>
              <a:t>  —  every option tried — never strand the student</a:t>
            </a:r>
            <a:endParaRPr lang="en-US" sz="1500" dirty="0"/>
          </a:p>
        </p:txBody>
      </p:sp>
      <p:sp>
        <p:nvSpPr>
          <p:cNvPr id="33" name="arrow-546"/>
          <p:cNvSpPr/>
          <p:nvPr/>
        </p:nvSpPr>
        <p:spPr>
          <a:xfrm>
            <a:off x="4206240" y="2926080"/>
            <a:ext cx="0" cy="274320"/>
          </a:xfrm>
          <a:prstGeom prst="line">
            <a:avLst/>
          </a:prstGeom>
          <a:noFill/>
          <a:ln w="25400">
            <a:solidFill>
              <a:srgbClr val="B5271B"/>
            </a:solidFill>
            <a:prstDash val="solid"/>
            <a:tailEnd type="triangle"/>
          </a:ln>
        </p:spPr>
      </p:sp>
      <p:graphicFrame>
        <p:nvGraphicFramePr>
          <p:cNvPr id="23" name="table-547"/>
          <p:cNvGraphicFramePr>
            <a:graphicFrameLocks noGrp="1"/>
          </p:cNvGraphicFramePr>
          <p:nvPr>
            <p:extLst>
              <p:ext uri="{D42A27DB-BD31-4B8C-83A1-F6EECF244321}">
                <p14:modId xmlns:p14="http://schemas.microsoft.com/office/powerpoint/2010/main" val="1579011935"/>
              </p:ext>
            </p:extLst>
          </p:nvPr>
        </p:nvGraphicFramePr>
        <p:xfrm>
          <a:off x="548640" y="3200400"/>
          <a:ext cx="2788920" cy="914400"/>
        </p:xfrm>
        <a:graphic>
          <a:graphicData uri="http://schemas.openxmlformats.org/drawingml/2006/table">
            <a:tbl>
              <a:tblPr/>
              <a:tblGrid>
                <a:gridCol w="868680"/>
                <a:gridCol w="640080"/>
                <a:gridCol w="731520"/>
                <a:gridCol w="548640"/>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Guess odds</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1st ask</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re-ask</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0A1B3D"/>
                    </a:solidFill>
                  </a:tcPr>
                </a:tc>
              </a:tr>
              <a:tr h="457200">
                <a:tc>
                  <a:txBody>
                    <a:bodyPr/>
                    <a:lstStyle/>
                    <a:p>
                      <a:pPr algn="l" indent="0" marL="0">
                        <a:buNone/>
                      </a:pPr>
                      <a:r>
                        <a:rPr lang="en-US" sz="1200" b="1" dirty="0">
                          <a:solidFill>
                            <a:srgbClr val="0A1B3D"/>
                          </a:solidFill>
                          <a:latin typeface="Calibri" pitchFamily="34" charset="0"/>
                          <a:ea typeface="Calibri" pitchFamily="34" charset="-122"/>
                          <a:cs typeface="Calibri" pitchFamily="34" charset="-120"/>
                        </a:rPr>
                        <a:t>MCQ</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200" dirty="0">
                          <a:solidFill>
                            <a:srgbClr val="14161A"/>
                          </a:solidFill>
                          <a:latin typeface="Calibri" pitchFamily="34" charset="0"/>
                          <a:ea typeface="Calibri" pitchFamily="34" charset="-122"/>
                          <a:cs typeface="Calibri" pitchFamily="34" charset="-120"/>
                        </a:rPr>
                        <a:t>1 in 4</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61A"/>
                          </a:solidFill>
                          <a:latin typeface="Calibri" pitchFamily="34" charset="0"/>
                          <a:ea typeface="Calibri" pitchFamily="34" charset="-122"/>
                          <a:cs typeface="Calibri" pitchFamily="34" charset="-120"/>
                        </a:rPr>
                        <a:t>1 in 3</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161A"/>
                          </a:solidFill>
                          <a:latin typeface="Calibri" pitchFamily="34" charset="0"/>
                          <a:ea typeface="Calibri" pitchFamily="34" charset="-122"/>
                          <a:cs typeface="Calibri" pitchFamily="34" charset="-120"/>
                        </a:rPr>
                        <a:t>1 in 2</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0A1B3D"/>
                          </a:solidFill>
                          <a:latin typeface="Calibri" pitchFamily="34" charset="0"/>
                          <a:ea typeface="Calibri" pitchFamily="34" charset="-122"/>
                          <a:cs typeface="Calibri" pitchFamily="34" charset="-120"/>
                        </a:rPr>
                        <a:t>True/False</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DCE8FD"/>
                    </a:solidFill>
                  </a:tcPr>
                </a:tc>
                <a:tc>
                  <a:txBody>
                    <a:bodyPr/>
                    <a:lstStyle/>
                    <a:p>
                      <a:pPr algn="ctr" indent="0" marL="0">
                        <a:buNone/>
                      </a:pPr>
                      <a:r>
                        <a:rPr lang="en-US" sz="1200" dirty="0">
                          <a:solidFill>
                            <a:srgbClr val="14161A"/>
                          </a:solidFill>
                          <a:latin typeface="Calibri" pitchFamily="34" charset="0"/>
                          <a:ea typeface="Calibri" pitchFamily="34" charset="-122"/>
                          <a:cs typeface="Calibri" pitchFamily="34" charset="-120"/>
                        </a:rPr>
                        <a:t>1 in 2</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200" dirty="0">
                          <a:solidFill>
                            <a:srgbClr val="14161A"/>
                          </a:solidFill>
                          <a:latin typeface="Calibri" pitchFamily="34" charset="0"/>
                          <a:ea typeface="Calibri" pitchFamily="34" charset="-122"/>
                          <a:cs typeface="Calibri" pitchFamily="34" charset="-120"/>
                        </a:rPr>
                        <a:t>certain</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c>
                  <a:txBody>
                    <a:bodyPr/>
                    <a:lstStyle/>
                    <a:p>
                      <a:pPr algn="ctr" indent="0" marL="0">
                        <a:buNone/>
                      </a:pPr>
                      <a:r>
                        <a:rPr lang="en-US" sz="1200" dirty="0">
                          <a:solidFill>
                            <a:srgbClr val="14161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8900" marR="88900" marT="38100" marB="3810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FF4FE"/>
                    </a:solidFill>
                  </a:tcPr>
                </a:tc>
              </a:tr>
            </a:tbl>
          </a:graphicData>
        </a:graphic>
      </p:graphicFrame>
      <p:sp>
        <p:nvSpPr>
          <p:cNvPr id="35" name="text-548"/>
          <p:cNvSpPr txBox="1"/>
          <p:nvPr/>
        </p:nvSpPr>
        <p:spPr>
          <a:xfrm>
            <a:off x="548640" y="4709160"/>
            <a:ext cx="2788920" cy="868680"/>
          </a:xfrm>
          <a:prstGeom prst="rect">
            <a:avLst/>
          </a:prstGeom>
          <a:noFill/>
          <a:ln/>
        </p:spPr>
        <p:txBody>
          <a:bodyPr wrap="square" lIns="0" tIns="0" rIns="0" bIns="0" rtlCol="0" anchor="t"/>
          <a:lstStyle/>
          <a:p>
            <a:pPr indent="0" marL="0">
              <a:buNone/>
            </a:pPr>
            <a:r>
              <a:rPr lang="en-US" sz="1250" i="1" dirty="0">
                <a:solidFill>
                  <a:srgbClr val="1A47A8"/>
                </a:solidFill>
                <a:latin typeface="Calibri" pitchFamily="34" charset="0"/>
                <a:ea typeface="Calibri" pitchFamily="34" charset="-122"/>
                <a:cs typeface="Calibri" pitchFamily="34" charset="-120"/>
              </a:rPr>
              <a:t>Why re-teach first: an immediate re-ask lets the student eliminate their wrong pick.</a:t>
            </a:r>
            <a:endParaRPr lang="en-US" sz="125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One answer, end to end: every transformation in order</a:t>
            </a:r>
            <a:endParaRPr lang="en-US" sz="3000" dirty="0"/>
          </a:p>
        </p:txBody>
      </p:sp>
      <p:sp>
        <p:nvSpPr>
          <p:cNvPr id="3" name="card-549"/>
          <p:cNvSpPr/>
          <p:nvPr/>
        </p:nvSpPr>
        <p:spPr>
          <a:xfrm>
            <a:off x="548640" y="1463040"/>
            <a:ext cx="1417320" cy="3291840"/>
          </a:xfrm>
          <a:prstGeom prst="roundRect">
            <a:avLst>
              <a:gd name="adj" fmla="val 7742"/>
            </a:avLst>
          </a:prstGeom>
          <a:solidFill>
            <a:srgbClr val="EFF4FE"/>
          </a:solidFill>
          <a:ln w="12700">
            <a:solidFill>
              <a:srgbClr val="EFF4FE"/>
            </a:solidFill>
            <a:prstDash val="solid"/>
          </a:ln>
        </p:spPr>
      </p:sp>
      <p:sp>
        <p:nvSpPr>
          <p:cNvPr id="4" name="badge-550"/>
          <p:cNvSpPr/>
          <p:nvPr/>
        </p:nvSpPr>
        <p:spPr>
          <a:xfrm>
            <a:off x="960120" y="1645920"/>
            <a:ext cx="566928" cy="566928"/>
          </a:xfrm>
          <a:prstGeom prst="ellipse">
            <a:avLst/>
          </a:prstGeom>
          <a:solidFill>
            <a:srgbClr val="1D5FD6"/>
          </a:solidFill>
          <a:ln w="12700">
            <a:solidFill>
              <a:srgbClr val="1D5FD6"/>
            </a:solidFill>
            <a:prstDash val="solid"/>
          </a:ln>
        </p:spPr>
      </p:sp>
      <p:pic>
        <p:nvPicPr>
          <p:cNvPr id="5" name="icon-551" descr="preencoded.png">    </p:cNvPr>
          <p:cNvPicPr>
            <a:picLocks noChangeAspect="1"/>
          </p:cNvPicPr>
          <p:nvPr/>
        </p:nvPicPr>
        <p:blipFill>
          <a:blip r:embed="rId1"/>
          <a:stretch>
            <a:fillRect/>
          </a:stretch>
        </p:blipFill>
        <p:spPr>
          <a:xfrm>
            <a:off x="1084844" y="1770644"/>
            <a:ext cx="317480" cy="317480"/>
          </a:xfrm>
          <a:prstGeom prst="rect">
            <a:avLst/>
          </a:prstGeom>
        </p:spPr>
      </p:pic>
      <p:sp>
        <p:nvSpPr>
          <p:cNvPr id="6" name="text-552"/>
          <p:cNvSpPr txBox="1"/>
          <p:nvPr/>
        </p:nvSpPr>
        <p:spPr>
          <a:xfrm>
            <a:off x="6583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Keypad</a:t>
            </a:r>
            <a:endParaRPr lang="en-US" sz="1600" dirty="0"/>
          </a:p>
        </p:txBody>
      </p:sp>
      <p:sp>
        <p:nvSpPr>
          <p:cNvPr id="7" name="text-553"/>
          <p:cNvSpPr txBox="1"/>
          <p:nvPr/>
        </p:nvSpPr>
        <p:spPr>
          <a:xfrm>
            <a:off x="6583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key 8 → “B”</a:t>
            </a:r>
            <a:endParaRPr lang="en-US" sz="1300" dirty="0"/>
          </a:p>
        </p:txBody>
      </p:sp>
      <p:sp>
        <p:nvSpPr>
          <p:cNvPr id="8" name="arrow-554"/>
          <p:cNvSpPr/>
          <p:nvPr/>
        </p:nvSpPr>
        <p:spPr>
          <a:xfrm>
            <a:off x="1975104" y="3108960"/>
            <a:ext cx="164592" cy="0"/>
          </a:xfrm>
          <a:prstGeom prst="line">
            <a:avLst/>
          </a:prstGeom>
          <a:noFill/>
          <a:ln w="25400">
            <a:solidFill>
              <a:srgbClr val="0A1B3D"/>
            </a:solidFill>
            <a:prstDash val="solid"/>
            <a:tailEnd type="triangle"/>
          </a:ln>
        </p:spPr>
      </p:sp>
      <p:sp>
        <p:nvSpPr>
          <p:cNvPr id="9" name="card-555"/>
          <p:cNvSpPr/>
          <p:nvPr/>
        </p:nvSpPr>
        <p:spPr>
          <a:xfrm>
            <a:off x="2148840" y="1463040"/>
            <a:ext cx="1417320" cy="3291840"/>
          </a:xfrm>
          <a:prstGeom prst="roundRect">
            <a:avLst>
              <a:gd name="adj" fmla="val 7742"/>
            </a:avLst>
          </a:prstGeom>
          <a:solidFill>
            <a:srgbClr val="EFF4FE"/>
          </a:solidFill>
          <a:ln w="12700">
            <a:solidFill>
              <a:srgbClr val="EFF4FE"/>
            </a:solidFill>
            <a:prstDash val="solid"/>
          </a:ln>
        </p:spPr>
      </p:sp>
      <p:sp>
        <p:nvSpPr>
          <p:cNvPr id="10" name="badge-556"/>
          <p:cNvSpPr/>
          <p:nvPr/>
        </p:nvSpPr>
        <p:spPr>
          <a:xfrm>
            <a:off x="2560320" y="1645920"/>
            <a:ext cx="566928" cy="566928"/>
          </a:xfrm>
          <a:prstGeom prst="ellipse">
            <a:avLst/>
          </a:prstGeom>
          <a:solidFill>
            <a:srgbClr val="1D5FD6"/>
          </a:solidFill>
          <a:ln w="12700">
            <a:solidFill>
              <a:srgbClr val="1D5FD6"/>
            </a:solidFill>
            <a:prstDash val="solid"/>
          </a:ln>
        </p:spPr>
      </p:sp>
      <p:pic>
        <p:nvPicPr>
          <p:cNvPr id="11" name="icon-557" descr="preencoded.png">    </p:cNvPr>
          <p:cNvPicPr>
            <a:picLocks noChangeAspect="1"/>
          </p:cNvPicPr>
          <p:nvPr/>
        </p:nvPicPr>
        <p:blipFill>
          <a:blip r:embed="rId2"/>
          <a:stretch>
            <a:fillRect/>
          </a:stretch>
        </p:blipFill>
        <p:spPr>
          <a:xfrm>
            <a:off x="2685044" y="1770644"/>
            <a:ext cx="317480" cy="317480"/>
          </a:xfrm>
          <a:prstGeom prst="rect">
            <a:avLst/>
          </a:prstGeom>
        </p:spPr>
      </p:pic>
      <p:sp>
        <p:nvSpPr>
          <p:cNvPr id="12" name="text-558"/>
          <p:cNvSpPr txBox="1"/>
          <p:nvPr/>
        </p:nvSpPr>
        <p:spPr>
          <a:xfrm>
            <a:off x="22585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Grade</a:t>
            </a:r>
            <a:endParaRPr lang="en-US" sz="1600" dirty="0"/>
          </a:p>
        </p:txBody>
      </p:sp>
      <p:sp>
        <p:nvSpPr>
          <p:cNvPr id="13" name="text-559"/>
          <p:cNvSpPr txBox="1"/>
          <p:nvPr/>
        </p:nvSpPr>
        <p:spPr>
          <a:xfrm>
            <a:off x="22585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server key says A → wrong</a:t>
            </a:r>
            <a:endParaRPr lang="en-US" sz="1300" dirty="0"/>
          </a:p>
        </p:txBody>
      </p:sp>
      <p:sp>
        <p:nvSpPr>
          <p:cNvPr id="14" name="arrow-560"/>
          <p:cNvSpPr/>
          <p:nvPr/>
        </p:nvSpPr>
        <p:spPr>
          <a:xfrm>
            <a:off x="3575304" y="3108960"/>
            <a:ext cx="164592" cy="0"/>
          </a:xfrm>
          <a:prstGeom prst="line">
            <a:avLst/>
          </a:prstGeom>
          <a:noFill/>
          <a:ln w="25400">
            <a:solidFill>
              <a:srgbClr val="0A1B3D"/>
            </a:solidFill>
            <a:prstDash val="solid"/>
            <a:tailEnd type="triangle"/>
          </a:ln>
        </p:spPr>
      </p:sp>
      <p:sp>
        <p:nvSpPr>
          <p:cNvPr id="15" name="card-561"/>
          <p:cNvSpPr/>
          <p:nvPr/>
        </p:nvSpPr>
        <p:spPr>
          <a:xfrm>
            <a:off x="3749040" y="1463040"/>
            <a:ext cx="1417320" cy="3291840"/>
          </a:xfrm>
          <a:prstGeom prst="roundRect">
            <a:avLst>
              <a:gd name="adj" fmla="val 7742"/>
            </a:avLst>
          </a:prstGeom>
          <a:solidFill>
            <a:srgbClr val="DCE8FD"/>
          </a:solidFill>
          <a:ln w="12700">
            <a:solidFill>
              <a:srgbClr val="DCE8FD"/>
            </a:solidFill>
            <a:prstDash val="solid"/>
          </a:ln>
        </p:spPr>
      </p:sp>
      <p:sp>
        <p:nvSpPr>
          <p:cNvPr id="16" name="badge-562"/>
          <p:cNvSpPr/>
          <p:nvPr/>
        </p:nvSpPr>
        <p:spPr>
          <a:xfrm>
            <a:off x="4160520" y="1645920"/>
            <a:ext cx="566928" cy="566928"/>
          </a:xfrm>
          <a:prstGeom prst="ellipse">
            <a:avLst/>
          </a:prstGeom>
          <a:solidFill>
            <a:srgbClr val="1D5FD6"/>
          </a:solidFill>
          <a:ln w="12700">
            <a:solidFill>
              <a:srgbClr val="1D5FD6"/>
            </a:solidFill>
            <a:prstDash val="solid"/>
          </a:ln>
        </p:spPr>
      </p:sp>
      <p:pic>
        <p:nvPicPr>
          <p:cNvPr id="17" name="icon-563" descr="preencoded.png">    </p:cNvPr>
          <p:cNvPicPr>
            <a:picLocks noChangeAspect="1"/>
          </p:cNvPicPr>
          <p:nvPr/>
        </p:nvPicPr>
        <p:blipFill>
          <a:blip r:embed="rId3"/>
          <a:stretch>
            <a:fillRect/>
          </a:stretch>
        </p:blipFill>
        <p:spPr>
          <a:xfrm>
            <a:off x="4285244" y="1770644"/>
            <a:ext cx="317480" cy="317480"/>
          </a:xfrm>
          <a:prstGeom prst="rect">
            <a:avLst/>
          </a:prstGeom>
        </p:spPr>
      </p:pic>
      <p:sp>
        <p:nvSpPr>
          <p:cNvPr id="18" name="text-564"/>
          <p:cNvSpPr txBox="1"/>
          <p:nvPr/>
        </p:nvSpPr>
        <p:spPr>
          <a:xfrm>
            <a:off x="38587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BKT</a:t>
            </a:r>
            <a:endParaRPr lang="en-US" sz="1600" dirty="0"/>
          </a:p>
        </p:txBody>
      </p:sp>
      <p:sp>
        <p:nvSpPr>
          <p:cNvPr id="19" name="text-565"/>
          <p:cNvSpPr txBox="1"/>
          <p:nvPr/>
        </p:nvSpPr>
        <p:spPr>
          <a:xfrm>
            <a:off x="38587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T/F: predicted .769 → mastery .710 → .412</a:t>
            </a:r>
            <a:endParaRPr lang="en-US" sz="1300" dirty="0"/>
          </a:p>
        </p:txBody>
      </p:sp>
      <p:sp>
        <p:nvSpPr>
          <p:cNvPr id="20" name="arrow-566"/>
          <p:cNvSpPr/>
          <p:nvPr/>
        </p:nvSpPr>
        <p:spPr>
          <a:xfrm>
            <a:off x="5175504" y="3108960"/>
            <a:ext cx="164592" cy="0"/>
          </a:xfrm>
          <a:prstGeom prst="line">
            <a:avLst/>
          </a:prstGeom>
          <a:noFill/>
          <a:ln w="25400">
            <a:solidFill>
              <a:srgbClr val="0A1B3D"/>
            </a:solidFill>
            <a:prstDash val="solid"/>
            <a:tailEnd type="triangle"/>
          </a:ln>
        </p:spPr>
      </p:sp>
      <p:sp>
        <p:nvSpPr>
          <p:cNvPr id="21" name="card-567"/>
          <p:cNvSpPr/>
          <p:nvPr/>
        </p:nvSpPr>
        <p:spPr>
          <a:xfrm>
            <a:off x="5349240" y="1463040"/>
            <a:ext cx="1417320" cy="3291840"/>
          </a:xfrm>
          <a:prstGeom prst="roundRect">
            <a:avLst>
              <a:gd name="adj" fmla="val 7742"/>
            </a:avLst>
          </a:prstGeom>
          <a:solidFill>
            <a:srgbClr val="EFF4FE"/>
          </a:solidFill>
          <a:ln w="12700">
            <a:solidFill>
              <a:srgbClr val="EFF4FE"/>
            </a:solidFill>
            <a:prstDash val="solid"/>
          </a:ln>
        </p:spPr>
      </p:sp>
      <p:sp>
        <p:nvSpPr>
          <p:cNvPr id="22" name="badge-568"/>
          <p:cNvSpPr/>
          <p:nvPr/>
        </p:nvSpPr>
        <p:spPr>
          <a:xfrm>
            <a:off x="5760720" y="1645920"/>
            <a:ext cx="566928" cy="566928"/>
          </a:xfrm>
          <a:prstGeom prst="ellipse">
            <a:avLst/>
          </a:prstGeom>
          <a:solidFill>
            <a:srgbClr val="1D5FD6"/>
          </a:solidFill>
          <a:ln w="12700">
            <a:solidFill>
              <a:srgbClr val="1D5FD6"/>
            </a:solidFill>
            <a:prstDash val="solid"/>
          </a:ln>
        </p:spPr>
      </p:sp>
      <p:pic>
        <p:nvPicPr>
          <p:cNvPr id="23" name="icon-569" descr="preencoded.png">    </p:cNvPr>
          <p:cNvPicPr>
            <a:picLocks noChangeAspect="1"/>
          </p:cNvPicPr>
          <p:nvPr/>
        </p:nvPicPr>
        <p:blipFill>
          <a:blip r:embed="rId4"/>
          <a:stretch>
            <a:fillRect/>
          </a:stretch>
        </p:blipFill>
        <p:spPr>
          <a:xfrm>
            <a:off x="5885444" y="1770644"/>
            <a:ext cx="317480" cy="317480"/>
          </a:xfrm>
          <a:prstGeom prst="rect">
            <a:avLst/>
          </a:prstGeom>
        </p:spPr>
      </p:pic>
      <p:sp>
        <p:nvSpPr>
          <p:cNvPr id="24" name="text-570"/>
          <p:cNvSpPr txBox="1"/>
          <p:nvPr/>
        </p:nvSpPr>
        <p:spPr>
          <a:xfrm>
            <a:off x="54589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Baseline</a:t>
            </a:r>
            <a:endParaRPr lang="en-US" sz="1600" dirty="0"/>
          </a:p>
        </p:txBody>
      </p:sp>
      <p:sp>
        <p:nvSpPr>
          <p:cNvPr id="25" name="text-571"/>
          <p:cNvSpPr txBox="1"/>
          <p:nvPr/>
        </p:nvSpPr>
        <p:spPr>
          <a:xfrm>
            <a:off x="54589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1 of 2 right → ability .425, margin ±.685</a:t>
            </a:r>
            <a:endParaRPr lang="en-US" sz="1300" dirty="0"/>
          </a:p>
        </p:txBody>
      </p:sp>
      <p:sp>
        <p:nvSpPr>
          <p:cNvPr id="26" name="arrow-572"/>
          <p:cNvSpPr/>
          <p:nvPr/>
        </p:nvSpPr>
        <p:spPr>
          <a:xfrm>
            <a:off x="6775704" y="3108960"/>
            <a:ext cx="164592" cy="0"/>
          </a:xfrm>
          <a:prstGeom prst="line">
            <a:avLst/>
          </a:prstGeom>
          <a:noFill/>
          <a:ln w="25400">
            <a:solidFill>
              <a:srgbClr val="0A1B3D"/>
            </a:solidFill>
            <a:prstDash val="solid"/>
            <a:tailEnd type="triangle"/>
          </a:ln>
        </p:spPr>
      </p:sp>
      <p:sp>
        <p:nvSpPr>
          <p:cNvPr id="27" name="card-573"/>
          <p:cNvSpPr/>
          <p:nvPr/>
        </p:nvSpPr>
        <p:spPr>
          <a:xfrm>
            <a:off x="6949440" y="1463040"/>
            <a:ext cx="1417320" cy="3291840"/>
          </a:xfrm>
          <a:prstGeom prst="roundRect">
            <a:avLst>
              <a:gd name="adj" fmla="val 7742"/>
            </a:avLst>
          </a:prstGeom>
          <a:solidFill>
            <a:srgbClr val="DCE8FD"/>
          </a:solidFill>
          <a:ln w="12700">
            <a:solidFill>
              <a:srgbClr val="DCE8FD"/>
            </a:solidFill>
            <a:prstDash val="solid"/>
          </a:ln>
        </p:spPr>
      </p:sp>
      <p:sp>
        <p:nvSpPr>
          <p:cNvPr id="28" name="badge-574"/>
          <p:cNvSpPr/>
          <p:nvPr/>
        </p:nvSpPr>
        <p:spPr>
          <a:xfrm>
            <a:off x="7360920" y="1645920"/>
            <a:ext cx="566928" cy="566928"/>
          </a:xfrm>
          <a:prstGeom prst="ellipse">
            <a:avLst/>
          </a:prstGeom>
          <a:solidFill>
            <a:srgbClr val="E8833A"/>
          </a:solidFill>
          <a:ln w="12700">
            <a:solidFill>
              <a:srgbClr val="E8833A"/>
            </a:solidFill>
            <a:prstDash val="solid"/>
          </a:ln>
        </p:spPr>
      </p:sp>
      <p:pic>
        <p:nvPicPr>
          <p:cNvPr id="29" name="icon-575" descr="preencoded.png">    </p:cNvPr>
          <p:cNvPicPr>
            <a:picLocks noChangeAspect="1"/>
          </p:cNvPicPr>
          <p:nvPr/>
        </p:nvPicPr>
        <p:blipFill>
          <a:blip r:embed="rId5"/>
          <a:stretch>
            <a:fillRect/>
          </a:stretch>
        </p:blipFill>
        <p:spPr>
          <a:xfrm>
            <a:off x="7485644" y="1770644"/>
            <a:ext cx="317480" cy="317480"/>
          </a:xfrm>
          <a:prstGeom prst="rect">
            <a:avLst/>
          </a:prstGeom>
        </p:spPr>
      </p:pic>
      <p:sp>
        <p:nvSpPr>
          <p:cNvPr id="30" name="text-576"/>
          <p:cNvSpPr txBox="1"/>
          <p:nvPr/>
        </p:nvSpPr>
        <p:spPr>
          <a:xfrm>
            <a:off x="70591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Decide</a:t>
            </a:r>
            <a:endParaRPr lang="en-US" sz="1600" dirty="0"/>
          </a:p>
        </p:txBody>
      </p:sp>
      <p:sp>
        <p:nvSpPr>
          <p:cNvPr id="31" name="text-577"/>
          <p:cNvSpPr txBox="1"/>
          <p:nvPr/>
        </p:nvSpPr>
        <p:spPr>
          <a:xfrm>
            <a:off x="70591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missed T/F is spent → re-teach, then ask Q9</a:t>
            </a:r>
            <a:endParaRPr lang="en-US" sz="1300" dirty="0"/>
          </a:p>
        </p:txBody>
      </p:sp>
      <p:sp>
        <p:nvSpPr>
          <p:cNvPr id="32" name="arrow-578"/>
          <p:cNvSpPr/>
          <p:nvPr/>
        </p:nvSpPr>
        <p:spPr>
          <a:xfrm>
            <a:off x="8375904" y="3108960"/>
            <a:ext cx="164592" cy="0"/>
          </a:xfrm>
          <a:prstGeom prst="line">
            <a:avLst/>
          </a:prstGeom>
          <a:noFill/>
          <a:ln w="25400">
            <a:solidFill>
              <a:srgbClr val="0A1B3D"/>
            </a:solidFill>
            <a:prstDash val="solid"/>
            <a:tailEnd type="triangle"/>
          </a:ln>
        </p:spPr>
      </p:sp>
      <p:sp>
        <p:nvSpPr>
          <p:cNvPr id="33" name="card-579"/>
          <p:cNvSpPr/>
          <p:nvPr/>
        </p:nvSpPr>
        <p:spPr>
          <a:xfrm>
            <a:off x="8549640" y="1463040"/>
            <a:ext cx="1417320" cy="3291840"/>
          </a:xfrm>
          <a:prstGeom prst="roundRect">
            <a:avLst>
              <a:gd name="adj" fmla="val 7742"/>
            </a:avLst>
          </a:prstGeom>
          <a:solidFill>
            <a:srgbClr val="EFF4FE"/>
          </a:solidFill>
          <a:ln w="12700">
            <a:solidFill>
              <a:srgbClr val="EFF4FE"/>
            </a:solidFill>
            <a:prstDash val="solid"/>
          </a:ln>
        </p:spPr>
      </p:sp>
      <p:sp>
        <p:nvSpPr>
          <p:cNvPr id="34" name="badge-580"/>
          <p:cNvSpPr/>
          <p:nvPr/>
        </p:nvSpPr>
        <p:spPr>
          <a:xfrm>
            <a:off x="8961120" y="1645920"/>
            <a:ext cx="566928" cy="566928"/>
          </a:xfrm>
          <a:prstGeom prst="ellipse">
            <a:avLst/>
          </a:prstGeom>
          <a:solidFill>
            <a:srgbClr val="1D5FD6"/>
          </a:solidFill>
          <a:ln w="12700">
            <a:solidFill>
              <a:srgbClr val="1D5FD6"/>
            </a:solidFill>
            <a:prstDash val="solid"/>
          </a:ln>
        </p:spPr>
      </p:sp>
      <p:pic>
        <p:nvPicPr>
          <p:cNvPr id="35" name="icon-581" descr="preencoded.png">    </p:cNvPr>
          <p:cNvPicPr>
            <a:picLocks noChangeAspect="1"/>
          </p:cNvPicPr>
          <p:nvPr/>
        </p:nvPicPr>
        <p:blipFill>
          <a:blip r:embed="rId6"/>
          <a:stretch>
            <a:fillRect/>
          </a:stretch>
        </p:blipFill>
        <p:spPr>
          <a:xfrm>
            <a:off x="9085844" y="1770644"/>
            <a:ext cx="317480" cy="317480"/>
          </a:xfrm>
          <a:prstGeom prst="rect">
            <a:avLst/>
          </a:prstGeom>
        </p:spPr>
      </p:pic>
      <p:sp>
        <p:nvSpPr>
          <p:cNvPr id="36" name="text-582"/>
          <p:cNvSpPr txBox="1"/>
          <p:nvPr/>
        </p:nvSpPr>
        <p:spPr>
          <a:xfrm>
            <a:off x="86593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Command</a:t>
            </a:r>
            <a:endParaRPr lang="en-US" sz="1600" dirty="0"/>
          </a:p>
        </p:txBody>
      </p:sp>
      <p:sp>
        <p:nvSpPr>
          <p:cNvPr id="37" name="text-583"/>
          <p:cNvSpPr txBox="1"/>
          <p:nvPr/>
        </p:nvSpPr>
        <p:spPr>
          <a:xfrm>
            <a:off x="86593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escalate to Simplified, ask Q9, play audio</a:t>
            </a:r>
            <a:endParaRPr lang="en-US" sz="1300" dirty="0"/>
          </a:p>
        </p:txBody>
      </p:sp>
      <p:sp>
        <p:nvSpPr>
          <p:cNvPr id="38" name="arrow-584"/>
          <p:cNvSpPr/>
          <p:nvPr/>
        </p:nvSpPr>
        <p:spPr>
          <a:xfrm>
            <a:off x="9976104" y="3108960"/>
            <a:ext cx="164592" cy="0"/>
          </a:xfrm>
          <a:prstGeom prst="line">
            <a:avLst/>
          </a:prstGeom>
          <a:noFill/>
          <a:ln w="25400">
            <a:solidFill>
              <a:srgbClr val="0A1B3D"/>
            </a:solidFill>
            <a:prstDash val="solid"/>
            <a:tailEnd type="triangle"/>
          </a:ln>
        </p:spPr>
      </p:sp>
      <p:sp>
        <p:nvSpPr>
          <p:cNvPr id="39" name="card-585"/>
          <p:cNvSpPr/>
          <p:nvPr/>
        </p:nvSpPr>
        <p:spPr>
          <a:xfrm>
            <a:off x="10149840" y="1463040"/>
            <a:ext cx="1417320" cy="3291840"/>
          </a:xfrm>
          <a:prstGeom prst="roundRect">
            <a:avLst>
              <a:gd name="adj" fmla="val 7742"/>
            </a:avLst>
          </a:prstGeom>
          <a:solidFill>
            <a:srgbClr val="EFF4FE"/>
          </a:solidFill>
          <a:ln w="12700">
            <a:solidFill>
              <a:srgbClr val="EFF4FE"/>
            </a:solidFill>
            <a:prstDash val="solid"/>
          </a:ln>
        </p:spPr>
      </p:sp>
      <p:sp>
        <p:nvSpPr>
          <p:cNvPr id="40" name="badge-586"/>
          <p:cNvSpPr/>
          <p:nvPr/>
        </p:nvSpPr>
        <p:spPr>
          <a:xfrm>
            <a:off x="10561320" y="1645920"/>
            <a:ext cx="566928" cy="566928"/>
          </a:xfrm>
          <a:prstGeom prst="ellipse">
            <a:avLst/>
          </a:prstGeom>
          <a:solidFill>
            <a:srgbClr val="1D5FD6"/>
          </a:solidFill>
          <a:ln w="12700">
            <a:solidFill>
              <a:srgbClr val="1D5FD6"/>
            </a:solidFill>
            <a:prstDash val="solid"/>
          </a:ln>
        </p:spPr>
      </p:sp>
      <p:pic>
        <p:nvPicPr>
          <p:cNvPr id="41" name="icon-587" descr="preencoded.png">    </p:cNvPr>
          <p:cNvPicPr>
            <a:picLocks noChangeAspect="1"/>
          </p:cNvPicPr>
          <p:nvPr/>
        </p:nvPicPr>
        <p:blipFill>
          <a:blip r:embed="rId7"/>
          <a:stretch>
            <a:fillRect/>
          </a:stretch>
        </p:blipFill>
        <p:spPr>
          <a:xfrm>
            <a:off x="10686044" y="1770644"/>
            <a:ext cx="317480" cy="317480"/>
          </a:xfrm>
          <a:prstGeom prst="rect">
            <a:avLst/>
          </a:prstGeom>
        </p:spPr>
      </p:pic>
      <p:sp>
        <p:nvSpPr>
          <p:cNvPr id="42" name="text-588"/>
          <p:cNvSpPr txBox="1"/>
          <p:nvPr/>
        </p:nvSpPr>
        <p:spPr>
          <a:xfrm>
            <a:off x="10259568" y="2377440"/>
            <a:ext cx="1197864" cy="365760"/>
          </a:xfrm>
          <a:prstGeom prst="rect">
            <a:avLst/>
          </a:prstGeom>
          <a:noFill/>
          <a:ln/>
        </p:spPr>
        <p:txBody>
          <a:bodyPr wrap="square" lIns="0" tIns="0" rIns="0" bIns="0" rtlCol="0" anchor="t"/>
          <a:lstStyle/>
          <a:p>
            <a:pPr algn="ctr" indent="0" marL="0">
              <a:buNone/>
            </a:pPr>
            <a:r>
              <a:rPr lang="en-US" sz="1600" b="1" dirty="0">
                <a:solidFill>
                  <a:srgbClr val="0A1B3D"/>
                </a:solidFill>
                <a:latin typeface="Cambria" pitchFamily="34" charset="0"/>
                <a:ea typeface="Cambria" pitchFamily="34" charset="-122"/>
                <a:cs typeface="Cambria" pitchFamily="34" charset="-120"/>
              </a:rPr>
              <a:t>Phone</a:t>
            </a:r>
            <a:endParaRPr lang="en-US" sz="1600" dirty="0"/>
          </a:p>
        </p:txBody>
      </p:sp>
      <p:sp>
        <p:nvSpPr>
          <p:cNvPr id="43" name="text-589"/>
          <p:cNvSpPr txBox="1"/>
          <p:nvPr/>
        </p:nvSpPr>
        <p:spPr>
          <a:xfrm>
            <a:off x="10259568" y="2788920"/>
            <a:ext cx="1197864" cy="1828800"/>
          </a:xfrm>
          <a:prstGeom prst="rect">
            <a:avLst/>
          </a:prstGeom>
          <a:noFill/>
          <a:ln/>
        </p:spPr>
        <p:txBody>
          <a:bodyPr wrap="square" lIns="0" tIns="0" rIns="0" bIns="0" rtlCol="0" anchor="t"/>
          <a:lstStyle/>
          <a:p>
            <a:pPr algn="ctr" indent="0" marL="0">
              <a:buNone/>
            </a:pPr>
            <a:r>
              <a:rPr lang="en-US" sz="1300" dirty="0">
                <a:solidFill>
                  <a:srgbClr val="14161A"/>
                </a:solidFill>
                <a:latin typeface="Calibri" pitchFamily="34" charset="0"/>
                <a:ea typeface="Calibri" pitchFamily="34" charset="-122"/>
                <a:cs typeface="Calibri" pitchFamily="34" charset="-120"/>
              </a:rPr>
              <a:t>plays the Simplified telling, then asks Q9</a:t>
            </a:r>
            <a:endParaRPr lang="en-US" sz="1300" dirty="0"/>
          </a:p>
        </p:txBody>
      </p:sp>
      <p:sp>
        <p:nvSpPr>
          <p:cNvPr id="44" name="text-590"/>
          <p:cNvSpPr txBox="1"/>
          <p:nvPr/>
        </p:nvSpPr>
        <p:spPr>
          <a:xfrm>
            <a:off x="548640" y="5029200"/>
            <a:ext cx="11064240" cy="640080"/>
          </a:xfrm>
          <a:prstGeom prst="rect">
            <a:avLst/>
          </a:prstGeom>
          <a:noFill/>
          <a:ln/>
        </p:spPr>
        <p:txBody>
          <a:bodyPr wrap="square" lIns="0" tIns="0" rIns="0" bIns="0" rtlCol="0" anchor="t"/>
          <a:lstStyle/>
          <a:p>
            <a:pPr indent="0" marL="0">
              <a:buNone/>
            </a:pPr>
            <a:r>
              <a:rPr lang="en-US" sz="1400" i="1" dirty="0">
                <a:solidFill>
                  <a:srgbClr val="1A47A8"/>
                </a:solidFill>
                <a:latin typeface="Calibri" pitchFamily="34" charset="0"/>
                <a:ea typeface="Calibri" pitchFamily="34" charset="-122"/>
                <a:cs typeface="Calibri" pitchFamily="34" charset="-120"/>
              </a:rPr>
              <a:t>BKT, baseline, decision and command values are from the server's own log for one student's second answer. Every step is saved in one transaction and written to the Decision log.</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Feedback and phase 2</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The decision log closes the loop and trains a learned policy</a:t>
            </a:r>
            <a:endParaRPr lang="en-US" sz="18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A3F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11 · Phase 2: decision logs become a learned policy</a:t>
            </a:r>
            <a:endParaRPr lang="en-US" sz="3000" dirty="0"/>
          </a:p>
        </p:txBody>
      </p:sp>
      <p:sp>
        <p:nvSpPr>
          <p:cNvPr id="3" name="text-59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i="1" dirty="0">
                <a:solidFill>
                  <a:srgbClr val="1A47A8"/>
                </a:solidFill>
                <a:latin typeface="Calibri" pitchFamily="34" charset="0"/>
                <a:ea typeface="Calibri" pitchFamily="34" charset="-122"/>
                <a:cs typeface="Calibri" pitchFamily="34" charset="-120"/>
              </a:rPr>
              <a:t>A Double DQN learns which concept to serve next, trained and tested on simulated learners before any real student.</a:t>
            </a:r>
            <a:endParaRPr lang="en-US" sz="1600" dirty="0"/>
          </a:p>
        </p:txBody>
      </p:sp>
      <p:sp>
        <p:nvSpPr>
          <p:cNvPr id="4" name="card-592"/>
          <p:cNvSpPr/>
          <p:nvPr/>
        </p:nvSpPr>
        <p:spPr>
          <a:xfrm>
            <a:off x="548640" y="1645920"/>
            <a:ext cx="2560320" cy="4023360"/>
          </a:xfrm>
          <a:prstGeom prst="roundRect">
            <a:avLst>
              <a:gd name="adj" fmla="val 4286"/>
            </a:avLst>
          </a:prstGeom>
          <a:solidFill>
            <a:srgbClr val="EFF4FE"/>
          </a:solidFill>
          <a:ln w="12700">
            <a:solidFill>
              <a:srgbClr val="EFF4FE"/>
            </a:solidFill>
            <a:prstDash val="solid"/>
          </a:ln>
        </p:spPr>
      </p:sp>
      <p:sp>
        <p:nvSpPr>
          <p:cNvPr id="5" name="badge-593"/>
          <p:cNvSpPr/>
          <p:nvPr/>
        </p:nvSpPr>
        <p:spPr>
          <a:xfrm>
            <a:off x="749808" y="1810512"/>
            <a:ext cx="420624" cy="420624"/>
          </a:xfrm>
          <a:prstGeom prst="ellipse">
            <a:avLst/>
          </a:prstGeom>
          <a:solidFill>
            <a:srgbClr val="1D5FD6"/>
          </a:solidFill>
          <a:ln w="12700">
            <a:solidFill>
              <a:srgbClr val="1D5FD6"/>
            </a:solidFill>
            <a:prstDash val="solid"/>
          </a:ln>
        </p:spPr>
      </p:sp>
      <p:pic>
        <p:nvPicPr>
          <p:cNvPr id="6" name="icon-594" descr="preencoded.png">    </p:cNvPr>
          <p:cNvPicPr>
            <a:picLocks noChangeAspect="1"/>
          </p:cNvPicPr>
          <p:nvPr/>
        </p:nvPicPr>
        <p:blipFill>
          <a:blip r:embed="rId1"/>
          <a:stretch>
            <a:fillRect/>
          </a:stretch>
        </p:blipFill>
        <p:spPr>
          <a:xfrm>
            <a:off x="842345" y="1903049"/>
            <a:ext cx="235549" cy="235549"/>
          </a:xfrm>
          <a:prstGeom prst="rect">
            <a:avLst/>
          </a:prstGeom>
        </p:spPr>
      </p:pic>
      <p:sp>
        <p:nvSpPr>
          <p:cNvPr id="7" name="text-595"/>
          <p:cNvSpPr txBox="1"/>
          <p:nvPr/>
        </p:nvSpPr>
        <p:spPr>
          <a:xfrm>
            <a:off x="1280160" y="1810512"/>
            <a:ext cx="164592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INPUT</a:t>
            </a:r>
            <a:endParaRPr lang="en-US" sz="1300" dirty="0"/>
          </a:p>
        </p:txBody>
      </p:sp>
      <p:sp>
        <p:nvSpPr>
          <p:cNvPr id="8" name="card-596"/>
          <p:cNvSpPr/>
          <p:nvPr/>
        </p:nvSpPr>
        <p:spPr>
          <a:xfrm>
            <a:off x="3474720" y="1645920"/>
            <a:ext cx="5257800" cy="4023360"/>
          </a:xfrm>
          <a:prstGeom prst="roundRect">
            <a:avLst>
              <a:gd name="adj" fmla="val 2727"/>
            </a:avLst>
          </a:prstGeom>
          <a:solidFill>
            <a:srgbClr val="DCE8FD"/>
          </a:solidFill>
          <a:ln w="12700">
            <a:solidFill>
              <a:srgbClr val="DCE8FD"/>
            </a:solidFill>
            <a:prstDash val="solid"/>
          </a:ln>
        </p:spPr>
      </p:sp>
      <p:sp>
        <p:nvSpPr>
          <p:cNvPr id="9" name="badge-597"/>
          <p:cNvSpPr/>
          <p:nvPr/>
        </p:nvSpPr>
        <p:spPr>
          <a:xfrm>
            <a:off x="3675888" y="1810512"/>
            <a:ext cx="420624" cy="420624"/>
          </a:xfrm>
          <a:prstGeom prst="ellipse">
            <a:avLst/>
          </a:prstGeom>
          <a:solidFill>
            <a:srgbClr val="E8833A"/>
          </a:solidFill>
          <a:ln w="12700">
            <a:solidFill>
              <a:srgbClr val="E8833A"/>
            </a:solidFill>
            <a:prstDash val="solid"/>
          </a:ln>
        </p:spPr>
      </p:sp>
      <p:pic>
        <p:nvPicPr>
          <p:cNvPr id="10" name="icon-598" descr="preencoded.png">    </p:cNvPr>
          <p:cNvPicPr>
            <a:picLocks noChangeAspect="1"/>
          </p:cNvPicPr>
          <p:nvPr/>
        </p:nvPicPr>
        <p:blipFill>
          <a:blip r:embed="rId2"/>
          <a:stretch>
            <a:fillRect/>
          </a:stretch>
        </p:blipFill>
        <p:spPr>
          <a:xfrm>
            <a:off x="3768425" y="1903049"/>
            <a:ext cx="235549" cy="235549"/>
          </a:xfrm>
          <a:prstGeom prst="rect">
            <a:avLst/>
          </a:prstGeom>
        </p:spPr>
      </p:pic>
      <p:sp>
        <p:nvSpPr>
          <p:cNvPr id="11" name="text-599"/>
          <p:cNvSpPr txBox="1"/>
          <p:nvPr/>
        </p:nvSpPr>
        <p:spPr>
          <a:xfrm>
            <a:off x="4206240" y="1810512"/>
            <a:ext cx="4343400"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PROCESS</a:t>
            </a:r>
            <a:endParaRPr lang="en-US" sz="1300" dirty="0"/>
          </a:p>
        </p:txBody>
      </p:sp>
      <p:sp>
        <p:nvSpPr>
          <p:cNvPr id="12" name="card-600"/>
          <p:cNvSpPr/>
          <p:nvPr/>
        </p:nvSpPr>
        <p:spPr>
          <a:xfrm>
            <a:off x="9098280" y="1645920"/>
            <a:ext cx="2542032" cy="4023360"/>
          </a:xfrm>
          <a:prstGeom prst="roundRect">
            <a:avLst>
              <a:gd name="adj" fmla="val 4317"/>
            </a:avLst>
          </a:prstGeom>
          <a:solidFill>
            <a:srgbClr val="EFF4FE"/>
          </a:solidFill>
          <a:ln w="12700">
            <a:solidFill>
              <a:srgbClr val="EFF4FE"/>
            </a:solidFill>
            <a:prstDash val="solid"/>
          </a:ln>
        </p:spPr>
      </p:sp>
      <p:sp>
        <p:nvSpPr>
          <p:cNvPr id="13" name="badge-601"/>
          <p:cNvSpPr/>
          <p:nvPr/>
        </p:nvSpPr>
        <p:spPr>
          <a:xfrm>
            <a:off x="9299448" y="1810512"/>
            <a:ext cx="420624" cy="420624"/>
          </a:xfrm>
          <a:prstGeom prst="ellipse">
            <a:avLst/>
          </a:prstGeom>
          <a:solidFill>
            <a:srgbClr val="157A4F"/>
          </a:solidFill>
          <a:ln w="12700">
            <a:solidFill>
              <a:srgbClr val="157A4F"/>
            </a:solidFill>
            <a:prstDash val="solid"/>
          </a:ln>
        </p:spPr>
      </p:sp>
      <p:pic>
        <p:nvPicPr>
          <p:cNvPr id="14" name="icon-602" descr="preencoded.png">    </p:cNvPr>
          <p:cNvPicPr>
            <a:picLocks noChangeAspect="1"/>
          </p:cNvPicPr>
          <p:nvPr/>
        </p:nvPicPr>
        <p:blipFill>
          <a:blip r:embed="rId3"/>
          <a:stretch>
            <a:fillRect/>
          </a:stretch>
        </p:blipFill>
        <p:spPr>
          <a:xfrm>
            <a:off x="9391985" y="1903049"/>
            <a:ext cx="235549" cy="235549"/>
          </a:xfrm>
          <a:prstGeom prst="rect">
            <a:avLst/>
          </a:prstGeom>
        </p:spPr>
      </p:pic>
      <p:sp>
        <p:nvSpPr>
          <p:cNvPr id="15" name="text-603"/>
          <p:cNvSpPr txBox="1"/>
          <p:nvPr/>
        </p:nvSpPr>
        <p:spPr>
          <a:xfrm>
            <a:off x="9829800" y="1810512"/>
            <a:ext cx="1627632" cy="420624"/>
          </a:xfrm>
          <a:prstGeom prst="rect">
            <a:avLst/>
          </a:prstGeom>
          <a:noFill/>
          <a:ln/>
        </p:spPr>
        <p:txBody>
          <a:bodyPr wrap="square" lIns="0" tIns="0" rIns="0" bIns="0" rtlCol="0" anchor="ctr"/>
          <a:lstStyle/>
          <a:p>
            <a:pPr indent="0" marL="0">
              <a:buNone/>
            </a:pPr>
            <a:r>
              <a:rPr lang="en-US" sz="1300" b="1" spc="200" kern="0" dirty="0">
                <a:solidFill>
                  <a:srgbClr val="5B6372"/>
                </a:solidFill>
                <a:latin typeface="Calibri" pitchFamily="34" charset="0"/>
                <a:ea typeface="Calibri" pitchFamily="34" charset="-122"/>
                <a:cs typeface="Calibri" pitchFamily="34" charset="-120"/>
              </a:rPr>
              <a:t>OUTPUT</a:t>
            </a:r>
            <a:endParaRPr lang="en-US" sz="1300" dirty="0"/>
          </a:p>
        </p:txBody>
      </p:sp>
      <p:sp>
        <p:nvSpPr>
          <p:cNvPr id="16" name="arrow-604"/>
          <p:cNvSpPr/>
          <p:nvPr/>
        </p:nvSpPr>
        <p:spPr>
          <a:xfrm>
            <a:off x="3136392" y="3657600"/>
            <a:ext cx="310896" cy="0"/>
          </a:xfrm>
          <a:prstGeom prst="line">
            <a:avLst/>
          </a:prstGeom>
          <a:noFill/>
          <a:ln w="25400">
            <a:solidFill>
              <a:srgbClr val="0A1B3D"/>
            </a:solidFill>
            <a:prstDash val="solid"/>
            <a:tailEnd type="triangle"/>
          </a:ln>
        </p:spPr>
      </p:sp>
      <p:sp>
        <p:nvSpPr>
          <p:cNvPr id="17" name="arrow-605"/>
          <p:cNvSpPr/>
          <p:nvPr/>
        </p:nvSpPr>
        <p:spPr>
          <a:xfrm>
            <a:off x="8759952" y="3657600"/>
            <a:ext cx="310896" cy="0"/>
          </a:xfrm>
          <a:prstGeom prst="line">
            <a:avLst/>
          </a:prstGeom>
          <a:noFill/>
          <a:ln w="25400">
            <a:solidFill>
              <a:srgbClr val="0A1B3D"/>
            </a:solidFill>
            <a:prstDash val="solid"/>
            <a:tailEnd type="triangle"/>
          </a:ln>
        </p:spPr>
      </p:sp>
      <p:sp>
        <p:nvSpPr>
          <p:cNvPr id="18" name="text-606"/>
          <p:cNvSpPr txBox="1"/>
          <p:nvPr/>
        </p:nvSpPr>
        <p:spPr>
          <a:xfrm>
            <a:off x="749808" y="2377440"/>
            <a:ext cx="2194560"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Decision logs: state, action, outcome</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The prerequisite graph</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Simulated learners of hidden types</a:t>
            </a:r>
            <a:endParaRPr lang="en-US" sz="1300" dirty="0"/>
          </a:p>
        </p:txBody>
      </p:sp>
      <p:sp>
        <p:nvSpPr>
          <p:cNvPr id="19" name="text-607"/>
          <p:cNvSpPr txBox="1"/>
          <p:nvPr/>
        </p:nvSpPr>
        <p:spPr>
          <a:xfrm>
            <a:off x="9299448" y="2377440"/>
            <a:ext cx="2176272" cy="31546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A candidate routing policy</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Evidence it generalises — or that it does not yet</a:t>
            </a:r>
            <a:endParaRPr lang="en-US" sz="1300" dirty="0"/>
          </a:p>
          <a:p>
            <a:pPr marL="152400" indent="-152400">
              <a:spcAft>
                <a:spcPts val="700"/>
              </a:spcAft>
              <a:buSzPct val="100000"/>
              <a:buChar char="•"/>
            </a:pPr>
            <a:r>
              <a:rPr lang="en-US" sz="1300" dirty="0">
                <a:solidFill>
                  <a:srgbClr val="14161A"/>
                </a:solidFill>
                <a:latin typeface="Calibri" pitchFamily="34" charset="0"/>
                <a:ea typeface="Calibri" pitchFamily="34" charset="-122"/>
                <a:cs typeface="Calibri" pitchFamily="34" charset="-120"/>
              </a:rPr>
              <a:t>Not wired into serving</a:t>
            </a:r>
            <a:endParaRPr lang="en-US" sz="1300" dirty="0"/>
          </a:p>
        </p:txBody>
      </p:sp>
      <p:sp>
        <p:nvSpPr>
          <p:cNvPr id="20" name="num-608"/>
          <p:cNvSpPr/>
          <p:nvPr/>
        </p:nvSpPr>
        <p:spPr>
          <a:xfrm>
            <a:off x="3675888" y="2377440"/>
            <a:ext cx="310896" cy="310896"/>
          </a:xfrm>
          <a:prstGeom prst="ellipse">
            <a:avLst/>
          </a:prstGeom>
          <a:solidFill>
            <a:srgbClr val="1A47A8"/>
          </a:solidFill>
          <a:ln w="12700">
            <a:solidFill>
              <a:srgbClr val="1A47A8"/>
            </a:solidFill>
            <a:prstDash val="solid"/>
          </a:ln>
        </p:spPr>
      </p:sp>
      <p:sp>
        <p:nvSpPr>
          <p:cNvPr id="21" name="text-609"/>
          <p:cNvSpPr txBox="1"/>
          <p:nvPr/>
        </p:nvSpPr>
        <p:spPr>
          <a:xfrm>
            <a:off x="3675888" y="23774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610"/>
          <p:cNvSpPr txBox="1"/>
          <p:nvPr/>
        </p:nvSpPr>
        <p:spPr>
          <a:xfrm>
            <a:off x="4114800" y="235915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Environment</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State: estimated mastery per concept + graph features; action: serve a question from one concept (masked).</a:t>
            </a:r>
            <a:endParaRPr lang="en-US" sz="1400" dirty="0"/>
          </a:p>
        </p:txBody>
      </p:sp>
      <p:sp>
        <p:nvSpPr>
          <p:cNvPr id="23" name="num-611"/>
          <p:cNvSpPr/>
          <p:nvPr/>
        </p:nvSpPr>
        <p:spPr>
          <a:xfrm>
            <a:off x="3675888" y="3188970"/>
            <a:ext cx="310896" cy="310896"/>
          </a:xfrm>
          <a:prstGeom prst="ellipse">
            <a:avLst/>
          </a:prstGeom>
          <a:solidFill>
            <a:srgbClr val="1A47A8"/>
          </a:solidFill>
          <a:ln w="12700">
            <a:solidFill>
              <a:srgbClr val="1A47A8"/>
            </a:solidFill>
            <a:prstDash val="solid"/>
          </a:ln>
        </p:spPr>
      </p:sp>
      <p:sp>
        <p:nvSpPr>
          <p:cNvPr id="24" name="text-612"/>
          <p:cNvSpPr txBox="1"/>
          <p:nvPr/>
        </p:nvSpPr>
        <p:spPr>
          <a:xfrm>
            <a:off x="3675888" y="318897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613"/>
          <p:cNvSpPr txBox="1"/>
          <p:nvPr/>
        </p:nvSpPr>
        <p:spPr>
          <a:xfrm>
            <a:off x="4114800" y="317068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Reward</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Mastery gained per step, minus a step cost and forgetting, plus bonuses for mastering concepts.</a:t>
            </a:r>
            <a:endParaRPr lang="en-US" sz="1400" dirty="0"/>
          </a:p>
        </p:txBody>
      </p:sp>
      <p:sp>
        <p:nvSpPr>
          <p:cNvPr id="26" name="num-614"/>
          <p:cNvSpPr/>
          <p:nvPr/>
        </p:nvSpPr>
        <p:spPr>
          <a:xfrm>
            <a:off x="3675888" y="4000500"/>
            <a:ext cx="310896" cy="310896"/>
          </a:xfrm>
          <a:prstGeom prst="ellipse">
            <a:avLst/>
          </a:prstGeom>
          <a:solidFill>
            <a:srgbClr val="1A47A8"/>
          </a:solidFill>
          <a:ln w="12700">
            <a:solidFill>
              <a:srgbClr val="1A47A8"/>
            </a:solidFill>
            <a:prstDash val="solid"/>
          </a:ln>
        </p:spPr>
      </p:sp>
      <p:sp>
        <p:nvSpPr>
          <p:cNvPr id="27" name="text-615"/>
          <p:cNvSpPr txBox="1"/>
          <p:nvPr/>
        </p:nvSpPr>
        <p:spPr>
          <a:xfrm>
            <a:off x="3675888" y="40005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616"/>
          <p:cNvSpPr txBox="1"/>
          <p:nvPr/>
        </p:nvSpPr>
        <p:spPr>
          <a:xfrm>
            <a:off x="4114800" y="398221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Double DQN</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Online network picks the action, target network scores it; smooth-L1 loss, gradient clipping.</a:t>
            </a:r>
            <a:endParaRPr lang="en-US" sz="1400" dirty="0"/>
          </a:p>
        </p:txBody>
      </p:sp>
      <p:sp>
        <p:nvSpPr>
          <p:cNvPr id="29" name="num-617"/>
          <p:cNvSpPr/>
          <p:nvPr/>
        </p:nvSpPr>
        <p:spPr>
          <a:xfrm>
            <a:off x="3675888" y="4812030"/>
            <a:ext cx="310896" cy="310896"/>
          </a:xfrm>
          <a:prstGeom prst="ellipse">
            <a:avLst/>
          </a:prstGeom>
          <a:solidFill>
            <a:srgbClr val="1A47A8"/>
          </a:solidFill>
          <a:ln w="12700">
            <a:solidFill>
              <a:srgbClr val="1A47A8"/>
            </a:solidFill>
            <a:prstDash val="solid"/>
          </a:ln>
        </p:spPr>
      </p:sp>
      <p:sp>
        <p:nvSpPr>
          <p:cNvPr id="30" name="text-618"/>
          <p:cNvSpPr txBox="1"/>
          <p:nvPr/>
        </p:nvSpPr>
        <p:spPr>
          <a:xfrm>
            <a:off x="3675888" y="481203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619"/>
          <p:cNvSpPr txBox="1"/>
          <p:nvPr/>
        </p:nvSpPr>
        <p:spPr>
          <a:xfrm>
            <a:off x="4114800" y="4793742"/>
            <a:ext cx="4462272" cy="774954"/>
          </a:xfrm>
          <a:prstGeom prst="rect">
            <a:avLst/>
          </a:prstGeom>
          <a:noFill/>
          <a:ln/>
        </p:spPr>
        <p:txBody>
          <a:bodyPr wrap="square" lIns="0" tIns="0" rIns="0" bIns="0" rtlCol="0" anchor="t"/>
          <a:lstStyle/>
          <a:p>
            <a:pPr indent="0" marL="0">
              <a:buNone/>
            </a:pPr>
            <a:r>
              <a:rPr lang="en-US" sz="1400" b="1" dirty="0">
                <a:solidFill>
                  <a:srgbClr val="0A1B3D"/>
                </a:solidFill>
                <a:latin typeface="Calibri" pitchFamily="34" charset="0"/>
                <a:ea typeface="Calibri" pitchFamily="34" charset="-122"/>
                <a:cs typeface="Calibri" pitchFamily="34" charset="-120"/>
              </a:rPr>
              <a:t>Bake-off</a:t>
            </a:r>
            <a:endParaRPr lang="en-US" sz="1400" dirty="0"/>
          </a:p>
          <a:p>
            <a:pPr indent="0" marL="0">
              <a:buNone/>
            </a:pPr>
            <a:r>
              <a:rPr lang="en-US" sz="1250" dirty="0">
                <a:solidFill>
                  <a:srgbClr val="14161A"/>
                </a:solidFill>
                <a:latin typeface="Calibri" pitchFamily="34" charset="0"/>
                <a:ea typeface="Calibri" pitchFamily="34" charset="-122"/>
                <a:cs typeface="Calibri" pitchFamily="34" charset="-120"/>
              </a:rPr>
              <a:t>Must beat greedy and threshold baselines on held-out graphs and learner types.</a:t>
            </a:r>
            <a:endParaRPr lang="en-US" sz="1400" dirty="0"/>
          </a:p>
        </p:txBody>
      </p:sp>
      <p:sp>
        <p:nvSpPr>
          <p:cNvPr id="32" name="text-620"/>
          <p:cNvSpPr txBox="1"/>
          <p:nvPr/>
        </p:nvSpPr>
        <p:spPr>
          <a:xfrm>
            <a:off x="548640" y="5815584"/>
            <a:ext cx="1097280" cy="329184"/>
          </a:xfrm>
          <a:prstGeom prst="rect">
            <a:avLst/>
          </a:prstGeom>
          <a:noFill/>
          <a:ln/>
        </p:spPr>
        <p:txBody>
          <a:bodyPr wrap="square" lIns="0" tIns="0" rIns="0" bIns="0" rtlCol="0" anchor="ctr"/>
          <a:lstStyle/>
          <a:p>
            <a:pPr indent="0" marL="0">
              <a:buNone/>
            </a:pPr>
            <a:r>
              <a:rPr lang="en-US" sz="1200" b="1" dirty="0">
                <a:solidFill>
                  <a:srgbClr val="5B6372"/>
                </a:solidFill>
                <a:latin typeface="Calibri" pitchFamily="34" charset="0"/>
                <a:ea typeface="Calibri" pitchFamily="34" charset="-122"/>
                <a:cs typeface="Calibri" pitchFamily="34" charset="-120"/>
              </a:rPr>
              <a:t>Algorithms</a:t>
            </a:r>
            <a:endParaRPr lang="en-US" sz="1200" dirty="0"/>
          </a:p>
        </p:txBody>
      </p:sp>
      <p:sp>
        <p:nvSpPr>
          <p:cNvPr id="33" name="pill-621"/>
          <p:cNvSpPr/>
          <p:nvPr/>
        </p:nvSpPr>
        <p:spPr>
          <a:xfrm>
            <a:off x="1645920" y="5815584"/>
            <a:ext cx="1014984" cy="329184"/>
          </a:xfrm>
          <a:prstGeom prst="roundRect">
            <a:avLst>
              <a:gd name="adj" fmla="val 50000"/>
            </a:avLst>
          </a:prstGeom>
          <a:solidFill>
            <a:srgbClr val="0A1B3D"/>
          </a:solidFill>
          <a:ln w="12700">
            <a:solidFill>
              <a:srgbClr val="0A1B3D"/>
            </a:solidFill>
            <a:prstDash val="solid"/>
          </a:ln>
        </p:spPr>
      </p:sp>
      <p:sp>
        <p:nvSpPr>
          <p:cNvPr id="34" name="text-622"/>
          <p:cNvSpPr txBox="1"/>
          <p:nvPr/>
        </p:nvSpPr>
        <p:spPr>
          <a:xfrm>
            <a:off x="1645920" y="5815584"/>
            <a:ext cx="10149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Double DQN</a:t>
            </a:r>
            <a:endParaRPr lang="en-US" sz="1100" dirty="0"/>
          </a:p>
        </p:txBody>
      </p:sp>
      <p:sp>
        <p:nvSpPr>
          <p:cNvPr id="35" name="pill-623"/>
          <p:cNvSpPr/>
          <p:nvPr/>
        </p:nvSpPr>
        <p:spPr>
          <a:xfrm>
            <a:off x="2770632" y="5815584"/>
            <a:ext cx="1289304" cy="329184"/>
          </a:xfrm>
          <a:prstGeom prst="roundRect">
            <a:avLst>
              <a:gd name="adj" fmla="val 50000"/>
            </a:avLst>
          </a:prstGeom>
          <a:solidFill>
            <a:srgbClr val="0A1B3D"/>
          </a:solidFill>
          <a:ln w="12700">
            <a:solidFill>
              <a:srgbClr val="0A1B3D"/>
            </a:solidFill>
            <a:prstDash val="solid"/>
          </a:ln>
        </p:spPr>
      </p:sp>
      <p:sp>
        <p:nvSpPr>
          <p:cNvPr id="36" name="text-624"/>
          <p:cNvSpPr txBox="1"/>
          <p:nvPr/>
        </p:nvSpPr>
        <p:spPr>
          <a:xfrm>
            <a:off x="2770632" y="5815584"/>
            <a:ext cx="12893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Action masking</a:t>
            </a:r>
            <a:endParaRPr lang="en-US" sz="1100" dirty="0"/>
          </a:p>
        </p:txBody>
      </p:sp>
      <p:sp>
        <p:nvSpPr>
          <p:cNvPr id="37" name="pill-625"/>
          <p:cNvSpPr/>
          <p:nvPr/>
        </p:nvSpPr>
        <p:spPr>
          <a:xfrm>
            <a:off x="4169664" y="5815584"/>
            <a:ext cx="1563624" cy="329184"/>
          </a:xfrm>
          <a:prstGeom prst="roundRect">
            <a:avLst>
              <a:gd name="adj" fmla="val 50000"/>
            </a:avLst>
          </a:prstGeom>
          <a:solidFill>
            <a:srgbClr val="0A1B3D"/>
          </a:solidFill>
          <a:ln w="12700">
            <a:solidFill>
              <a:srgbClr val="0A1B3D"/>
            </a:solidFill>
            <a:prstDash val="solid"/>
          </a:ln>
        </p:spPr>
      </p:sp>
      <p:sp>
        <p:nvSpPr>
          <p:cNvPr id="38" name="text-626"/>
          <p:cNvSpPr txBox="1"/>
          <p:nvPr/>
        </p:nvSpPr>
        <p:spPr>
          <a:xfrm>
            <a:off x="4169664" y="5815584"/>
            <a:ext cx="15636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Simulated learners</a:t>
            </a:r>
            <a:endParaRPr lang="en-US" sz="1100" dirty="0"/>
          </a:p>
        </p:txBody>
      </p:sp>
      <p:sp>
        <p:nvSpPr>
          <p:cNvPr id="39" name="pill-627"/>
          <p:cNvSpPr/>
          <p:nvPr/>
        </p:nvSpPr>
        <p:spPr>
          <a:xfrm>
            <a:off x="5843016" y="5815584"/>
            <a:ext cx="1632204" cy="329184"/>
          </a:xfrm>
          <a:prstGeom prst="roundRect">
            <a:avLst>
              <a:gd name="adj" fmla="val 50000"/>
            </a:avLst>
          </a:prstGeom>
          <a:solidFill>
            <a:srgbClr val="0A1B3D"/>
          </a:solidFill>
          <a:ln w="12700">
            <a:solidFill>
              <a:srgbClr val="0A1B3D"/>
            </a:solidFill>
            <a:prstDash val="solid"/>
          </a:ln>
        </p:spPr>
      </p:sp>
      <p:sp>
        <p:nvSpPr>
          <p:cNvPr id="40" name="text-628"/>
          <p:cNvSpPr txBox="1"/>
          <p:nvPr/>
        </p:nvSpPr>
        <p:spPr>
          <a:xfrm>
            <a:off x="5843016" y="5815584"/>
            <a:ext cx="163220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Held-out evaluation</a:t>
            </a:r>
            <a:endParaRPr lang="en-US" sz="11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Verified end to end</a:t>
            </a:r>
            <a:endParaRPr lang="en-US" sz="3000" dirty="0"/>
          </a:p>
        </p:txBody>
      </p:sp>
      <p:sp>
        <p:nvSpPr>
          <p:cNvPr id="3" name="card-629"/>
          <p:cNvSpPr/>
          <p:nvPr/>
        </p:nvSpPr>
        <p:spPr>
          <a:xfrm>
            <a:off x="548640" y="1371600"/>
            <a:ext cx="3474720" cy="2011680"/>
          </a:xfrm>
          <a:prstGeom prst="roundRect">
            <a:avLst>
              <a:gd name="adj" fmla="val 5455"/>
            </a:avLst>
          </a:prstGeom>
          <a:solidFill>
            <a:srgbClr val="EFF4FE"/>
          </a:solidFill>
          <a:ln w="12700">
            <a:solidFill>
              <a:srgbClr val="EFF4FE"/>
            </a:solidFill>
            <a:prstDash val="solid"/>
          </a:ln>
        </p:spPr>
      </p:sp>
      <p:sp>
        <p:nvSpPr>
          <p:cNvPr id="4" name="text-630"/>
          <p:cNvSpPr txBox="1"/>
          <p:nvPr/>
        </p:nvSpPr>
        <p:spPr>
          <a:xfrm>
            <a:off x="822960" y="1508760"/>
            <a:ext cx="3017520" cy="868680"/>
          </a:xfrm>
          <a:prstGeom prst="rect">
            <a:avLst/>
          </a:prstGeom>
          <a:noFill/>
          <a:ln/>
        </p:spPr>
        <p:txBody>
          <a:bodyPr wrap="square" lIns="0" tIns="0" rIns="0" bIns="0" rtlCol="0" anchor="t"/>
          <a:lstStyle/>
          <a:p>
            <a:pPr indent="0" marL="0">
              <a:buNone/>
            </a:pPr>
            <a:r>
              <a:rPr lang="en-US" sz="4000" b="1" dirty="0">
                <a:solidFill>
                  <a:srgbClr val="1D5FD6"/>
                </a:solidFill>
                <a:latin typeface="Cambria" pitchFamily="34" charset="0"/>
                <a:ea typeface="Cambria" pitchFamily="34" charset="-122"/>
                <a:cs typeface="Cambria" pitchFamily="34" charset="-120"/>
              </a:rPr>
              <a:t>1,466</a:t>
            </a:r>
            <a:endParaRPr lang="en-US" sz="4000" dirty="0"/>
          </a:p>
        </p:txBody>
      </p:sp>
      <p:sp>
        <p:nvSpPr>
          <p:cNvPr id="5" name="text-631"/>
          <p:cNvSpPr txBox="1"/>
          <p:nvPr/>
        </p:nvSpPr>
        <p:spPr>
          <a:xfrm>
            <a:off x="822960" y="2423160"/>
            <a:ext cx="3017520" cy="86868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of 1,483 backend tests pass; the other 17 need a live LLM service</a:t>
            </a:r>
            <a:endParaRPr lang="en-US" sz="1400" dirty="0"/>
          </a:p>
        </p:txBody>
      </p:sp>
      <p:sp>
        <p:nvSpPr>
          <p:cNvPr id="6" name="card-632"/>
          <p:cNvSpPr/>
          <p:nvPr/>
        </p:nvSpPr>
        <p:spPr>
          <a:xfrm>
            <a:off x="4297680" y="1371600"/>
            <a:ext cx="3474720" cy="2011680"/>
          </a:xfrm>
          <a:prstGeom prst="roundRect">
            <a:avLst>
              <a:gd name="adj" fmla="val 5455"/>
            </a:avLst>
          </a:prstGeom>
          <a:solidFill>
            <a:srgbClr val="DCE8FD"/>
          </a:solidFill>
          <a:ln w="12700">
            <a:solidFill>
              <a:srgbClr val="DCE8FD"/>
            </a:solidFill>
            <a:prstDash val="solid"/>
          </a:ln>
        </p:spPr>
      </p:sp>
      <p:sp>
        <p:nvSpPr>
          <p:cNvPr id="7" name="text-633"/>
          <p:cNvSpPr txBox="1"/>
          <p:nvPr/>
        </p:nvSpPr>
        <p:spPr>
          <a:xfrm>
            <a:off x="4572000" y="1508760"/>
            <a:ext cx="3017520" cy="868680"/>
          </a:xfrm>
          <a:prstGeom prst="rect">
            <a:avLst/>
          </a:prstGeom>
          <a:noFill/>
          <a:ln/>
        </p:spPr>
        <p:txBody>
          <a:bodyPr wrap="square" lIns="0" tIns="0" rIns="0" bIns="0" rtlCol="0" anchor="t"/>
          <a:lstStyle/>
          <a:p>
            <a:pPr indent="0" marL="0">
              <a:buNone/>
            </a:pPr>
            <a:r>
              <a:rPr lang="en-US" sz="4000" b="1" dirty="0">
                <a:solidFill>
                  <a:srgbClr val="157A4F"/>
                </a:solidFill>
                <a:latin typeface="Cambria" pitchFamily="34" charset="0"/>
                <a:ea typeface="Cambria" pitchFamily="34" charset="-122"/>
                <a:cs typeface="Cambria" pitchFamily="34" charset="-120"/>
              </a:rPr>
              <a:t>3 / 3</a:t>
            </a:r>
            <a:endParaRPr lang="en-US" sz="4000" dirty="0"/>
          </a:p>
        </p:txBody>
      </p:sp>
      <p:sp>
        <p:nvSpPr>
          <p:cNvPr id="8" name="text-634"/>
          <p:cNvSpPr txBox="1"/>
          <p:nvPr/>
        </p:nvSpPr>
        <p:spPr>
          <a:xfrm>
            <a:off x="4572000" y="2423160"/>
            <a:ext cx="3017520" cy="86868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simulated students complete a real 13-concept topic</a:t>
            </a:r>
            <a:endParaRPr lang="en-US" sz="1400" dirty="0"/>
          </a:p>
        </p:txBody>
      </p:sp>
      <p:sp>
        <p:nvSpPr>
          <p:cNvPr id="9" name="card-635"/>
          <p:cNvSpPr/>
          <p:nvPr/>
        </p:nvSpPr>
        <p:spPr>
          <a:xfrm>
            <a:off x="8046720" y="1371600"/>
            <a:ext cx="3474720" cy="2011680"/>
          </a:xfrm>
          <a:prstGeom prst="roundRect">
            <a:avLst>
              <a:gd name="adj" fmla="val 5455"/>
            </a:avLst>
          </a:prstGeom>
          <a:solidFill>
            <a:srgbClr val="EFF4FE"/>
          </a:solidFill>
          <a:ln w="12700">
            <a:solidFill>
              <a:srgbClr val="EFF4FE"/>
            </a:solidFill>
            <a:prstDash val="solid"/>
          </a:ln>
        </p:spPr>
      </p:sp>
      <p:sp>
        <p:nvSpPr>
          <p:cNvPr id="10" name="text-636"/>
          <p:cNvSpPr txBox="1"/>
          <p:nvPr/>
        </p:nvSpPr>
        <p:spPr>
          <a:xfrm>
            <a:off x="8321040" y="1508760"/>
            <a:ext cx="3017520" cy="868680"/>
          </a:xfrm>
          <a:prstGeom prst="rect">
            <a:avLst/>
          </a:prstGeom>
          <a:noFill/>
          <a:ln/>
        </p:spPr>
        <p:txBody>
          <a:bodyPr wrap="square" lIns="0" tIns="0" rIns="0" bIns="0" rtlCol="0" anchor="t"/>
          <a:lstStyle/>
          <a:p>
            <a:pPr indent="0" marL="0">
              <a:buNone/>
            </a:pPr>
            <a:r>
              <a:rPr lang="en-US" sz="4000" b="1" dirty="0">
                <a:solidFill>
                  <a:srgbClr val="1A47A8"/>
                </a:solidFill>
                <a:latin typeface="Cambria" pitchFamily="34" charset="0"/>
                <a:ea typeface="Cambria" pitchFamily="34" charset="-122"/>
                <a:cs typeface="Cambria" pitchFamily="34" charset="-120"/>
              </a:rPr>
              <a:t>0.57</a:t>
            </a:r>
            <a:endParaRPr lang="en-US" sz="4000" dirty="0"/>
          </a:p>
        </p:txBody>
      </p:sp>
      <p:sp>
        <p:nvSpPr>
          <p:cNvPr id="11" name="text-637"/>
          <p:cNvSpPr txBox="1"/>
          <p:nvPr/>
        </p:nvSpPr>
        <p:spPr>
          <a:xfrm>
            <a:off x="8321040" y="2423160"/>
            <a:ext cx="3017520" cy="868680"/>
          </a:xfrm>
          <a:prstGeom prst="rect">
            <a:avLst/>
          </a:prstGeom>
          <a:noFill/>
          <a:ln/>
        </p:spPr>
        <p:txBody>
          <a:bodyPr wrap="square" lIns="0" tIns="0" rIns="0" bIns="0" rtlCol="0" anchor="t"/>
          <a:lstStyle/>
          <a:p>
            <a:pPr indent="0" marL="0">
              <a:buNone/>
            </a:pPr>
            <a:r>
              <a:rPr lang="en-US" sz="1400" dirty="0">
                <a:solidFill>
                  <a:srgbClr val="14161A"/>
                </a:solidFill>
                <a:latin typeface="Calibri" pitchFamily="34" charset="0"/>
                <a:ea typeface="Calibri" pitchFamily="34" charset="-122"/>
                <a:cs typeface="Calibri" pitchFamily="34" charset="-120"/>
              </a:rPr>
              <a:t>learning-path precision on blind keys (v6.1), up from 0.49</a:t>
            </a:r>
            <a:endParaRPr lang="en-US" sz="1400" dirty="0"/>
          </a:p>
        </p:txBody>
      </p:sp>
      <p:graphicFrame>
        <p:nvGraphicFramePr>
          <p:cNvPr id="12" name="chart-walks" descr=""/>
          <p:cNvGraphicFramePr/>
          <p:nvPr/>
        </p:nvGraphicFramePr>
        <p:xfrm>
          <a:off x="548640" y="3611880"/>
          <a:ext cx="6400800" cy="2606040"/>
        </p:xfrm>
        <a:graphic xmlns:a="http://schemas.openxmlformats.org/drawingml/2006/main">
          <a:graphicData uri="http://schemas.openxmlformats.org/drawingml/2006/chart">
            <c:chart xmlns:c="http://schemas.openxmlformats.org/drawingml/2006/chart" r:id="rId1"/>
          </a:graphicData>
        </a:graphic>
      </p:graphicFrame>
      <p:sp>
        <p:nvSpPr>
          <p:cNvPr id="13" name="text-638"/>
          <p:cNvSpPr txBox="1"/>
          <p:nvPr/>
        </p:nvSpPr>
        <p:spPr>
          <a:xfrm>
            <a:off x="7315200" y="3703320"/>
            <a:ext cx="4297680" cy="2377440"/>
          </a:xfrm>
          <a:prstGeom prst="rect">
            <a:avLst/>
          </a:prstGeom>
          <a:noFill/>
          <a:ln/>
        </p:spPr>
        <p:txBody>
          <a:bodyPr wrap="square" lIns="0" tIns="0" rIns="0" bIns="0" rtlCol="0" anchor="t"/>
          <a:lstStyle/>
          <a:p>
            <a:pPr indent="0" marL="0">
              <a:spcAft>
                <a:spcPts val="800"/>
              </a:spcAft>
              <a:buNone/>
            </a:pPr>
            <a:r>
              <a:rPr lang="en-US" sz="1400" dirty="0">
                <a:solidFill>
                  <a:srgbClr val="14161A"/>
                </a:solidFill>
                <a:latin typeface="Calibri" pitchFamily="34" charset="0"/>
                <a:ea typeface="Calibri" pitchFamily="34" charset="-122"/>
                <a:cs typeface="Calibri" pitchFamily="34" charset="-120"/>
              </a:rPr>
              <a:t>The harness runs the phone's real traversal code against a live server on a copy of the database.</a:t>
            </a:r>
            <a:endParaRPr lang="en-US" sz="1400" dirty="0"/>
          </a:p>
          <a:p>
            <a:pPr indent="0" marL="0">
              <a:spcAft>
                <a:spcPts val="800"/>
              </a:spcAft>
              <a:buNone/>
            </a:pPr>
            <a:r>
              <a:rPr lang="en-US" sz="1400" dirty="0">
                <a:solidFill>
                  <a:srgbClr val="14161A"/>
                </a:solidFill>
                <a:latin typeface="Calibri" pitchFamily="34" charset="0"/>
                <a:ea typeface="Calibri" pitchFamily="34" charset="-122"/>
                <a:cs typeface="Calibri" pitchFamily="34" charset="-120"/>
              </a:rPr>
              <a:t>It checks that every audio clip downloads, the app and server always agree on position, and a missed True/False is never asked again.</a:t>
            </a:r>
            <a:endParaRPr lang="en-US" sz="14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Limitations and next steps</a:t>
            </a:r>
            <a:endParaRPr lang="en-US" sz="3000" dirty="0"/>
          </a:p>
        </p:txBody>
      </p:sp>
      <p:sp>
        <p:nvSpPr>
          <p:cNvPr id="3" name="card-639"/>
          <p:cNvSpPr/>
          <p:nvPr/>
        </p:nvSpPr>
        <p:spPr>
          <a:xfrm>
            <a:off x="548640" y="1371600"/>
            <a:ext cx="5440680" cy="4572000"/>
          </a:xfrm>
          <a:prstGeom prst="roundRect">
            <a:avLst>
              <a:gd name="adj" fmla="val 2400"/>
            </a:avLst>
          </a:prstGeom>
          <a:solidFill>
            <a:srgbClr val="EFF4FE"/>
          </a:solidFill>
          <a:ln w="12700">
            <a:solidFill>
              <a:srgbClr val="EFF4FE"/>
            </a:solidFill>
            <a:prstDash val="solid"/>
          </a:ln>
        </p:spPr>
      </p:sp>
      <p:sp>
        <p:nvSpPr>
          <p:cNvPr id="4" name="badge-640"/>
          <p:cNvSpPr/>
          <p:nvPr/>
        </p:nvSpPr>
        <p:spPr>
          <a:xfrm>
            <a:off x="868680" y="1600200"/>
            <a:ext cx="640080" cy="640080"/>
          </a:xfrm>
          <a:prstGeom prst="ellipse">
            <a:avLst/>
          </a:prstGeom>
          <a:solidFill>
            <a:srgbClr val="E8833A"/>
          </a:solidFill>
          <a:ln w="12700">
            <a:solidFill>
              <a:srgbClr val="E8833A"/>
            </a:solidFill>
            <a:prstDash val="solid"/>
          </a:ln>
        </p:spPr>
      </p:sp>
      <p:pic>
        <p:nvPicPr>
          <p:cNvPr id="5" name="icon-641" descr="preencoded.png">    </p:cNvPr>
          <p:cNvPicPr>
            <a:picLocks noChangeAspect="1"/>
          </p:cNvPicPr>
          <p:nvPr/>
        </p:nvPicPr>
        <p:blipFill>
          <a:blip r:embed="rId1"/>
          <a:stretch>
            <a:fillRect/>
          </a:stretch>
        </p:blipFill>
        <p:spPr>
          <a:xfrm>
            <a:off x="1009498" y="1741018"/>
            <a:ext cx="358445" cy="358445"/>
          </a:xfrm>
          <a:prstGeom prst="rect">
            <a:avLst/>
          </a:prstGeom>
        </p:spPr>
      </p:pic>
      <p:sp>
        <p:nvSpPr>
          <p:cNvPr id="6" name="text-642"/>
          <p:cNvSpPr txBox="1"/>
          <p:nvPr/>
        </p:nvSpPr>
        <p:spPr>
          <a:xfrm>
            <a:off x="1691640" y="1645920"/>
            <a:ext cx="4023360" cy="548640"/>
          </a:xfrm>
          <a:prstGeom prst="rect">
            <a:avLst/>
          </a:prstGeom>
          <a:noFill/>
          <a:ln/>
        </p:spPr>
        <p:txBody>
          <a:bodyPr wrap="square" lIns="0" tIns="0" rIns="0" bIns="0" rtlCol="0" anchor="ctr"/>
          <a:lstStyle/>
          <a:p>
            <a:pPr indent="0" marL="0">
              <a:buNone/>
            </a:pPr>
            <a:r>
              <a:rPr lang="en-US" sz="2200" b="1" dirty="0">
                <a:solidFill>
                  <a:srgbClr val="0A1B3D"/>
                </a:solidFill>
                <a:latin typeface="Cambria" pitchFamily="34" charset="0"/>
                <a:ea typeface="Cambria" pitchFamily="34" charset="-122"/>
                <a:cs typeface="Cambria" pitchFamily="34" charset="-120"/>
              </a:rPr>
              <a:t>Limitations</a:t>
            </a:r>
            <a:endParaRPr lang="en-US" sz="2200" dirty="0"/>
          </a:p>
        </p:txBody>
      </p:sp>
      <p:sp>
        <p:nvSpPr>
          <p:cNvPr id="7" name="text-643"/>
          <p:cNvSpPr txBox="1"/>
          <p:nvPr/>
        </p:nvSpPr>
        <p:spPr>
          <a:xfrm>
            <a:off x="868680" y="2468880"/>
            <a:ext cx="4846320" cy="329184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Grouping and version cut-offs are operating thresholds, set on few labelled pairs</a:t>
            </a:r>
            <a:endParaRPr lang="en-US" sz="1600" dirty="0"/>
          </a:p>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The learning path still links parallel concepts; many links need teacher approval</a:t>
            </a:r>
            <a:endParaRPr lang="en-US" sz="1600" dirty="0"/>
          </a:p>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BKT weights are informed defaults, not yet fitted to our students</a:t>
            </a:r>
            <a:endParaRPr lang="en-US" sz="1600" dirty="0"/>
          </a:p>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The DQN agent has only seen simulated learners</a:t>
            </a:r>
            <a:endParaRPr lang="en-US" sz="1600" dirty="0"/>
          </a:p>
        </p:txBody>
      </p:sp>
      <p:sp>
        <p:nvSpPr>
          <p:cNvPr id="8" name="card-644"/>
          <p:cNvSpPr/>
          <p:nvPr/>
        </p:nvSpPr>
        <p:spPr>
          <a:xfrm>
            <a:off x="6172200" y="1371600"/>
            <a:ext cx="5440680" cy="4572000"/>
          </a:xfrm>
          <a:prstGeom prst="roundRect">
            <a:avLst>
              <a:gd name="adj" fmla="val 2400"/>
            </a:avLst>
          </a:prstGeom>
          <a:solidFill>
            <a:srgbClr val="DCE8FD"/>
          </a:solidFill>
          <a:ln w="12700">
            <a:solidFill>
              <a:srgbClr val="DCE8FD"/>
            </a:solidFill>
            <a:prstDash val="solid"/>
          </a:ln>
        </p:spPr>
      </p:sp>
      <p:sp>
        <p:nvSpPr>
          <p:cNvPr id="9" name="badge-645"/>
          <p:cNvSpPr/>
          <p:nvPr/>
        </p:nvSpPr>
        <p:spPr>
          <a:xfrm>
            <a:off x="6492240" y="1600200"/>
            <a:ext cx="640080" cy="640080"/>
          </a:xfrm>
          <a:prstGeom prst="ellipse">
            <a:avLst/>
          </a:prstGeom>
          <a:solidFill>
            <a:srgbClr val="1D5FD6"/>
          </a:solidFill>
          <a:ln w="12700">
            <a:solidFill>
              <a:srgbClr val="1D5FD6"/>
            </a:solidFill>
            <a:prstDash val="solid"/>
          </a:ln>
        </p:spPr>
      </p:sp>
      <p:pic>
        <p:nvPicPr>
          <p:cNvPr id="10" name="icon-646" descr="preencoded.png">    </p:cNvPr>
          <p:cNvPicPr>
            <a:picLocks noChangeAspect="1"/>
          </p:cNvPicPr>
          <p:nvPr/>
        </p:nvPicPr>
        <p:blipFill>
          <a:blip r:embed="rId2"/>
          <a:stretch>
            <a:fillRect/>
          </a:stretch>
        </p:blipFill>
        <p:spPr>
          <a:xfrm>
            <a:off x="6633058" y="1741018"/>
            <a:ext cx="358445" cy="358445"/>
          </a:xfrm>
          <a:prstGeom prst="rect">
            <a:avLst/>
          </a:prstGeom>
        </p:spPr>
      </p:pic>
      <p:sp>
        <p:nvSpPr>
          <p:cNvPr id="11" name="text-647"/>
          <p:cNvSpPr txBox="1"/>
          <p:nvPr/>
        </p:nvSpPr>
        <p:spPr>
          <a:xfrm>
            <a:off x="7315200" y="1645920"/>
            <a:ext cx="4023360" cy="548640"/>
          </a:xfrm>
          <a:prstGeom prst="rect">
            <a:avLst/>
          </a:prstGeom>
          <a:noFill/>
          <a:ln/>
        </p:spPr>
        <p:txBody>
          <a:bodyPr wrap="square" lIns="0" tIns="0" rIns="0" bIns="0" rtlCol="0" anchor="ctr"/>
          <a:lstStyle/>
          <a:p>
            <a:pPr indent="0" marL="0">
              <a:buNone/>
            </a:pPr>
            <a:r>
              <a:rPr lang="en-US" sz="2200" b="1" dirty="0">
                <a:solidFill>
                  <a:srgbClr val="0A1B3D"/>
                </a:solidFill>
                <a:latin typeface="Cambria" pitchFamily="34" charset="0"/>
                <a:ea typeface="Cambria" pitchFamily="34" charset="-122"/>
                <a:cs typeface="Cambria" pitchFamily="34" charset="-120"/>
              </a:rPr>
              <a:t>Next steps</a:t>
            </a:r>
            <a:endParaRPr lang="en-US" sz="2200" dirty="0"/>
          </a:p>
        </p:txBody>
      </p:sp>
      <p:sp>
        <p:nvSpPr>
          <p:cNvPr id="12" name="text-648"/>
          <p:cNvSpPr txBox="1"/>
          <p:nvPr/>
        </p:nvSpPr>
        <p:spPr>
          <a:xfrm>
            <a:off x="6492240" y="2468880"/>
            <a:ext cx="4846320" cy="329184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Teacher-labelled evaluation to validate the grouping and version thresholds</a:t>
            </a:r>
            <a:endParaRPr lang="en-US" sz="1600" dirty="0"/>
          </a:p>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Recognise parallel concepts without a naming heading</a:t>
            </a:r>
            <a:endParaRPr lang="en-US" sz="1600" dirty="0"/>
          </a:p>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Fit G, S, T per concept from the Decision logs; prior weight by empirical Bayes</a:t>
            </a:r>
            <a:endParaRPr lang="en-US" sz="1600" dirty="0"/>
          </a:p>
          <a:p>
            <a:pPr marL="177800" indent="-177800">
              <a:spcAft>
                <a:spcPts val="1200"/>
              </a:spcAft>
              <a:buSzPct val="100000"/>
              <a:buChar char="•"/>
            </a:pPr>
            <a:r>
              <a:rPr lang="en-US" sz="1600" dirty="0">
                <a:solidFill>
                  <a:srgbClr val="14161A"/>
                </a:solidFill>
                <a:latin typeface="Calibri" pitchFamily="34" charset="0"/>
                <a:ea typeface="Calibri" pitchFamily="34" charset="-122"/>
                <a:cs typeface="Calibri" pitchFamily="34" charset="-120"/>
              </a:rPr>
              <a:t>Calibrate the simulator on real logs, then validate the DQN offline</a:t>
            </a:r>
            <a:endParaRPr lang="en-US" sz="1600" dirty="0"/>
          </a:p>
        </p:txBody>
      </p:sp>
      <p:sp>
        <p:nvSpPr>
          <p:cNvPr id="25" name="Slide Number Placeholder 0"/>
          <p:cNvSpPr>
            <a:spLocks noGrp="1"/>
          </p:cNvSpPr>
          <p:nvPr>
            <p:ph type="sldNum" sz="quarter" idx="4294967295"/>
          </p:nvPr>
        </p:nvSpPr>
        <p:spPr>
          <a:xfrm>
            <a:off x="1115568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B637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nchor="t"/>
          <a:lstStyle/>
          <a:p>
            <a:pPr indent="0" marL="0">
              <a:buNone/>
            </a:pPr>
            <a:r>
              <a:rPr lang="en-US" sz="2000" dirty="0">
                <a:solidFill>
                  <a:schemeClr val="accent6"/>
                </a:solidFill>
                <a:latin typeface="Calibri" pitchFamily="34" charset="0"/>
                <a:ea typeface="Calibri" pitchFamily="34" charset="-122"/>
                <a:cs typeface="Calibri" pitchFamily="34" charset="-120"/>
              </a:rPr>
              <a:t>MAVIA: accessible, adaptive science learning for blind and low-vision learners. We welcome your questions.</a:t>
            </a:r>
            <a:endParaRPr lang="en-US" sz="2000" dirty="0"/>
          </a:p>
        </p:txBody>
      </p:sp>
      <p:pic>
        <p:nvPicPr>
          <p:cNvPr id="4" name="closing-icon" descr="preencoded.png">    </p:cNvPr>
          <p:cNvPicPr>
            <a:picLocks noChangeAspect="1"/>
          </p:cNvPicPr>
          <p:nvPr/>
        </p:nvPicPr>
        <p:blipFill>
          <a:blip r:embed="rId1"/>
          <a:stretch>
            <a:fillRect/>
          </a:stretch>
        </p:blipFill>
        <p:spPr>
          <a:xfrm>
            <a:off x="731520" y="914400"/>
            <a:ext cx="868680" cy="868680"/>
          </a:xfrm>
          <a:prstGeom prst="rect">
            <a:avLst/>
          </a:prstGeom>
        </p:spPr>
      </p:pic>
    </p:spTree>
  </p:cSld>
  <p:clrMapOvr>
    <a:masterClrMapping/>
  </p:clrMapOvr>
</p:sld>
</file>

<file path=ppt/theme/theme1.xml><?xml version="1.0" encoding="utf-8"?>
<a:theme xmlns:a="http://schemas.openxmlformats.org/drawingml/2006/main" name="MAVIA">
  <a:themeElements>
    <a:clrScheme name="MAVIA">
      <a:dk1>
        <a:srgbClr val="14161A"/>
      </a:dk1>
      <a:lt1>
        <a:srgbClr val="FFFFFF"/>
      </a:lt1>
      <a:dk2>
        <a:srgbClr val="0A1B3D"/>
      </a:dk2>
      <a:lt2>
        <a:srgbClr val="EEF1F5"/>
      </a:lt2>
      <a:accent1>
        <a:srgbClr val="1D5FD6"/>
      </a:accent1>
      <a:accent2>
        <a:srgbClr val="1A47A8"/>
      </a:accent2>
      <a:accent3>
        <a:srgbClr val="E8833A"/>
      </a:accent3>
      <a:accent4>
        <a:srgbClr val="157A4F"/>
      </a:accent4>
      <a:accent5>
        <a:srgbClr val="B5271B"/>
      </a:accent5>
      <a:accent6>
        <a:srgbClr val="6BA3F6"/>
      </a:accent6>
      <a:hlink>
        <a:srgbClr val="1D5FD6"/>
      </a:hlink>
      <a:folHlink>
        <a:srgbClr val="1A47A8"/>
      </a:folHlink>
    </a:clrScheme>
    <a:fontScheme name="MAV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MAVIA: the complete pipeline, Input-Process-Output</dc:title>
  <dc:subject>PptxGenJS Presentation</dc:subject>
  <dc:creator>MAVIA</dc:creator>
  <cp:lastModifiedBy>MAVIA</cp:lastModifiedBy>
  <cp:revision>1</cp:revision>
  <dcterms:created xsi:type="dcterms:W3CDTF">2026-10-05T06:30:14Z</dcterms:created>
  <dcterms:modified xsi:type="dcterms:W3CDTF">2026-10-05T06:30:14Z</dcterms:modified>
</cp:coreProperties>
</file>