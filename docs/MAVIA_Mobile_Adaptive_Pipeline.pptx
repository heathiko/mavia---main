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4.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f453d22-e0eb-f1af-0299-08497839c141}">
          <p14:sldIdLst>
            <p14:sldId id="256"/>
            <p14:sldId id="257"/>
          </p14:sldIdLst>
        </p14:section>
        <p14:section name="Mobile pipeline" id="{4ee7d161-344b-6cdd-8667-1dd483772f03}">
          <p14:sldIdLst>
            <p14:sldId id="258"/>
            <p14:sldId id="259"/>
            <p14:sldId id="260"/>
            <p14:sldId id="261"/>
            <p14:sldId id="262"/>
            <p14:sldId id="263"/>
            <p14:sldId id="264"/>
            <p14:sldId id="265"/>
          </p14:sldIdLst>
        </p14:section>
        <p14:section name="Scoring" id="{030e16aa-3278-1373-d3a5-6ba7e293ae12}">
          <p14:sldIdLst>
            <p14:sldId id="266"/>
            <p14:sldId id="267"/>
            <p14:sldId id="268"/>
            <p14:sldId id="269"/>
            <p14:sldId id="270"/>
            <p14:sldId id="271"/>
            <p14:sldId id="272"/>
          </p14:sldIdLst>
        </p14:section>
        <p14:section name="Cold start" id="{30f61dcd-8498-f4b6-24bc-2c53fefdca65}">
          <p14:sldIdLst>
            <p14:sldId id="273"/>
            <p14:sldId id="274"/>
            <p14:sldId id="275"/>
            <p14:sldId id="276"/>
          </p14:sldIdLst>
        </p14:section>
        <p14:section name="Rule gating" id="{6e1bc1c1-9605-2673-638b-a81ce96d299b}">
          <p14:sldIdLst>
            <p14:sldId id="277"/>
            <p14:sldId id="278"/>
            <p14:sldId id="279"/>
            <p14:sldId id="280"/>
            <p14:sldId id="281"/>
          </p14:sldIdLst>
        </p14:section>
        <p14:section name="Next steps" id="{1c53be8b-a682-dd0a-4d8e-d8b0c58195d1}">
          <p14:sldIdLst>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1B3D"/>
                </a:solidFill>
                <a:latin typeface="+mn-lt"/>
              </a:defRPr>
            </a:pPr>
            <a:r>
              <a:rPr sz="1400" b="0" i="0" u="none" strike="noStrike">
                <a:solidFill>
                  <a:srgbClr val="0A1B3D"/>
                </a:solidFill>
                <a:latin typeface="+mn-lt"/>
              </a:rPr>
              <a:t>Mastery after one answer (from 0.30)</a:t>
            </a:r>
          </a:p>
        </c:rich>
      </c:tx>
      <c:layout/>
      <c:overlay val="0"/>
    </c:title>
    <c:autoTitleDeleted val="0"/>
    <c:plotArea>
      <c:layout/>
      <c:barChart>
        <c:barDir val="col"/>
        <c:grouping val="clustered"/>
        <c:varyColors val="0"/>
        <c:ser>
          <c:idx val="0"/>
          <c:order val="0"/>
          <c:tx>
            <c:strRef>
              <c:f>Sheet1!$B$1</c:f>
              <c:strCache>
                <c:ptCount val="1"/>
                <c:pt idx="0">
                  <c:v>Mastery after the answer</c:v>
                </c:pt>
              </c:strCache>
            </c:strRef>
          </c:tx>
          <c:spPr>
            <a:solidFill>
              <a:srgbClr val="1D5FD6"/>
            </a:solidFill>
            <a:effectLst/>
          </c:spPr>
          <c:invertIfNegative val="0"/>
          <c:dLbls>
            <c:numFmt formatCode="0.00" sourceLinked="0"/>
            <c:txPr>
              <a:bodyPr/>
              <a:lstStyle/>
              <a:p>
                <a:pPr>
                  <a:defRPr b="0" i="0" strike="noStrike" sz="1200" u="none">
                    <a:solidFill>
                      <a:srgbClr val="14161A"/>
                    </a:solidFill>
                    <a:latin typeface="+mn-lt"/>
                  </a:defRPr>
                </a:pPr>
              </a:p>
            </c:txPr>
            <c:showLegendKey val="0"/>
            <c:showVal val="1"/>
            <c:showCatName val="0"/>
            <c:showSerName val="0"/>
            <c:showPercent val="0"/>
            <c:showBubbleSize val="0"/>
            <c:showLeaderLines val="0"/>
          </c:dLbls>
          <c:cat>
            <c:multiLvlStrRef>
              <c:f>Sheet1!$A$2:$A$5</c:f>
              <c:multiLvlStrCache>
                <c:ptCount val="4"/>
                <c:lvl>
                  <c:pt idx="0">
                    <c:v>MCQ, right</c:v>
                  </c:pt>
                  <c:pt idx="1">
                    <c:v>MCQ, wrong</c:v>
                  </c:pt>
                  <c:pt idx="2">
                    <c:v>T/F, right</c:v>
                  </c:pt>
                  <c:pt idx="3">
                    <c:v>T/F, wrong</c:v>
                  </c:pt>
                </c:lvl>
              </c:multiLvlStrCache>
            </c:multiLvlStrRef>
          </c:cat>
          <c:val>
            <c:numRef>
              <c:f>Sheet1!$B$2:$B$5</c:f>
              <c:numCache>
                <c:formatCode>General</c:formatCode>
                <c:ptCount val="4"/>
                <c:pt idx="0">
                  <c:v>0.71</c:v>
                </c:pt>
                <c:pt idx="1">
                  <c:v>0.193</c:v>
                </c:pt>
                <c:pt idx="2">
                  <c:v>0.542</c:v>
                </c:pt>
                <c:pt idx="3">
                  <c:v>0.211</c:v>
                </c:pt>
              </c:numCache>
            </c:numRef>
          </c:val>
        </c:ser>
        <c:dLbls>
          <c:numFmt formatCode="0.00" sourceLinked="0"/>
          <c:txPr>
            <a:bodyPr/>
            <a:lstStyle/>
            <a:p>
              <a:pPr>
                <a:defRPr b="0" i="0" strike="noStrike" sz="1200" u="none">
                  <a:solidFill>
                    <a:srgbClr val="1416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37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EE7"/>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3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1B3D"/>
                </a:solidFill>
                <a:latin typeface="+mn-lt"/>
              </a:defRPr>
            </a:pPr>
            <a:r>
              <a:rPr sz="1400" b="0" i="0" u="none" strike="noStrike">
                <a:solidFill>
                  <a:srgbClr val="0A1B3D"/>
                </a:solidFill>
                <a:latin typeface="+mn-lt"/>
              </a:rPr>
              <a:t>Weight of the student's own answers</a:t>
            </a:r>
          </a:p>
        </c:rich>
      </c:tx>
      <c:layout/>
      <c:overlay val="0"/>
    </c:title>
    <c:autoTitleDeleted val="0"/>
    <c:plotArea>
      <c:layout/>
      <c:lineChart>
        <c:varyColors val="0"/>
        <c:ser>
          <c:idx val="0"/>
          <c:order val="0"/>
          <c:tx>
            <c:strRef>
              <c:f>Sheet1!$B$1</c:f>
              <c:strCache>
                <c:ptCount val="1"/>
                <c:pt idx="0">
                  <c:v>Student's own share</c:v>
                </c:pt>
              </c:strCache>
            </c:strRef>
          </c:tx>
          <c:spPr>
            <a:solidFill>
              <a:srgbClr val="1D5FD6"/>
            </a:solidFill>
            <a:ln w="38100" cap="flat">
              <a:solidFill>
                <a:srgbClr val="1D5FD6"/>
              </a:solidFill>
              <a:prstDash val="solid"/>
              <a:round/>
            </a:ln>
            <a:effectLst/>
          </c:spPr>
          <c:invertIfNegative val="0"/>
          <c:dLbls>
            <c:numFmt formatCode="0%" sourceLinked="0"/>
            <c:txPr>
              <a:bodyPr/>
              <a:lstStyle/>
              <a:p>
                <a:pPr>
                  <a:defRPr b="0" i="0" strike="noStrike" sz="1200" u="none">
                    <a:solidFill>
                      <a:srgbClr val="14161A"/>
                    </a:solidFill>
                    <a:latin typeface="+mn-lt"/>
                  </a:defRPr>
                </a:pPr>
              </a:p>
            </c:txPr>
            <c:dLblPos val="t"/>
            <c:showLegendKey val="0"/>
            <c:showVal val="1"/>
            <c:showCatName val="0"/>
            <c:showSerName val="0"/>
            <c:showPercent val="0"/>
            <c:showBubbleSize val="0"/>
            <c:showLeaderLines val="0"/>
          </c:dLbls>
          <c:marker>
            <c:symbol val="circle"/>
            <c:size val="9"/>
            <c:spPr>
              <a:solidFill>
                <a:srgbClr val="1D5FD6"/>
              </a:solidFill>
              <a:ln w="9525" cap="flat">
                <a:solidFill>
                  <a:srgbClr val="1D5FD6"/>
                </a:solidFill>
                <a:prstDash val="solid"/>
                <a:round/>
              </a:ln>
              <a:effectLst/>
            </c:spPr>
          </c:marker>
          <c:cat>
            <c:multiLvlStrRef>
              <c:f>Sheet1!$A$2:$A$7</c:f>
              <c:multiLvlStrCache>
                <c:ptCount val="6"/>
                <c:lvl>
                  <c:pt idx="0">
                    <c:v>0</c:v>
                  </c:pt>
                  <c:pt idx="1">
                    <c:v>3</c:v>
                  </c:pt>
                  <c:pt idx="2">
                    <c:v>10</c:v>
                  </c:pt>
                  <c:pt idx="3">
                    <c:v>24</c:v>
                  </c:pt>
                  <c:pt idx="4">
                    <c:v>40</c:v>
                  </c:pt>
                  <c:pt idx="5">
                    <c:v>60</c:v>
                  </c:pt>
                </c:lvl>
              </c:multiLvlStrCache>
            </c:multiLvlStrRef>
          </c:cat>
          <c:val>
            <c:numRef>
              <c:f>Sheet1!$B$2:$B$7</c:f>
              <c:numCache>
                <c:formatCode>General</c:formatCode>
                <c:ptCount val="6"/>
                <c:pt idx="0">
                  <c:v>0</c:v>
                </c:pt>
                <c:pt idx="1">
                  <c:v>0.23</c:v>
                </c:pt>
                <c:pt idx="2">
                  <c:v>0.5</c:v>
                </c:pt>
                <c:pt idx="3">
                  <c:v>0.71</c:v>
                </c:pt>
                <c:pt idx="4">
                  <c:v>0.8</c:v>
                </c:pt>
                <c:pt idx="5">
                  <c:v>0.86</c:v>
                </c:pt>
              </c:numCache>
            </c:numRef>
          </c:val>
          <c:smooth val="0"/>
        </c:ser>
        <c:dLbls>
          <c:numFmt formatCode="0%" sourceLinked="0"/>
          <c:txPr>
            <a:bodyPr/>
            <a:lstStyle/>
            <a:p>
              <a:pPr>
                <a:defRPr b="0" i="0" strike="noStrike" sz="1200" u="none">
                  <a:solidFill>
                    <a:srgbClr val="1416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372"/>
                    </a:solidFill>
                    <a:latin typeface="+mn-lt"/>
                  </a:defRPr>
                </a:pPr>
                <a:r>
                  <a:rPr sz="1200" b="0" i="0" u="none" strike="noStrike">
                    <a:solidFill>
                      <a:srgbClr val="5B6372"/>
                    </a:solidFill>
                    <a:latin typeface="+mn-lt"/>
                  </a:rPr>
                  <a:t>answers given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37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E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3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1B3D"/>
                </a:solidFill>
                <a:latin typeface="+mn-lt"/>
              </a:defRPr>
            </a:pPr>
            <a:r>
              <a:rPr sz="1400" b="0" i="0" u="none" strike="noStrike">
                <a:solidFill>
                  <a:srgbClr val="0A1B3D"/>
                </a:solidFill>
                <a:latin typeface="+mn-lt"/>
              </a:rPr>
              <a:t>± range shrinks as answers accumulate</a:t>
            </a:r>
          </a:p>
        </c:rich>
      </c:tx>
      <c:layout/>
      <c:overlay val="0"/>
    </c:title>
    <c:autoTitleDeleted val="0"/>
    <c:plotArea>
      <c:layout/>
      <c:lineChart>
        <c:varyColors val="0"/>
        <c:ser>
          <c:idx val="0"/>
          <c:order val="0"/>
          <c:tx>
            <c:strRef>
              <c:f>Sheet1!$B$1</c:f>
              <c:strCache>
                <c:ptCount val="1"/>
                <c:pt idx="0">
                  <c:v>Margin of error (p = 0.70)</c:v>
                </c:pt>
              </c:strCache>
            </c:strRef>
          </c:tx>
          <c:spPr>
            <a:solidFill>
              <a:srgbClr val="1D5FD6"/>
            </a:solidFill>
            <a:ln w="38100" cap="flat">
              <a:solidFill>
                <a:srgbClr val="1D5FD6"/>
              </a:solidFill>
              <a:prstDash val="solid"/>
              <a:round/>
            </a:ln>
            <a:effectLst/>
          </c:spPr>
          <c:invertIfNegative val="0"/>
          <c:dLbls>
            <c:numFmt formatCode="#,##0" sourceLinked="0"/>
            <c:txPr>
              <a:bodyPr/>
              <a:lstStyle/>
              <a:p>
                <a:pPr>
                  <a:defRPr b="0" i="0" strike="noStrike" sz="1200" u="none">
                    <a:solidFill>
                      <a:srgbClr val="14161A"/>
                    </a:solidFill>
                    <a:latin typeface="+mn-lt"/>
                  </a:defRPr>
                </a:pPr>
              </a:p>
            </c:txPr>
            <c:showLegendKey val="0"/>
            <c:showVal val="0"/>
            <c:showCatName val="0"/>
            <c:showSerName val="0"/>
            <c:showPercent val="0"/>
            <c:showBubbleSize val="0"/>
            <c:showLeaderLines val="0"/>
          </c:dLbls>
          <c:marker>
            <c:symbol val="circle"/>
            <c:size val="8"/>
            <c:spPr>
              <a:solidFill>
                <a:srgbClr val="1D5FD6"/>
              </a:solidFill>
              <a:ln w="9525" cap="flat">
                <a:solidFill>
                  <a:srgbClr val="1D5FD6"/>
                </a:solidFill>
                <a:prstDash val="solid"/>
                <a:round/>
              </a:ln>
              <a:effectLst/>
            </c:spPr>
          </c:marker>
          <c:cat>
            <c:multiLvlStrRef>
              <c:f>Sheet1!$A$2:$A$6</c:f>
              <c:multiLvlStrCache>
                <c:ptCount val="5"/>
                <c:lvl>
                  <c:pt idx="0">
                    <c:v>5</c:v>
                  </c:pt>
                  <c:pt idx="1">
                    <c:v>10</c:v>
                  </c:pt>
                  <c:pt idx="2">
                    <c:v>24</c:v>
                  </c:pt>
                  <c:pt idx="3">
                    <c:v>36</c:v>
                  </c:pt>
                  <c:pt idx="4">
                    <c:v>60</c:v>
                  </c:pt>
                </c:lvl>
              </c:multiLvlStrCache>
            </c:multiLvlStrRef>
          </c:cat>
          <c:val>
            <c:numRef>
              <c:f>Sheet1!$B$2:$B$6</c:f>
              <c:numCache>
                <c:formatCode>General</c:formatCode>
                <c:ptCount val="5"/>
                <c:pt idx="0">
                  <c:v>0.402</c:v>
                </c:pt>
                <c:pt idx="1">
                  <c:v>0.284</c:v>
                </c:pt>
                <c:pt idx="2">
                  <c:v>0.183</c:v>
                </c:pt>
                <c:pt idx="3">
                  <c:v>0.15</c:v>
                </c:pt>
                <c:pt idx="4">
                  <c:v>0.116</c:v>
                </c:pt>
              </c:numCache>
            </c:numRef>
          </c:val>
          <c:smooth val="0"/>
        </c:ser>
        <c:ser>
          <c:idx val="1"/>
          <c:order val="1"/>
          <c:tx>
            <c:strRef>
              <c:f>Sheet1!$C$1</c:f>
              <c:strCache>
                <c:ptCount val="1"/>
                <c:pt idx="0">
                  <c:v>Calibration line</c:v>
                </c:pt>
              </c:strCache>
            </c:strRef>
          </c:tx>
          <c:spPr>
            <a:solidFill>
              <a:srgbClr val="E8833A"/>
            </a:solidFill>
            <a:ln w="38100" cap="flat">
              <a:solidFill>
                <a:srgbClr val="E8833A"/>
              </a:solidFill>
              <a:prstDash val="solid"/>
              <a:round/>
            </a:ln>
            <a:effectLst/>
          </c:spPr>
          <c:invertIfNegative val="0"/>
          <c:dLbls>
            <c:numFmt formatCode="#,##0" sourceLinked="0"/>
            <c:txPr>
              <a:bodyPr/>
              <a:lstStyle/>
              <a:p>
                <a:pPr>
                  <a:defRPr b="0" i="0" strike="noStrike" sz="1200" u="none">
                    <a:solidFill>
                      <a:srgbClr val="14161A"/>
                    </a:solidFill>
                    <a:latin typeface="+mn-lt"/>
                  </a:defRPr>
                </a:pPr>
              </a:p>
            </c:txPr>
            <c:showLegendKey val="0"/>
            <c:showVal val="0"/>
            <c:showCatName val="0"/>
            <c:showSerName val="0"/>
            <c:showPercent val="0"/>
            <c:showBubbleSize val="0"/>
            <c:showLeaderLines val="0"/>
          </c:dLbls>
          <c:marker>
            <c:symbol val="circle"/>
            <c:size val="8"/>
            <c:spPr>
              <a:solidFill>
                <a:srgbClr val="E8833A"/>
              </a:solidFill>
              <a:ln w="9525" cap="flat">
                <a:solidFill>
                  <a:srgbClr val="E8833A"/>
                </a:solidFill>
                <a:prstDash val="solid"/>
                <a:round/>
              </a:ln>
              <a:effectLst/>
            </c:spPr>
          </c:marker>
          <c:cat>
            <c:multiLvlStrRef>
              <c:f>Sheet1!$A$2:$A$6</c:f>
              <c:multiLvlStrCache>
                <c:ptCount val="5"/>
                <c:lvl>
                  <c:pt idx="0">
                    <c:v>5</c:v>
                  </c:pt>
                  <c:pt idx="1">
                    <c:v>10</c:v>
                  </c:pt>
                  <c:pt idx="2">
                    <c:v>24</c:v>
                  </c:pt>
                  <c:pt idx="3">
                    <c:v>36</c:v>
                  </c:pt>
                  <c:pt idx="4">
                    <c:v>60</c:v>
                  </c:pt>
                </c:lvl>
              </c:multiLvlStrCache>
            </c:multiLvlStrRef>
          </c:cat>
          <c:val>
            <c:numRef>
              <c:f>Sheet1!$C$2:$C$6</c:f>
              <c:numCache>
                <c:formatCode>General</c:formatCode>
                <c:ptCount val="5"/>
                <c:pt idx="0">
                  <c:v>0.15</c:v>
                </c:pt>
                <c:pt idx="1">
                  <c:v>0.15</c:v>
                </c:pt>
                <c:pt idx="2">
                  <c:v>0.15</c:v>
                </c:pt>
                <c:pt idx="3">
                  <c:v>0.15</c:v>
                </c:pt>
                <c:pt idx="4">
                  <c:v>0.15</c:v>
                </c:pt>
              </c:numCache>
            </c:numRef>
          </c:val>
          <c:smooth val="0"/>
        </c:ser>
        <c:dLbls>
          <c:numFmt formatCode="#,##0" sourceLinked="0"/>
          <c:txPr>
            <a:bodyPr/>
            <a:lstStyle/>
            <a:p>
              <a:pPr>
                <a:defRPr b="0" i="0" strike="noStrike" sz="1200" u="none">
                  <a:solidFill>
                    <a:srgbClr val="1416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372"/>
                    </a:solidFill>
                    <a:latin typeface="+mn-lt"/>
                  </a:defRPr>
                </a:pPr>
                <a:r>
                  <a:rPr sz="1200" b="0" i="0" u="none" strike="noStrike">
                    <a:solidFill>
                      <a:srgbClr val="5B6372"/>
                    </a:solidFill>
                    <a:latin typeface="+mn-lt"/>
                  </a:rPr>
                  <a:t>answers given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372"/>
                </a:solidFill>
                <a:latin typeface="+mn-lt"/>
              </a:defRPr>
            </a:pPr>
            <a:endParaRPr lang="en-US"/>
          </a:p>
        </c:txPr>
        <c:crossAx val="2094734552"/>
        <c:crosses val="autoZero"/>
        <c:auto val="1"/>
        <c:lblAlgn val="ctr"/>
        <c:noMultiLvlLbl val="1"/>
      </c:catAx>
      <c:valAx>
        <c:axId val="2094734552"/>
        <c:scaling>
          <c:orientation val="minMax"/>
          <c:max val="0.45"/>
          <c:min val="0"/>
        </c:scaling>
        <c:delete val="0"/>
        <c:axPos val="l"/>
        <c:majorGridlines>
          <c:spPr>
            <a:ln w="6350" cap="flat">
              <a:solidFill>
                <a:srgbClr val="D9DEE7"/>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37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37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1B3D"/>
                </a:solidFill>
                <a:latin typeface="+mn-lt"/>
              </a:defRPr>
            </a:pPr>
            <a:r>
              <a:rPr sz="1400" b="0" i="0" u="none" strike="noStrike">
                <a:solidFill>
                  <a:srgbClr val="0A1B3D"/>
                </a:solidFill>
                <a:latin typeface="+mn-lt"/>
              </a:rPr>
              <a:t>Interactions to complete the topic (13 concepts)</a:t>
            </a:r>
          </a:p>
        </c:rich>
      </c:tx>
      <c:layout/>
      <c:overlay val="0"/>
    </c:title>
    <c:autoTitleDeleted val="0"/>
    <c:plotArea>
      <c:layout/>
      <c:barChart>
        <c:barDir val="bar"/>
        <c:grouping val="clustered"/>
        <c:varyColors val="0"/>
        <c:ser>
          <c:idx val="0"/>
          <c:order val="0"/>
          <c:tx>
            <c:strRef>
              <c:f>Sheet1!$B$1</c:f>
              <c:strCache>
                <c:ptCount val="1"/>
                <c:pt idx="0">
                  <c:v>Interactions to finish the topic</c:v>
                </c:pt>
              </c:strCache>
            </c:strRef>
          </c:tx>
          <c:spPr>
            <a:solidFill>
              <a:srgbClr val="1D5FD6"/>
            </a:solidFill>
            <a:effectLst/>
          </c:spPr>
          <c:invertIfNegative val="0"/>
          <c:dLbls>
            <c:numFmt formatCode="#,##0" sourceLinked="0"/>
            <c:txPr>
              <a:bodyPr/>
              <a:lstStyle/>
              <a:p>
                <a:pPr>
                  <a:defRPr b="0" i="0" strike="noStrike" sz="1200" u="none">
                    <a:solidFill>
                      <a:srgbClr val="14161A"/>
                    </a:solidFill>
                    <a:latin typeface="+mn-lt"/>
                  </a:defRPr>
                </a:pPr>
              </a:p>
            </c:txPr>
            <c:showLegendKey val="0"/>
            <c:showVal val="1"/>
            <c:showCatName val="0"/>
            <c:showSerName val="0"/>
            <c:showPercent val="0"/>
            <c:showBubbleSize val="0"/>
            <c:showLeaderLines val="0"/>
          </c:dLbls>
          <c:cat>
            <c:multiLvlStrRef>
              <c:f>Sheet1!$A$2:$A$4</c:f>
              <c:multiLvlStrCache>
                <c:ptCount val="3"/>
                <c:lvl>
                  <c:pt idx="0">
                    <c:v>Always right</c:v>
                  </c:pt>
                  <c:pt idx="1">
                    <c:v>Wrong on first try</c:v>
                  </c:pt>
                  <c:pt idx="2">
                    <c:v>Always wrong</c:v>
                  </c:pt>
                </c:lvl>
              </c:multiLvlStrCache>
            </c:multiLvlStrRef>
          </c:cat>
          <c:val>
            <c:numRef>
              <c:f>Sheet1!$B$2:$B$4</c:f>
              <c:numCache>
                <c:formatCode>General</c:formatCode>
                <c:ptCount val="3"/>
                <c:pt idx="0">
                  <c:v>25</c:v>
                </c:pt>
                <c:pt idx="1">
                  <c:v>49</c:v>
                </c:pt>
                <c:pt idx="2">
                  <c:v>71</c:v>
                </c:pt>
              </c:numCache>
            </c:numRef>
          </c:val>
        </c:ser>
        <c:dLbls>
          <c:numFmt formatCode="#,##0" sourceLinked="0"/>
          <c:txPr>
            <a:bodyPr/>
            <a:lstStyle/>
            <a:p>
              <a:pPr>
                <a:defRPr b="0" i="0" strike="noStrike" sz="1200" u="none">
                  <a:solidFill>
                    <a:srgbClr val="1416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372"/>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b"/>
        <c:majorGridlines>
          <c:spPr>
            <a:ln w="6350" cap="flat">
              <a:solidFill>
                <a:srgbClr val="D9DE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3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student side of MAVIA end to end: how a topic the teacher publishes on the web becomes an audio course on the phone, how each answer is graded and turned into a mastery estimate, how the system handles a student it has never seen before (the cold start), and the fixed rules that decide what the student hears next. Everything shown is implemented and tested; the numbers in the worked examples come straight from the running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answer passes through four layers. One: the mobile pipeline that delivers content and carries the answer to the server. Two: scoring, where Bayesian Knowledge Tracing updates the probability that the student knows the concept. Three: the cold start, which handles a brand-new student by starting from population averages and moving toward the student's own data. Four: rule gating, the fixed ladder that decides what the student hears next. The rest of the deck takes them in this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how the pieces fit, from the database models to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teacher builds and publishes a topic on the web. Publishing saves a learning path: the topic's concepts in prerequisite order, each with three explanation types (Standard, Simplified, Elaborated) and generated questions. The mobile_course_package app turns that published path into an audio course package once per publish. The adaptive app is the server-side brain: it grades, updates mastery, and decides the next step. The phone only plays audio, asks questions, and follows the command it gets back. Content moves left to right once per publish; answers make a round trip on every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split by one rule: every piece of student data lives in exactly one app, so nothing is stored twice and drifts. mobile_course_package holds what the student sees and did: the package, their position in it, and their answers. adaptive holds what the server knows and decides: enrollment, the per-concept mastery estimate, the per-student baseline, and the decision log. A third small app, adaptive_config, holds the population weights — the defaults every new student starts on — which an admin can tune without a redeploy.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Django's MVC, read row by row. Models are the tables. Services hold all the logic, so it can be tested without HTTP. Serializers guard the edges: SubmitAnswerSerializer rejects a malformed answer with a clear 400 before anything is graded, and the progress serializer controls exactly which fields the phone sees. Views only check and route: is this a student, does the topic exist, are they enrolled, is the package ready — then call a service. URLs: the phone talks to /api/mobile, the teacher web to /api/adaptive.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published learning path is expensive the first time — about six seconds for Solid, Liquid and Gas — because it loads embedding models and runs the content-version checks. So the package is built once per publish and saved as a TopicPackage row. Each step keeps only what an audio-first student needs: its position, concept id, prerequisites, the audio clips for each explanation type in play order, and the questions without answers. The answer key, including each question's concept id, never leaves the server. A republish changes the topic's published_at, which is how a stale package is detected and rebuilt. Spare questions from the bank are stored as a reserve. A management command builds every package ahead of time so no student waits.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phone needs only five endpoints. Three reads: the student's courses with a topic count and completed count for the progress bar, a course's outline, and a topic's package — which also tells the phone where the student left off and which question is waiting. Two writes: continue, for moving past a step with nothing left to ask, and answers, which grades the answer and returns the next command. Errors are deliberate: 400 for a malformed body, 403 for not a student or not enrolled, 404 for an unpublished topic or a question not in this topic, 409 for continuing past a step that still has an open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answer. The phone posts the topic, the question id and the letter. The serializer rejects anything malformed. Grading normalizes both sides — 'A', 'a', the choice's text and 'True' all become one comparable form — and compares against the saved answer key, so the phone never holds answers. The answer is recorded with the explanation type the student had just heard, which attempt it was, and the question format. Then apply_answer runs as one atomic transaction: the BKT update, the baseline update, the decision, and the decision log — all saved or none. The command is applied to the student's progress, and the reply goes back to the phone, whose traversal module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built for students who cannot see the screen. Lists are read four at a time because there are four answer keys, and every choice is read back before it opens. The player has two segments: Listening, which plays the concept's clips and can be paused, and Question time, where the player stays on screen greyed out while the question and its choices are read aloud. Answers come from the braille keypad's four answer keys or from tap counting anywhere on the screen. The command keys: pause/play, repeat — which asks whether to repeat the topic or the question — back, next four, and the guide. All navigation decisions come from the server; the phone's traversal module only follows commands, which is what makes it testable against the live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how a student's mastery is quantified.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Bayesian Knowledge Tracing is the scoring algorithm — the bkt_update function in adaptive/services.py. It comes from Corbett and Anderson, 1995, and is the model behind the Cognitive Tutors; it remains the standard baseline in knowledge-tracing research. The idea is a hidden Markov model with two hidden states per concept: the student either knows it or does not yet. We can never observe that state directly; we only hear their answer, and answers are noisy. A student who does not know can still be right by guessing — G — and a student who does know can still be wrong by slipping — S. Between attempts, a student who did not know can learn, with probability T; once known, a concept stays known, because standard BKT assumes no forgetting within a short session. BKT runs this model backwards: from the answer we hear, Bayes' rule infers how likely the hidden state is 'known'. That probability is what MAVIA calls mastery, kept per student per concept. The next slides show why we chose it, its four weights, and the exact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BKT rather than a plain percentage or a deep model. It is explainable: four weights, each a plain idea a teacher or panel can question — where a student starts, how often they guess, slip, and learn. It is per concept, which matches the learning path the teacher publishes. It works from the very first answer with no training data, because population defaults stand in for the unknown student — which is exactly the cold-start problem. And it is testable: it predicts every answer before it sees it, and that prediction is logged, so we can measure its accuracy later. Deep knowledge tracing needs large datasets we do not have yet. MAVIA keeps standard BKT with four adjustments. The guess rate depends on the question format: 0.45 for True/False, 0.20 for four-choice. The starting mastery is personal: the student's own estimated L-zero, averaged with how well they know the concept's prerequisites, instead of one fixed number. Mastery is capped at 0.99 so the estimate never becomes certain and later answers still count. And like standard BKT, we assume no forgetting within a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Mastery is the probability that the student knows the concept. Four weights drive it, all stored in AdaptiveConfig and tunable by an admin. L-zero, 0.30, is where an average student starts. G is the chance of answering right without knowing: 0.20 for four-choice multiple choice and 0.45 for True/False, slightly under one half because a misconception pulls a non-knower toward the wrong answer. S, 0.10, is a slip: wrong despite knowing. T, 0.15, is the chance that one attempt teaches the concept. The hard constraint is G plus S below one, which the API enforces; past that, a correct answer would no longer be evidence of knowing. These values sit in the ranges commonly reported for BKT and are re-estimated from real data in phase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answer runs three steps in order, and the output becomes the next answer's prior — that is the forward step of a hidden Markov model. Predict: the probability of a correct answer is knowing and not slipping, plus not knowing and guessing. Observe: Bayes' rule — given a right answer, what share of 'right' came from knowing; given a wrong one, what share of 'wrong' came from knowing but slipping. Transition: add the chance they learned from trying. Behind it are four possibilities: knew and didn't slip, lucky guess, knew but slipped, and didn't know and missed. The fourth is never written out in the code: it is inside one minus P(correct), because the four always sum 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straight from the engine. From the starting 0.30, a right multiple-choice answer: the prediction was 0.41 — 0.27 from knowing plus 0.14 from guessing — so knowing explains 0.27 over 0.41, about 66 percent; adding the learning chance gives 0.71. A wrong answer: slipping explains only 0.03 of the 0.59 chance of being wrong, so the belief falls to 0.05, and learning lifts it to 0.19. The same right answer on a True/False question only reaches 0.54, because with a 0.45 guess rate a lucky guess explains much more of it. That is why the guess depends on the question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calibration phase, mastery is computed on every answer but no rule acts on it — shadow mode. That is deliberate: the estimates for a new student are mostly the population default, and gating on them would treat students differently on numbers the system admits it does not trust yet. Instead every answer writes a Decision row: the prediction made before the answer, mastery before and after, the guess rate used, the student's baseline at that moment, and what the engine decided. Pairing each prediction with the outcome lets us measure the model's accuracy later — the standard way knowledge-tracing models are evaluated — and these rows are exactly the state-action-outcome records the reinforcement-learning agent will train on in phase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how the system handles a student it knows nothing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IPO terms. Input: the population weights every stranger starts on; the student's answers, total and correct; their first answer on each new concept; and how well they know the concept's prerequisites. Process: shrinkage blends the population average with the student's own record, weighted by how much evidence there is; the first-try rate is inverted into the student's own starting knowledge; a 95 percent margin of error measures how sure the estimate is; and once that margin is within plus or minus 0.15 the student is marked calibrated. Output: the StudentBaseline row, a personalized starting mastery for every new concept the student meets, and the Decision log. The next three slides take the process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brand-new student's own score cannot be trusted: one right answer reads as 100 percent, one wrong as zero. Shrinkage blends their record with the population average, which counts as ten imaginary answers — the prior weight. With no answers the estimate is entirely the population; after ten it is half and half; after one topic, about 24 answers, it is 71 percent the student; by 40 answers, 80 percent. It works from both sides: a suspiciously high start is pulled down and a low one is pulled up, so a student who mishears the first questions is not labelled struggling. This is the posterior mean of a Beta prior worth ten answers, and in phase two the prior weight can be estimated from how much real students vary (empirical Bayes) instead of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outputs of the process. First, the student's own starting knowledge. Only first answers on each new concept are used, because later answers come after retries or re-teaching and would inflate it. Their correct rate mixes knowing and guessing, so it is inverted through the guess and slip rates into L-zero. When the student meets a new concept, its mastery starts halfway between their L-zero and how well they know that concept's prerequisites — the cold-start payoff, since the stranger now has a personal prior. Second, calibration: the margin of error of the ability estimate, at 95 percent confidence — the statistical convention — shrinks as answers accumulate. When it reaches plus or minus 0.15, narrow enough to tell a struggling, average and strong learner apart, the baseline is marked calibrated. For a 70 percent student that takes about 36 answers; for a 50 percent student, 43; for an 85 percent student, 22 — about one to two topics. Where p comes from: it is estimated_ability, computed in update_baseline from two counts on the student's baseline — total_responses_count and total_correct_count — as 0.41 times 10 plus the correct count, over 10 plus the response count. So a student with 28 of 36 right has a raw 78 percent but p of 0.70, because shrinkage still pulls toward the population. The student's own L-zero uses a separate pair of counts: only the first answer on each new concept. What the calibrated flag does: it is a readiness signal, not a weight. It changes no number and no decision in this phase — the estimates keep updating after it flips, and learning the student is gradual through shrinkage, not a switch. It marks the moment the estimate is precise enough to trust. Every Decision row records whether the student was calibrated, so the logs split into still-a-stranger and known-student data; calibrated_at shows how long the cold start took for each student; and in phase 2 it is the switch that lets score gating and the learned policy apply to that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the rules that decide what the student hears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calibration the walk through a topic is gated by fixed rules, not by mastery thresholds, for three reasons. The estimates for a new student are not yet trustworthy. A fixed policy produces clean data: since every student meets the same ladder, differences in the logs reflect the students, and offline reinforcement learning works best when the logging policy is known and consistent. And mastery still runs in shadow mode, so we can check its predictions before it is allowed to decide anything. Score gating and the RL agent are phase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ladder every student walks. A right answer asks the concept's next open question, and once none are left the student advances — or resumes the step they were detoured from. A wrong answer never re-asks the question straight away, because the student could simply eliminate their wrong pick. Instead the concept is re-taught first: escalate from Standard to Simplified, then to Elaborated, re-asking after each. If every explanation has been tried, the student is sent back through the nearest prerequisite concept — once per step, so no one loops forever — and then resumes. If all of that fails, the student moves on rather than being stranded. The phone plays a short spoken hand-off before each change: 'Here's the same idea, explained more simply', 'First, a quick review', 'Now, back to where you left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after re-teaching, asking the same question again hands the student an advantage: multiple choice drops from one in four to one in three, then one in two, and a True/False becomes certain, because the other answer is the only one left. So a missed True/False is spent: it is never served to that student again. After the re-teach the student gets a different open question from the same concept; if the concept has none left, a spare question from the bank — the reserve, stored in the package and used only for this. If nothing fair is left at all, the student still hears the re-teach and then moves on, without a re-ask. Multiple choice keeps the simpler rule: re-teach, then the same question. This keeps every logged answer a real measure of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28 backend tests cover the package, the engine, the cold start and every rung of the ladder, including the True/False rule. The full backend suite runs 1,479 tests after merging the team's content-generation changes; the only failures are pre-existing ones in the LLM integrations, unrelated to this pipeline. The end-to-end harness compiles the phone's real traversal module and drives three simulated students through the real Solid, Liquid and Gas topic on a live server: one always right finishes in 25 interactions, one wrong on every first try in 49, and one always wrong in 71 — still completing, because the ladder never strands a student. After every answer it checks the app and the server agree on where the student is, that every audio clip downloads, and that a missed True/False is never asked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limitations. The BKT parameters are informed defaults within published ranges, not fitted to our students yet; with real data, guess, slip and learn are fitted per concept and the prior weight is estimated from the spread of student scores. BKT treats concepts as independent except for the prerequisite-informed starting point; models that learn relationships between concepts are phase-two work. The DQN agent so far is trained only on simulated learners — the Decision logs collected during calibration are what will calibrate the simulator and validate the agent before it is ever used with students. Phase two layers score gating and the learned policy on top of the ladder.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VIA Title">
    <p:bg>
      <p:bgPr>
        <a:solidFill>
          <a:srgbClr val="0A1B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lvl1pPr indent="0" marL="0">
              <a:buNone/>
              <a:defRPr lang="en-US" sz="2000" dirty="0">
                <a:solidFill>
                  <a:schemeClr val="accent6"/>
                </a:solidFill>
                <a:latin typeface="Calibri" pitchFamily="34" charset="0"/>
                <a:ea typeface="Calibri" pitchFamily="34" charset="-122"/>
                <a:cs typeface="Calibri" pitchFamily="34" charset="-120"/>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VIA Section">
    <p:bg>
      <p:bgPr>
        <a:solidFill>
          <a:srgbClr val="0A1B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rtlCol="0"/>
          <a:lstStyle>
            <a:lvl1pPr indent="0" marL="0">
              <a:buNone/>
              <a:defRPr lang="en-US" sz="1800" dirty="0">
                <a:solidFill>
                  <a:schemeClr val="accent6"/>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A3F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AVIA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5B6372"/>
                </a:solidFill>
                <a:latin typeface="Calibri" pitchFamily="34" charset="0"/>
                <a:ea typeface="Calibri" pitchFamily="34" charset="-122"/>
                <a:cs typeface="Calibri" pitchFamily="34" charset="-120"/>
              </a:rPr>
              <a:t>MAVIA · mobile adaptive pipeline</a:t>
            </a:r>
            <a:endParaRPr lang="en-US" sz="10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A3F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4.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The MAVIA mobile adaptive pipeline</a:t>
            </a:r>
            <a:endParaRPr lang="en-US" sz="44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nchor="t"/>
          <a:lstStyle/>
          <a:p>
            <a:pPr indent="0" marL="0">
              <a:buNone/>
            </a:pPr>
            <a:r>
              <a:rPr lang="en-US" sz="2000" dirty="0">
                <a:solidFill>
                  <a:schemeClr val="accent6"/>
                </a:solidFill>
                <a:latin typeface="Calibri" pitchFamily="34" charset="0"/>
                <a:ea typeface="Calibri" pitchFamily="34" charset="-122"/>
                <a:cs typeface="Calibri" pitchFamily="34" charset="-120"/>
              </a:rPr>
              <a:t>From a published learning path to a student's ear — the audio course package, mastery scoring, the cold start, and the rules that walk each learner</a:t>
            </a:r>
            <a:endParaRPr lang="en-US" sz="2000" dirty="0"/>
          </a:p>
        </p:txBody>
      </p:sp>
      <p:pic>
        <p:nvPicPr>
          <p:cNvPr id="4" name="title-icon" descr="preencoded.png">    </p:cNvPr>
          <p:cNvPicPr>
            <a:picLocks noChangeAspect="1"/>
          </p:cNvPicPr>
          <p:nvPr/>
        </p:nvPicPr>
        <p:blipFill>
          <a:blip r:embed="rId1"/>
          <a:stretch>
            <a:fillRect/>
          </a:stretch>
        </p:blipFill>
        <p:spPr>
          <a:xfrm>
            <a:off x="731520" y="960120"/>
            <a:ext cx="868680" cy="868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Four layers behind every answer a student gives</a:t>
            </a:r>
            <a:endParaRPr lang="en-US" sz="3000" dirty="0"/>
          </a:p>
        </p:txBody>
      </p:sp>
      <p:sp>
        <p:nvSpPr>
          <p:cNvPr id="3" name="card-1"/>
          <p:cNvSpPr/>
          <p:nvPr/>
        </p:nvSpPr>
        <p:spPr>
          <a:xfrm>
            <a:off x="548640" y="1508760"/>
            <a:ext cx="2578608" cy="4206240"/>
          </a:xfrm>
          <a:prstGeom prst="roundRect">
            <a:avLst>
              <a:gd name="adj" fmla="val 4255"/>
            </a:avLst>
          </a:prstGeom>
          <a:solidFill>
            <a:srgbClr val="EFF4FE"/>
          </a:solidFill>
          <a:ln w="12700">
            <a:solidFill>
              <a:srgbClr val="EFF4FE"/>
            </a:solidFill>
            <a:prstDash val="solid"/>
          </a:ln>
        </p:spPr>
      </p:sp>
      <p:sp>
        <p:nvSpPr>
          <p:cNvPr id="4" name="badge-2"/>
          <p:cNvSpPr/>
          <p:nvPr/>
        </p:nvSpPr>
        <p:spPr>
          <a:xfrm>
            <a:off x="822960" y="1783080"/>
            <a:ext cx="731520" cy="731520"/>
          </a:xfrm>
          <a:prstGeom prst="ellipse">
            <a:avLst/>
          </a:prstGeom>
          <a:solidFill>
            <a:srgbClr val="1D5FD6"/>
          </a:solidFill>
          <a:ln w="12700">
            <a:solidFill>
              <a:srgbClr val="1D5FD6"/>
            </a:solidFill>
            <a:prstDash val="solid"/>
          </a:ln>
        </p:spPr>
      </p:sp>
      <p:pic>
        <p:nvPicPr>
          <p:cNvPr id="5" name="icon-3" descr="preencoded.png">    </p:cNvPr>
          <p:cNvPicPr>
            <a:picLocks noChangeAspect="1"/>
          </p:cNvPicPr>
          <p:nvPr/>
        </p:nvPicPr>
        <p:blipFill>
          <a:blip r:embed="rId1"/>
          <a:stretch>
            <a:fillRect/>
          </a:stretch>
        </p:blipFill>
        <p:spPr>
          <a:xfrm>
            <a:off x="983894" y="1944014"/>
            <a:ext cx="409651" cy="409651"/>
          </a:xfrm>
          <a:prstGeom prst="rect">
            <a:avLst/>
          </a:prstGeom>
        </p:spPr>
      </p:pic>
      <p:sp>
        <p:nvSpPr>
          <p:cNvPr id="6" name="text-4"/>
          <p:cNvSpPr txBox="1"/>
          <p:nvPr/>
        </p:nvSpPr>
        <p:spPr>
          <a:xfrm>
            <a:off x="822960" y="2743200"/>
            <a:ext cx="2103120" cy="457200"/>
          </a:xfrm>
          <a:prstGeom prst="rect">
            <a:avLst/>
          </a:prstGeom>
          <a:noFill/>
          <a:ln/>
        </p:spPr>
        <p:txBody>
          <a:bodyPr wrap="square" lIns="0" tIns="0" rIns="0" bIns="0" rtlCol="0" anchor="t"/>
          <a:lstStyle/>
          <a:p>
            <a:pPr indent="0" marL="0">
              <a:buNone/>
            </a:pPr>
            <a:r>
              <a:rPr lang="en-US" sz="1900" b="1" dirty="0">
                <a:solidFill>
                  <a:srgbClr val="0A1B3D"/>
                </a:solidFill>
                <a:latin typeface="Cambria" pitchFamily="34" charset="0"/>
                <a:ea typeface="Cambria" pitchFamily="34" charset="-122"/>
                <a:cs typeface="Cambria" pitchFamily="34" charset="-120"/>
              </a:rPr>
              <a:t>1 · Mobile pipeline</a:t>
            </a:r>
            <a:endParaRPr lang="en-US" sz="1900" dirty="0"/>
          </a:p>
        </p:txBody>
      </p:sp>
      <p:sp>
        <p:nvSpPr>
          <p:cNvPr id="7" name="text-5"/>
          <p:cNvSpPr txBox="1"/>
          <p:nvPr/>
        </p:nvSpPr>
        <p:spPr>
          <a:xfrm>
            <a:off x="822960" y="3291840"/>
            <a:ext cx="2103120" cy="2194560"/>
          </a:xfrm>
          <a:prstGeom prst="rect">
            <a:avLst/>
          </a:prstGeom>
          <a:noFill/>
          <a:ln/>
        </p:spPr>
        <p:txBody>
          <a:bodyPr wrap="square" lIns="0" tIns="0" rIns="0" bIns="0" rtlCol="0" anchor="t"/>
          <a:lstStyle/>
          <a:p>
            <a:pPr indent="0" marL="0">
              <a:buNone/>
            </a:pPr>
            <a:r>
              <a:rPr lang="en-US" sz="1500" dirty="0">
                <a:solidFill>
                  <a:srgbClr val="14161A"/>
                </a:solidFill>
                <a:latin typeface="Calibri" pitchFamily="34" charset="0"/>
                <a:ea typeface="Calibri" pitchFamily="34" charset="-122"/>
                <a:cs typeface="Calibri" pitchFamily="34" charset="-120"/>
              </a:rPr>
              <a:t>Django models, services, views and the Expo app — from published path to audio player</a:t>
            </a:r>
            <a:endParaRPr lang="en-US" sz="1500" dirty="0"/>
          </a:p>
        </p:txBody>
      </p:sp>
      <p:sp>
        <p:nvSpPr>
          <p:cNvPr id="8" name="card-6"/>
          <p:cNvSpPr/>
          <p:nvPr/>
        </p:nvSpPr>
        <p:spPr>
          <a:xfrm>
            <a:off x="3355848" y="1508760"/>
            <a:ext cx="2578608" cy="4206240"/>
          </a:xfrm>
          <a:prstGeom prst="roundRect">
            <a:avLst>
              <a:gd name="adj" fmla="val 4255"/>
            </a:avLst>
          </a:prstGeom>
          <a:solidFill>
            <a:srgbClr val="EFF4FE"/>
          </a:solidFill>
          <a:ln w="12700">
            <a:solidFill>
              <a:srgbClr val="EFF4FE"/>
            </a:solidFill>
            <a:prstDash val="solid"/>
          </a:ln>
        </p:spPr>
      </p:sp>
      <p:sp>
        <p:nvSpPr>
          <p:cNvPr id="9" name="badge-7"/>
          <p:cNvSpPr/>
          <p:nvPr/>
        </p:nvSpPr>
        <p:spPr>
          <a:xfrm>
            <a:off x="3630168" y="1783080"/>
            <a:ext cx="731520" cy="731520"/>
          </a:xfrm>
          <a:prstGeom prst="ellipse">
            <a:avLst/>
          </a:prstGeom>
          <a:solidFill>
            <a:srgbClr val="1D5FD6"/>
          </a:solidFill>
          <a:ln w="12700">
            <a:solidFill>
              <a:srgbClr val="1D5FD6"/>
            </a:solidFill>
            <a:prstDash val="solid"/>
          </a:ln>
        </p:spPr>
      </p:sp>
      <p:pic>
        <p:nvPicPr>
          <p:cNvPr id="10" name="icon-8" descr="preencoded.png">    </p:cNvPr>
          <p:cNvPicPr>
            <a:picLocks noChangeAspect="1"/>
          </p:cNvPicPr>
          <p:nvPr/>
        </p:nvPicPr>
        <p:blipFill>
          <a:blip r:embed="rId2"/>
          <a:stretch>
            <a:fillRect/>
          </a:stretch>
        </p:blipFill>
        <p:spPr>
          <a:xfrm>
            <a:off x="3791102" y="1944014"/>
            <a:ext cx="409651" cy="409651"/>
          </a:xfrm>
          <a:prstGeom prst="rect">
            <a:avLst/>
          </a:prstGeom>
        </p:spPr>
      </p:pic>
      <p:sp>
        <p:nvSpPr>
          <p:cNvPr id="11" name="text-9"/>
          <p:cNvSpPr txBox="1"/>
          <p:nvPr/>
        </p:nvSpPr>
        <p:spPr>
          <a:xfrm>
            <a:off x="3630168" y="2743200"/>
            <a:ext cx="2103120" cy="457200"/>
          </a:xfrm>
          <a:prstGeom prst="rect">
            <a:avLst/>
          </a:prstGeom>
          <a:noFill/>
          <a:ln/>
        </p:spPr>
        <p:txBody>
          <a:bodyPr wrap="square" lIns="0" tIns="0" rIns="0" bIns="0" rtlCol="0" anchor="t"/>
          <a:lstStyle/>
          <a:p>
            <a:pPr indent="0" marL="0">
              <a:buNone/>
            </a:pPr>
            <a:r>
              <a:rPr lang="en-US" sz="1900" b="1" dirty="0">
                <a:solidFill>
                  <a:srgbClr val="0A1B3D"/>
                </a:solidFill>
                <a:latin typeface="Cambria" pitchFamily="34" charset="0"/>
                <a:ea typeface="Cambria" pitchFamily="34" charset="-122"/>
                <a:cs typeface="Cambria" pitchFamily="34" charset="-120"/>
              </a:rPr>
              <a:t>2 · Scoring</a:t>
            </a:r>
            <a:endParaRPr lang="en-US" sz="1900" dirty="0"/>
          </a:p>
        </p:txBody>
      </p:sp>
      <p:sp>
        <p:nvSpPr>
          <p:cNvPr id="12" name="text-10"/>
          <p:cNvSpPr txBox="1"/>
          <p:nvPr/>
        </p:nvSpPr>
        <p:spPr>
          <a:xfrm>
            <a:off x="3630168" y="3291840"/>
            <a:ext cx="2103120" cy="2194560"/>
          </a:xfrm>
          <a:prstGeom prst="rect">
            <a:avLst/>
          </a:prstGeom>
          <a:noFill/>
          <a:ln/>
        </p:spPr>
        <p:txBody>
          <a:bodyPr wrap="square" lIns="0" tIns="0" rIns="0" bIns="0" rtlCol="0" anchor="t"/>
          <a:lstStyle/>
          <a:p>
            <a:pPr indent="0" marL="0">
              <a:buNone/>
            </a:pPr>
            <a:r>
              <a:rPr lang="en-US" sz="1500" dirty="0">
                <a:solidFill>
                  <a:srgbClr val="14161A"/>
                </a:solidFill>
                <a:latin typeface="Calibri" pitchFamily="34" charset="0"/>
                <a:ea typeface="Calibri" pitchFamily="34" charset="-122"/>
                <a:cs typeface="Calibri" pitchFamily="34" charset="-120"/>
              </a:rPr>
              <a:t>Bayesian Knowledge Tracing turns each answer into a mastery probability per concept</a:t>
            </a:r>
            <a:endParaRPr lang="en-US" sz="1500" dirty="0"/>
          </a:p>
        </p:txBody>
      </p:sp>
      <p:sp>
        <p:nvSpPr>
          <p:cNvPr id="13" name="card-11"/>
          <p:cNvSpPr/>
          <p:nvPr/>
        </p:nvSpPr>
        <p:spPr>
          <a:xfrm>
            <a:off x="6163056" y="1508760"/>
            <a:ext cx="2578608" cy="4206240"/>
          </a:xfrm>
          <a:prstGeom prst="roundRect">
            <a:avLst>
              <a:gd name="adj" fmla="val 4255"/>
            </a:avLst>
          </a:prstGeom>
          <a:solidFill>
            <a:srgbClr val="EFF4FE"/>
          </a:solidFill>
          <a:ln w="12700">
            <a:solidFill>
              <a:srgbClr val="EFF4FE"/>
            </a:solidFill>
            <a:prstDash val="solid"/>
          </a:ln>
        </p:spPr>
      </p:sp>
      <p:sp>
        <p:nvSpPr>
          <p:cNvPr id="14" name="badge-12"/>
          <p:cNvSpPr/>
          <p:nvPr/>
        </p:nvSpPr>
        <p:spPr>
          <a:xfrm>
            <a:off x="6437376" y="1783080"/>
            <a:ext cx="731520" cy="731520"/>
          </a:xfrm>
          <a:prstGeom prst="ellipse">
            <a:avLst/>
          </a:prstGeom>
          <a:solidFill>
            <a:srgbClr val="1D5FD6"/>
          </a:solidFill>
          <a:ln w="12700">
            <a:solidFill>
              <a:srgbClr val="1D5FD6"/>
            </a:solidFill>
            <a:prstDash val="solid"/>
          </a:ln>
        </p:spPr>
      </p:sp>
      <p:pic>
        <p:nvPicPr>
          <p:cNvPr id="15" name="icon-13" descr="preencoded.png">    </p:cNvPr>
          <p:cNvPicPr>
            <a:picLocks noChangeAspect="1"/>
          </p:cNvPicPr>
          <p:nvPr/>
        </p:nvPicPr>
        <p:blipFill>
          <a:blip r:embed="rId3"/>
          <a:stretch>
            <a:fillRect/>
          </a:stretch>
        </p:blipFill>
        <p:spPr>
          <a:xfrm>
            <a:off x="6598310" y="1944014"/>
            <a:ext cx="409651" cy="409651"/>
          </a:xfrm>
          <a:prstGeom prst="rect">
            <a:avLst/>
          </a:prstGeom>
        </p:spPr>
      </p:pic>
      <p:sp>
        <p:nvSpPr>
          <p:cNvPr id="16" name="text-14"/>
          <p:cNvSpPr txBox="1"/>
          <p:nvPr/>
        </p:nvSpPr>
        <p:spPr>
          <a:xfrm>
            <a:off x="6437376" y="2743200"/>
            <a:ext cx="2103120" cy="457200"/>
          </a:xfrm>
          <a:prstGeom prst="rect">
            <a:avLst/>
          </a:prstGeom>
          <a:noFill/>
          <a:ln/>
        </p:spPr>
        <p:txBody>
          <a:bodyPr wrap="square" lIns="0" tIns="0" rIns="0" bIns="0" rtlCol="0" anchor="t"/>
          <a:lstStyle/>
          <a:p>
            <a:pPr indent="0" marL="0">
              <a:buNone/>
            </a:pPr>
            <a:r>
              <a:rPr lang="en-US" sz="1900" b="1" dirty="0">
                <a:solidFill>
                  <a:srgbClr val="0A1B3D"/>
                </a:solidFill>
                <a:latin typeface="Cambria" pitchFamily="34" charset="0"/>
                <a:ea typeface="Cambria" pitchFamily="34" charset="-122"/>
                <a:cs typeface="Cambria" pitchFamily="34" charset="-120"/>
              </a:rPr>
              <a:t>3 · Cold start</a:t>
            </a:r>
            <a:endParaRPr lang="en-US" sz="1900" dirty="0"/>
          </a:p>
        </p:txBody>
      </p:sp>
      <p:sp>
        <p:nvSpPr>
          <p:cNvPr id="17" name="text-15"/>
          <p:cNvSpPr txBox="1"/>
          <p:nvPr/>
        </p:nvSpPr>
        <p:spPr>
          <a:xfrm>
            <a:off x="6437376" y="3291840"/>
            <a:ext cx="2103120" cy="2194560"/>
          </a:xfrm>
          <a:prstGeom prst="rect">
            <a:avLst/>
          </a:prstGeom>
          <a:noFill/>
          <a:ln/>
        </p:spPr>
        <p:txBody>
          <a:bodyPr wrap="square" lIns="0" tIns="0" rIns="0" bIns="0" rtlCol="0" anchor="t"/>
          <a:lstStyle/>
          <a:p>
            <a:pPr indent="0" marL="0">
              <a:buNone/>
            </a:pPr>
            <a:r>
              <a:rPr lang="en-US" sz="1500" dirty="0">
                <a:solidFill>
                  <a:srgbClr val="14161A"/>
                </a:solidFill>
                <a:latin typeface="Calibri" pitchFamily="34" charset="0"/>
                <a:ea typeface="Calibri" pitchFamily="34" charset="-122"/>
                <a:cs typeface="Calibri" pitchFamily="34" charset="-120"/>
              </a:rPr>
              <a:t>Input → Process → Output: every student starts as a stranger and is learned answer by answer</a:t>
            </a:r>
            <a:endParaRPr lang="en-US" sz="1500" dirty="0"/>
          </a:p>
        </p:txBody>
      </p:sp>
      <p:sp>
        <p:nvSpPr>
          <p:cNvPr id="18" name="card-16"/>
          <p:cNvSpPr/>
          <p:nvPr/>
        </p:nvSpPr>
        <p:spPr>
          <a:xfrm>
            <a:off x="8970264" y="1508760"/>
            <a:ext cx="2578608" cy="4206240"/>
          </a:xfrm>
          <a:prstGeom prst="roundRect">
            <a:avLst>
              <a:gd name="adj" fmla="val 4255"/>
            </a:avLst>
          </a:prstGeom>
          <a:solidFill>
            <a:srgbClr val="EFF4FE"/>
          </a:solidFill>
          <a:ln w="12700">
            <a:solidFill>
              <a:srgbClr val="EFF4FE"/>
            </a:solidFill>
            <a:prstDash val="solid"/>
          </a:ln>
        </p:spPr>
      </p:sp>
      <p:sp>
        <p:nvSpPr>
          <p:cNvPr id="19" name="badge-17"/>
          <p:cNvSpPr/>
          <p:nvPr/>
        </p:nvSpPr>
        <p:spPr>
          <a:xfrm>
            <a:off x="9244584" y="1783080"/>
            <a:ext cx="731520" cy="731520"/>
          </a:xfrm>
          <a:prstGeom prst="ellipse">
            <a:avLst/>
          </a:prstGeom>
          <a:solidFill>
            <a:srgbClr val="1D5FD6"/>
          </a:solidFill>
          <a:ln w="12700">
            <a:solidFill>
              <a:srgbClr val="1D5FD6"/>
            </a:solidFill>
            <a:prstDash val="solid"/>
          </a:ln>
        </p:spPr>
      </p:sp>
      <p:pic>
        <p:nvPicPr>
          <p:cNvPr id="20" name="icon-18" descr="preencoded.png">    </p:cNvPr>
          <p:cNvPicPr>
            <a:picLocks noChangeAspect="1"/>
          </p:cNvPicPr>
          <p:nvPr/>
        </p:nvPicPr>
        <p:blipFill>
          <a:blip r:embed="rId4"/>
          <a:stretch>
            <a:fillRect/>
          </a:stretch>
        </p:blipFill>
        <p:spPr>
          <a:xfrm>
            <a:off x="9405518" y="1944014"/>
            <a:ext cx="409651" cy="409651"/>
          </a:xfrm>
          <a:prstGeom prst="rect">
            <a:avLst/>
          </a:prstGeom>
        </p:spPr>
      </p:pic>
      <p:sp>
        <p:nvSpPr>
          <p:cNvPr id="21" name="text-19"/>
          <p:cNvSpPr txBox="1"/>
          <p:nvPr/>
        </p:nvSpPr>
        <p:spPr>
          <a:xfrm>
            <a:off x="9244584" y="2743200"/>
            <a:ext cx="2103120" cy="457200"/>
          </a:xfrm>
          <a:prstGeom prst="rect">
            <a:avLst/>
          </a:prstGeom>
          <a:noFill/>
          <a:ln/>
        </p:spPr>
        <p:txBody>
          <a:bodyPr wrap="square" lIns="0" tIns="0" rIns="0" bIns="0" rtlCol="0" anchor="t"/>
          <a:lstStyle/>
          <a:p>
            <a:pPr indent="0" marL="0">
              <a:buNone/>
            </a:pPr>
            <a:r>
              <a:rPr lang="en-US" sz="1900" b="1" dirty="0">
                <a:solidFill>
                  <a:srgbClr val="0A1B3D"/>
                </a:solidFill>
                <a:latin typeface="Cambria" pitchFamily="34" charset="0"/>
                <a:ea typeface="Cambria" pitchFamily="34" charset="-122"/>
                <a:cs typeface="Cambria" pitchFamily="34" charset="-120"/>
              </a:rPr>
              <a:t>4 · Rule gating</a:t>
            </a:r>
            <a:endParaRPr lang="en-US" sz="1900" dirty="0"/>
          </a:p>
        </p:txBody>
      </p:sp>
      <p:sp>
        <p:nvSpPr>
          <p:cNvPr id="22" name="text-20"/>
          <p:cNvSpPr txBox="1"/>
          <p:nvPr/>
        </p:nvSpPr>
        <p:spPr>
          <a:xfrm>
            <a:off x="9244584" y="3291840"/>
            <a:ext cx="2103120" cy="2194560"/>
          </a:xfrm>
          <a:prstGeom prst="rect">
            <a:avLst/>
          </a:prstGeom>
          <a:noFill/>
          <a:ln/>
        </p:spPr>
        <p:txBody>
          <a:bodyPr wrap="square" lIns="0" tIns="0" rIns="0" bIns="0" rtlCol="0" anchor="t"/>
          <a:lstStyle/>
          <a:p>
            <a:pPr indent="0" marL="0">
              <a:buNone/>
            </a:pPr>
            <a:r>
              <a:rPr lang="en-US" sz="1500" dirty="0">
                <a:solidFill>
                  <a:srgbClr val="14161A"/>
                </a:solidFill>
                <a:latin typeface="Calibri" pitchFamily="34" charset="0"/>
                <a:ea typeface="Calibri" pitchFamily="34" charset="-122"/>
                <a:cs typeface="Calibri" pitchFamily="34" charset="-120"/>
              </a:rPr>
              <a:t>A fixed ladder decides what plays next — re-teach before re-ask, never re-ask a missed True/False</a:t>
            </a:r>
            <a:endParaRPr lang="en-US" sz="15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1 · The mobile pipeline</a:t>
            </a: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Model–View–Controller on the server, an audio-first player on the phone</a:t>
            </a:r>
            <a:endParaRPr lang="en-US" sz="18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A3F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From a teacher's publish to a student's ear</a:t>
            </a:r>
            <a:endParaRPr lang="en-US" sz="3000" dirty="0"/>
          </a:p>
        </p:txBody>
      </p:sp>
      <p:sp>
        <p:nvSpPr>
          <p:cNvPr id="3" name="card-21"/>
          <p:cNvSpPr/>
          <p:nvPr/>
        </p:nvSpPr>
        <p:spPr>
          <a:xfrm>
            <a:off x="548640" y="1645920"/>
            <a:ext cx="2011680" cy="3108960"/>
          </a:xfrm>
          <a:prstGeom prst="roundRect">
            <a:avLst>
              <a:gd name="adj" fmla="val 5455"/>
            </a:avLst>
          </a:prstGeom>
          <a:solidFill>
            <a:srgbClr val="EFF4FE"/>
          </a:solidFill>
          <a:ln w="12700">
            <a:solidFill>
              <a:srgbClr val="EFF4FE"/>
            </a:solidFill>
            <a:prstDash val="solid"/>
          </a:ln>
        </p:spPr>
      </p:sp>
      <p:sp>
        <p:nvSpPr>
          <p:cNvPr id="4" name="badge-22"/>
          <p:cNvSpPr/>
          <p:nvPr/>
        </p:nvSpPr>
        <p:spPr>
          <a:xfrm>
            <a:off x="777240" y="1874520"/>
            <a:ext cx="685800" cy="685800"/>
          </a:xfrm>
          <a:prstGeom prst="ellipse">
            <a:avLst/>
          </a:prstGeom>
          <a:solidFill>
            <a:srgbClr val="1A47A8"/>
          </a:solidFill>
          <a:ln w="12700">
            <a:solidFill>
              <a:srgbClr val="1A47A8"/>
            </a:solidFill>
            <a:prstDash val="solid"/>
          </a:ln>
        </p:spPr>
      </p:sp>
      <p:pic>
        <p:nvPicPr>
          <p:cNvPr id="5" name="icon-23" descr="preencoded.png">    </p:cNvPr>
          <p:cNvPicPr>
            <a:picLocks noChangeAspect="1"/>
          </p:cNvPicPr>
          <p:nvPr/>
        </p:nvPicPr>
        <p:blipFill>
          <a:blip r:embed="rId1"/>
          <a:stretch>
            <a:fillRect/>
          </a:stretch>
        </p:blipFill>
        <p:spPr>
          <a:xfrm>
            <a:off x="928116" y="2025396"/>
            <a:ext cx="384048" cy="384048"/>
          </a:xfrm>
          <a:prstGeom prst="rect">
            <a:avLst/>
          </a:prstGeom>
        </p:spPr>
      </p:pic>
      <p:sp>
        <p:nvSpPr>
          <p:cNvPr id="6" name="text-24"/>
          <p:cNvSpPr txBox="1"/>
          <p:nvPr/>
        </p:nvSpPr>
        <p:spPr>
          <a:xfrm>
            <a:off x="777240" y="2743200"/>
            <a:ext cx="1645920" cy="685800"/>
          </a:xfrm>
          <a:prstGeom prst="rect">
            <a:avLst/>
          </a:prstGeom>
          <a:noFill/>
          <a:ln/>
        </p:spPr>
        <p:txBody>
          <a:bodyPr wrap="square" lIns="0" tIns="0" rIns="0" bIns="0" rtlCol="0" anchor="t"/>
          <a:lstStyle/>
          <a:p>
            <a:pPr indent="0" marL="0">
              <a:buNone/>
            </a:pPr>
            <a:r>
              <a:rPr lang="en-US" sz="1600" b="1" dirty="0">
                <a:solidFill>
                  <a:srgbClr val="0A1B3D"/>
                </a:solidFill>
                <a:latin typeface="Cambria" pitchFamily="34" charset="0"/>
                <a:ea typeface="Cambria" pitchFamily="34" charset="-122"/>
                <a:cs typeface="Cambria" pitchFamily="34" charset="-120"/>
              </a:rPr>
              <a:t>Teacher publishes</a:t>
            </a:r>
            <a:endParaRPr lang="en-US" sz="1600" dirty="0"/>
          </a:p>
        </p:txBody>
      </p:sp>
      <p:sp>
        <p:nvSpPr>
          <p:cNvPr id="7" name="text-25"/>
          <p:cNvSpPr txBox="1"/>
          <p:nvPr/>
        </p:nvSpPr>
        <p:spPr>
          <a:xfrm>
            <a:off x="777240" y="3429000"/>
            <a:ext cx="1645920" cy="1234440"/>
          </a:xfrm>
          <a:prstGeom prst="rect">
            <a:avLst/>
          </a:prstGeom>
          <a:noFill/>
          <a:ln/>
        </p:spPr>
        <p:txBody>
          <a:bodyPr wrap="square" lIns="0" tIns="0" rIns="0" bIns="0" rtlCol="0" anchor="t"/>
          <a:lstStyle/>
          <a:p>
            <a:pPr indent="0" marL="0">
              <a:buNone/>
            </a:pPr>
            <a:r>
              <a:rPr lang="en-US" sz="1300" dirty="0">
                <a:solidFill>
                  <a:srgbClr val="14161A"/>
                </a:solidFill>
                <a:latin typeface="Calibri" pitchFamily="34" charset="0"/>
                <a:ea typeface="Calibri" pitchFamily="34" charset="-122"/>
                <a:cs typeface="Calibri" pitchFamily="34" charset="-120"/>
              </a:rPr>
              <a:t>Web app: PDFs → concepts → versions → questions → audio</a:t>
            </a:r>
            <a:endParaRPr lang="en-US" sz="1300" dirty="0"/>
          </a:p>
        </p:txBody>
      </p:sp>
      <p:sp>
        <p:nvSpPr>
          <p:cNvPr id="8" name="arrow-26"/>
          <p:cNvSpPr/>
          <p:nvPr/>
        </p:nvSpPr>
        <p:spPr>
          <a:xfrm>
            <a:off x="2578608" y="3200400"/>
            <a:ext cx="237744" cy="0"/>
          </a:xfrm>
          <a:prstGeom prst="line">
            <a:avLst/>
          </a:prstGeom>
          <a:noFill/>
          <a:ln w="25400">
            <a:solidFill>
              <a:srgbClr val="1D5FD6"/>
            </a:solidFill>
            <a:prstDash val="solid"/>
            <a:tailEnd type="triangle"/>
          </a:ln>
        </p:spPr>
      </p:sp>
      <p:sp>
        <p:nvSpPr>
          <p:cNvPr id="9" name="card-27"/>
          <p:cNvSpPr/>
          <p:nvPr/>
        </p:nvSpPr>
        <p:spPr>
          <a:xfrm>
            <a:off x="2834640" y="1645920"/>
            <a:ext cx="2011680" cy="3108960"/>
          </a:xfrm>
          <a:prstGeom prst="roundRect">
            <a:avLst>
              <a:gd name="adj" fmla="val 5455"/>
            </a:avLst>
          </a:prstGeom>
          <a:solidFill>
            <a:srgbClr val="EFF4FE"/>
          </a:solidFill>
          <a:ln w="12700">
            <a:solidFill>
              <a:srgbClr val="EFF4FE"/>
            </a:solidFill>
            <a:prstDash val="solid"/>
          </a:ln>
        </p:spPr>
      </p:sp>
      <p:sp>
        <p:nvSpPr>
          <p:cNvPr id="10" name="badge-28"/>
          <p:cNvSpPr/>
          <p:nvPr/>
        </p:nvSpPr>
        <p:spPr>
          <a:xfrm>
            <a:off x="3063240" y="1874520"/>
            <a:ext cx="685800" cy="685800"/>
          </a:xfrm>
          <a:prstGeom prst="ellipse">
            <a:avLst/>
          </a:prstGeom>
          <a:solidFill>
            <a:srgbClr val="1A47A8"/>
          </a:solidFill>
          <a:ln w="12700">
            <a:solidFill>
              <a:srgbClr val="1A47A8"/>
            </a:solidFill>
            <a:prstDash val="solid"/>
          </a:ln>
        </p:spPr>
      </p:sp>
      <p:pic>
        <p:nvPicPr>
          <p:cNvPr id="11" name="icon-29" descr="preencoded.png">    </p:cNvPr>
          <p:cNvPicPr>
            <a:picLocks noChangeAspect="1"/>
          </p:cNvPicPr>
          <p:nvPr/>
        </p:nvPicPr>
        <p:blipFill>
          <a:blip r:embed="rId2"/>
          <a:stretch>
            <a:fillRect/>
          </a:stretch>
        </p:blipFill>
        <p:spPr>
          <a:xfrm>
            <a:off x="3214116" y="2025396"/>
            <a:ext cx="384048" cy="384048"/>
          </a:xfrm>
          <a:prstGeom prst="rect">
            <a:avLst/>
          </a:prstGeom>
        </p:spPr>
      </p:pic>
      <p:sp>
        <p:nvSpPr>
          <p:cNvPr id="12" name="text-30"/>
          <p:cNvSpPr txBox="1"/>
          <p:nvPr/>
        </p:nvSpPr>
        <p:spPr>
          <a:xfrm>
            <a:off x="3063240" y="2743200"/>
            <a:ext cx="1645920" cy="685800"/>
          </a:xfrm>
          <a:prstGeom prst="rect">
            <a:avLst/>
          </a:prstGeom>
          <a:noFill/>
          <a:ln/>
        </p:spPr>
        <p:txBody>
          <a:bodyPr wrap="square" lIns="0" tIns="0" rIns="0" bIns="0" rtlCol="0" anchor="t"/>
          <a:lstStyle/>
          <a:p>
            <a:pPr indent="0" marL="0">
              <a:buNone/>
            </a:pPr>
            <a:r>
              <a:rPr lang="en-US" sz="1600" b="1" dirty="0">
                <a:solidFill>
                  <a:srgbClr val="0A1B3D"/>
                </a:solidFill>
                <a:latin typeface="Cambria" pitchFamily="34" charset="0"/>
                <a:ea typeface="Cambria" pitchFamily="34" charset="-122"/>
                <a:cs typeface="Cambria" pitchFamily="34" charset="-120"/>
              </a:rPr>
              <a:t>Published learning path</a:t>
            </a:r>
            <a:endParaRPr lang="en-US" sz="1600" dirty="0"/>
          </a:p>
        </p:txBody>
      </p:sp>
      <p:sp>
        <p:nvSpPr>
          <p:cNvPr id="13" name="text-31"/>
          <p:cNvSpPr txBox="1"/>
          <p:nvPr/>
        </p:nvSpPr>
        <p:spPr>
          <a:xfrm>
            <a:off x="3063240" y="3429000"/>
            <a:ext cx="1645920" cy="1234440"/>
          </a:xfrm>
          <a:prstGeom prst="rect">
            <a:avLst/>
          </a:prstGeom>
          <a:noFill/>
          <a:ln/>
        </p:spPr>
        <p:txBody>
          <a:bodyPr wrap="square" lIns="0" tIns="0" rIns="0" bIns="0" rtlCol="0" anchor="t"/>
          <a:lstStyle/>
          <a:p>
            <a:pPr indent="0" marL="0">
              <a:buNone/>
            </a:pPr>
            <a:r>
              <a:rPr lang="en-US" sz="1300" dirty="0">
                <a:solidFill>
                  <a:srgbClr val="14161A"/>
                </a:solidFill>
                <a:latin typeface="Calibri" pitchFamily="34" charset="0"/>
                <a:ea typeface="Calibri" pitchFamily="34" charset="-122"/>
                <a:cs typeface="Calibri" pitchFamily="34" charset="-120"/>
              </a:rPr>
              <a:t>learning_path: concepts in prerequisite order, per topic</a:t>
            </a:r>
            <a:endParaRPr lang="en-US" sz="1300" dirty="0"/>
          </a:p>
        </p:txBody>
      </p:sp>
      <p:sp>
        <p:nvSpPr>
          <p:cNvPr id="14" name="arrow-32"/>
          <p:cNvSpPr/>
          <p:nvPr/>
        </p:nvSpPr>
        <p:spPr>
          <a:xfrm>
            <a:off x="4864608" y="3200400"/>
            <a:ext cx="237744" cy="0"/>
          </a:xfrm>
          <a:prstGeom prst="line">
            <a:avLst/>
          </a:prstGeom>
          <a:noFill/>
          <a:ln w="25400">
            <a:solidFill>
              <a:srgbClr val="1D5FD6"/>
            </a:solidFill>
            <a:prstDash val="solid"/>
            <a:tailEnd type="triangle"/>
          </a:ln>
        </p:spPr>
      </p:sp>
      <p:sp>
        <p:nvSpPr>
          <p:cNvPr id="15" name="card-33"/>
          <p:cNvSpPr/>
          <p:nvPr/>
        </p:nvSpPr>
        <p:spPr>
          <a:xfrm>
            <a:off x="5120640" y="1645920"/>
            <a:ext cx="2011680" cy="3108960"/>
          </a:xfrm>
          <a:prstGeom prst="roundRect">
            <a:avLst>
              <a:gd name="adj" fmla="val 5455"/>
            </a:avLst>
          </a:prstGeom>
          <a:solidFill>
            <a:srgbClr val="DCE8FD"/>
          </a:solidFill>
          <a:ln w="12700">
            <a:solidFill>
              <a:srgbClr val="DCE8FD"/>
            </a:solidFill>
            <a:prstDash val="solid"/>
          </a:ln>
        </p:spPr>
      </p:sp>
      <p:sp>
        <p:nvSpPr>
          <p:cNvPr id="16" name="badge-34"/>
          <p:cNvSpPr/>
          <p:nvPr/>
        </p:nvSpPr>
        <p:spPr>
          <a:xfrm>
            <a:off x="5349240" y="1874520"/>
            <a:ext cx="685800" cy="685800"/>
          </a:xfrm>
          <a:prstGeom prst="ellipse">
            <a:avLst/>
          </a:prstGeom>
          <a:solidFill>
            <a:srgbClr val="1D5FD6"/>
          </a:solidFill>
          <a:ln w="12700">
            <a:solidFill>
              <a:srgbClr val="1D5FD6"/>
            </a:solidFill>
            <a:prstDash val="solid"/>
          </a:ln>
        </p:spPr>
      </p:sp>
      <p:pic>
        <p:nvPicPr>
          <p:cNvPr id="17" name="icon-35" descr="preencoded.png">    </p:cNvPr>
          <p:cNvPicPr>
            <a:picLocks noChangeAspect="1"/>
          </p:cNvPicPr>
          <p:nvPr/>
        </p:nvPicPr>
        <p:blipFill>
          <a:blip r:embed="rId3"/>
          <a:stretch>
            <a:fillRect/>
          </a:stretch>
        </p:blipFill>
        <p:spPr>
          <a:xfrm>
            <a:off x="5500116" y="2025396"/>
            <a:ext cx="384048" cy="384048"/>
          </a:xfrm>
          <a:prstGeom prst="rect">
            <a:avLst/>
          </a:prstGeom>
        </p:spPr>
      </p:pic>
      <p:sp>
        <p:nvSpPr>
          <p:cNvPr id="18" name="text-36"/>
          <p:cNvSpPr txBox="1"/>
          <p:nvPr/>
        </p:nvSpPr>
        <p:spPr>
          <a:xfrm>
            <a:off x="5349240" y="2743200"/>
            <a:ext cx="1645920" cy="685800"/>
          </a:xfrm>
          <a:prstGeom prst="rect">
            <a:avLst/>
          </a:prstGeom>
          <a:noFill/>
          <a:ln/>
        </p:spPr>
        <p:txBody>
          <a:bodyPr wrap="square" lIns="0" tIns="0" rIns="0" bIns="0" rtlCol="0" anchor="t"/>
          <a:lstStyle/>
          <a:p>
            <a:pPr indent="0" marL="0">
              <a:buNone/>
            </a:pPr>
            <a:r>
              <a:rPr lang="en-US" sz="1600" b="1" dirty="0">
                <a:solidFill>
                  <a:srgbClr val="0A1B3D"/>
                </a:solidFill>
                <a:latin typeface="Cambria" pitchFamily="34" charset="0"/>
                <a:ea typeface="Cambria" pitchFamily="34" charset="-122"/>
                <a:cs typeface="Cambria" pitchFamily="34" charset="-120"/>
              </a:rPr>
              <a:t>Audio course package</a:t>
            </a:r>
            <a:endParaRPr lang="en-US" sz="1600" dirty="0"/>
          </a:p>
        </p:txBody>
      </p:sp>
      <p:sp>
        <p:nvSpPr>
          <p:cNvPr id="19" name="text-37"/>
          <p:cNvSpPr txBox="1"/>
          <p:nvPr/>
        </p:nvSpPr>
        <p:spPr>
          <a:xfrm>
            <a:off x="5349240" y="3429000"/>
            <a:ext cx="1645920" cy="1234440"/>
          </a:xfrm>
          <a:prstGeom prst="rect">
            <a:avLst/>
          </a:prstGeom>
          <a:noFill/>
          <a:ln/>
        </p:spPr>
        <p:txBody>
          <a:bodyPr wrap="square" lIns="0" tIns="0" rIns="0" bIns="0" rtlCol="0" anchor="t"/>
          <a:lstStyle/>
          <a:p>
            <a:pPr indent="0" marL="0">
              <a:buNone/>
            </a:pPr>
            <a:r>
              <a:rPr lang="en-US" sz="1300" dirty="0">
                <a:solidFill>
                  <a:srgbClr val="14161A"/>
                </a:solidFill>
                <a:latin typeface="Calibri" pitchFamily="34" charset="0"/>
                <a:ea typeface="Calibri" pitchFamily="34" charset="-122"/>
                <a:cs typeface="Calibri" pitchFamily="34" charset="-120"/>
              </a:rPr>
              <a:t>mobile_course_package: audio-only steps + server-side answer key</a:t>
            </a:r>
            <a:endParaRPr lang="en-US" sz="1300" dirty="0"/>
          </a:p>
        </p:txBody>
      </p:sp>
      <p:sp>
        <p:nvSpPr>
          <p:cNvPr id="20" name="arrow-38"/>
          <p:cNvSpPr/>
          <p:nvPr/>
        </p:nvSpPr>
        <p:spPr>
          <a:xfrm>
            <a:off x="7150608" y="3200400"/>
            <a:ext cx="237744" cy="0"/>
          </a:xfrm>
          <a:prstGeom prst="line">
            <a:avLst/>
          </a:prstGeom>
          <a:noFill/>
          <a:ln w="25400">
            <a:solidFill>
              <a:srgbClr val="1D5FD6"/>
            </a:solidFill>
            <a:prstDash val="solid"/>
            <a:tailEnd type="triangle"/>
          </a:ln>
        </p:spPr>
      </p:sp>
      <p:sp>
        <p:nvSpPr>
          <p:cNvPr id="21" name="card-39"/>
          <p:cNvSpPr/>
          <p:nvPr/>
        </p:nvSpPr>
        <p:spPr>
          <a:xfrm>
            <a:off x="7406640" y="1645920"/>
            <a:ext cx="2011680" cy="3108960"/>
          </a:xfrm>
          <a:prstGeom prst="roundRect">
            <a:avLst>
              <a:gd name="adj" fmla="val 5455"/>
            </a:avLst>
          </a:prstGeom>
          <a:solidFill>
            <a:srgbClr val="DCE8FD"/>
          </a:solidFill>
          <a:ln w="12700">
            <a:solidFill>
              <a:srgbClr val="DCE8FD"/>
            </a:solidFill>
            <a:prstDash val="solid"/>
          </a:ln>
        </p:spPr>
      </p:sp>
      <p:sp>
        <p:nvSpPr>
          <p:cNvPr id="22" name="badge-40"/>
          <p:cNvSpPr/>
          <p:nvPr/>
        </p:nvSpPr>
        <p:spPr>
          <a:xfrm>
            <a:off x="7635240" y="1874520"/>
            <a:ext cx="685800" cy="685800"/>
          </a:xfrm>
          <a:prstGeom prst="ellipse">
            <a:avLst/>
          </a:prstGeom>
          <a:solidFill>
            <a:srgbClr val="1D5FD6"/>
          </a:solidFill>
          <a:ln w="12700">
            <a:solidFill>
              <a:srgbClr val="1D5FD6"/>
            </a:solidFill>
            <a:prstDash val="solid"/>
          </a:ln>
        </p:spPr>
      </p:sp>
      <p:pic>
        <p:nvPicPr>
          <p:cNvPr id="23" name="icon-41" descr="preencoded.png">    </p:cNvPr>
          <p:cNvPicPr>
            <a:picLocks noChangeAspect="1"/>
          </p:cNvPicPr>
          <p:nvPr/>
        </p:nvPicPr>
        <p:blipFill>
          <a:blip r:embed="rId4"/>
          <a:stretch>
            <a:fillRect/>
          </a:stretch>
        </p:blipFill>
        <p:spPr>
          <a:xfrm>
            <a:off x="7786116" y="2025396"/>
            <a:ext cx="384048" cy="384048"/>
          </a:xfrm>
          <a:prstGeom prst="rect">
            <a:avLst/>
          </a:prstGeom>
        </p:spPr>
      </p:pic>
      <p:sp>
        <p:nvSpPr>
          <p:cNvPr id="24" name="text-42"/>
          <p:cNvSpPr txBox="1"/>
          <p:nvPr/>
        </p:nvSpPr>
        <p:spPr>
          <a:xfrm>
            <a:off x="7635240" y="2743200"/>
            <a:ext cx="1645920" cy="685800"/>
          </a:xfrm>
          <a:prstGeom prst="rect">
            <a:avLst/>
          </a:prstGeom>
          <a:noFill/>
          <a:ln/>
        </p:spPr>
        <p:txBody>
          <a:bodyPr wrap="square" lIns="0" tIns="0" rIns="0" bIns="0" rtlCol="0" anchor="t"/>
          <a:lstStyle/>
          <a:p>
            <a:pPr indent="0" marL="0">
              <a:buNone/>
            </a:pPr>
            <a:r>
              <a:rPr lang="en-US" sz="1600" b="1" dirty="0">
                <a:solidFill>
                  <a:srgbClr val="0A1B3D"/>
                </a:solidFill>
                <a:latin typeface="Cambria" pitchFamily="34" charset="0"/>
                <a:ea typeface="Cambria" pitchFamily="34" charset="-122"/>
                <a:cs typeface="Cambria" pitchFamily="34" charset="-120"/>
              </a:rPr>
              <a:t>Adaptive engine</a:t>
            </a:r>
            <a:endParaRPr lang="en-US" sz="1600" dirty="0"/>
          </a:p>
        </p:txBody>
      </p:sp>
      <p:sp>
        <p:nvSpPr>
          <p:cNvPr id="25" name="text-43"/>
          <p:cNvSpPr txBox="1"/>
          <p:nvPr/>
        </p:nvSpPr>
        <p:spPr>
          <a:xfrm>
            <a:off x="7635240" y="3429000"/>
            <a:ext cx="1645920" cy="1234440"/>
          </a:xfrm>
          <a:prstGeom prst="rect">
            <a:avLst/>
          </a:prstGeom>
          <a:noFill/>
          <a:ln/>
        </p:spPr>
        <p:txBody>
          <a:bodyPr wrap="square" lIns="0" tIns="0" rIns="0" bIns="0" rtlCol="0" anchor="t"/>
          <a:lstStyle/>
          <a:p>
            <a:pPr indent="0" marL="0">
              <a:buNone/>
            </a:pPr>
            <a:r>
              <a:rPr lang="en-US" sz="1300" dirty="0">
                <a:solidFill>
                  <a:srgbClr val="14161A"/>
                </a:solidFill>
                <a:latin typeface="Calibri" pitchFamily="34" charset="0"/>
                <a:ea typeface="Calibri" pitchFamily="34" charset="-122"/>
                <a:cs typeface="Calibri" pitchFamily="34" charset="-120"/>
              </a:rPr>
              <a:t>adaptive: grade, BKT, baseline, decide, log</a:t>
            </a:r>
            <a:endParaRPr lang="en-US" sz="1300" dirty="0"/>
          </a:p>
        </p:txBody>
      </p:sp>
      <p:sp>
        <p:nvSpPr>
          <p:cNvPr id="26" name="arrow-44"/>
          <p:cNvSpPr/>
          <p:nvPr/>
        </p:nvSpPr>
        <p:spPr>
          <a:xfrm>
            <a:off x="9436608" y="3200400"/>
            <a:ext cx="237744" cy="0"/>
          </a:xfrm>
          <a:prstGeom prst="line">
            <a:avLst/>
          </a:prstGeom>
          <a:noFill/>
          <a:ln w="25400">
            <a:solidFill>
              <a:srgbClr val="1D5FD6"/>
            </a:solidFill>
            <a:prstDash val="solid"/>
            <a:tailEnd type="triangle"/>
          </a:ln>
        </p:spPr>
      </p:sp>
      <p:sp>
        <p:nvSpPr>
          <p:cNvPr id="27" name="card-45"/>
          <p:cNvSpPr/>
          <p:nvPr/>
        </p:nvSpPr>
        <p:spPr>
          <a:xfrm>
            <a:off x="9692640" y="1645920"/>
            <a:ext cx="2011680" cy="3108960"/>
          </a:xfrm>
          <a:prstGeom prst="roundRect">
            <a:avLst>
              <a:gd name="adj" fmla="val 5455"/>
            </a:avLst>
          </a:prstGeom>
          <a:solidFill>
            <a:srgbClr val="EFF4FE"/>
          </a:solidFill>
          <a:ln w="12700">
            <a:solidFill>
              <a:srgbClr val="EFF4FE"/>
            </a:solidFill>
            <a:prstDash val="solid"/>
          </a:ln>
        </p:spPr>
      </p:sp>
      <p:sp>
        <p:nvSpPr>
          <p:cNvPr id="28" name="badge-46"/>
          <p:cNvSpPr/>
          <p:nvPr/>
        </p:nvSpPr>
        <p:spPr>
          <a:xfrm>
            <a:off x="9921240" y="1874520"/>
            <a:ext cx="685800" cy="685800"/>
          </a:xfrm>
          <a:prstGeom prst="ellipse">
            <a:avLst/>
          </a:prstGeom>
          <a:solidFill>
            <a:srgbClr val="1A47A8"/>
          </a:solidFill>
          <a:ln w="12700">
            <a:solidFill>
              <a:srgbClr val="1A47A8"/>
            </a:solidFill>
            <a:prstDash val="solid"/>
          </a:ln>
        </p:spPr>
      </p:sp>
      <p:pic>
        <p:nvPicPr>
          <p:cNvPr id="29" name="icon-47" descr="preencoded.png">    </p:cNvPr>
          <p:cNvPicPr>
            <a:picLocks noChangeAspect="1"/>
          </p:cNvPicPr>
          <p:nvPr/>
        </p:nvPicPr>
        <p:blipFill>
          <a:blip r:embed="rId5"/>
          <a:stretch>
            <a:fillRect/>
          </a:stretch>
        </p:blipFill>
        <p:spPr>
          <a:xfrm>
            <a:off x="10072116" y="2025396"/>
            <a:ext cx="384048" cy="384048"/>
          </a:xfrm>
          <a:prstGeom prst="rect">
            <a:avLst/>
          </a:prstGeom>
        </p:spPr>
      </p:pic>
      <p:sp>
        <p:nvSpPr>
          <p:cNvPr id="30" name="text-48"/>
          <p:cNvSpPr txBox="1"/>
          <p:nvPr/>
        </p:nvSpPr>
        <p:spPr>
          <a:xfrm>
            <a:off x="9921240" y="2743200"/>
            <a:ext cx="1645920" cy="685800"/>
          </a:xfrm>
          <a:prstGeom prst="rect">
            <a:avLst/>
          </a:prstGeom>
          <a:noFill/>
          <a:ln/>
        </p:spPr>
        <p:txBody>
          <a:bodyPr wrap="square" lIns="0" tIns="0" rIns="0" bIns="0" rtlCol="0" anchor="t"/>
          <a:lstStyle/>
          <a:p>
            <a:pPr indent="0" marL="0">
              <a:buNone/>
            </a:pPr>
            <a:r>
              <a:rPr lang="en-US" sz="1600" b="1" dirty="0">
                <a:solidFill>
                  <a:srgbClr val="0A1B3D"/>
                </a:solidFill>
                <a:latin typeface="Cambria" pitchFamily="34" charset="0"/>
                <a:ea typeface="Cambria" pitchFamily="34" charset="-122"/>
                <a:cs typeface="Cambria" pitchFamily="34" charset="-120"/>
              </a:rPr>
              <a:t>Phone</a:t>
            </a:r>
            <a:endParaRPr lang="en-US" sz="1600" dirty="0"/>
          </a:p>
        </p:txBody>
      </p:sp>
      <p:sp>
        <p:nvSpPr>
          <p:cNvPr id="31" name="text-49"/>
          <p:cNvSpPr txBox="1"/>
          <p:nvPr/>
        </p:nvSpPr>
        <p:spPr>
          <a:xfrm>
            <a:off x="9921240" y="3429000"/>
            <a:ext cx="1645920" cy="1234440"/>
          </a:xfrm>
          <a:prstGeom prst="rect">
            <a:avLst/>
          </a:prstGeom>
          <a:noFill/>
          <a:ln/>
        </p:spPr>
        <p:txBody>
          <a:bodyPr wrap="square" lIns="0" tIns="0" rIns="0" bIns="0" rtlCol="0" anchor="t"/>
          <a:lstStyle/>
          <a:p>
            <a:pPr indent="0" marL="0">
              <a:buNone/>
            </a:pPr>
            <a:r>
              <a:rPr lang="en-US" sz="1300" dirty="0">
                <a:solidFill>
                  <a:srgbClr val="14161A"/>
                </a:solidFill>
                <a:latin typeface="Calibri" pitchFamily="34" charset="0"/>
                <a:ea typeface="Calibri" pitchFamily="34" charset="-122"/>
                <a:cs typeface="Calibri" pitchFamily="34" charset="-120"/>
              </a:rPr>
              <a:t>Expo app: plays, asks, follows each command</a:t>
            </a:r>
            <a:endParaRPr lang="en-US" sz="1300" dirty="0"/>
          </a:p>
        </p:txBody>
      </p:sp>
      <p:sp>
        <p:nvSpPr>
          <p:cNvPr id="32" name="text-50"/>
          <p:cNvSpPr txBox="1"/>
          <p:nvPr/>
        </p:nvSpPr>
        <p:spPr>
          <a:xfrm>
            <a:off x="548640" y="5120640"/>
            <a:ext cx="11064240" cy="457200"/>
          </a:xfrm>
          <a:prstGeom prst="rect">
            <a:avLst/>
          </a:prstGeom>
          <a:noFill/>
          <a:ln/>
        </p:spPr>
        <p:txBody>
          <a:bodyPr wrap="square" lIns="0" tIns="0" rIns="0" bIns="0" rtlCol="0" anchor="t"/>
          <a:lstStyle/>
          <a:p>
            <a:pPr indent="0" marL="0">
              <a:buNone/>
            </a:pPr>
            <a:r>
              <a:rPr lang="en-US" sz="1600" i="1" dirty="0">
                <a:solidFill>
                  <a:srgbClr val="1A47A8"/>
                </a:solidFill>
                <a:latin typeface="Calibri" pitchFamily="34" charset="0"/>
                <a:ea typeface="Calibri" pitchFamily="34" charset="-122"/>
                <a:cs typeface="Calibri" pitchFamily="34" charset="-120"/>
              </a:rPr>
              <a:t>Content flows left to right once per publish; answers flow phone → engine → phone on every question.</a:t>
            </a:r>
            <a:endParaRPr lang="en-US" sz="16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Two apps, one rule: each fact lives in exactly one place</a:t>
            </a:r>
            <a:endParaRPr lang="en-US" sz="3000" dirty="0"/>
          </a:p>
        </p:txBody>
      </p:sp>
      <p:sp>
        <p:nvSpPr>
          <p:cNvPr id="3" name="card-51"/>
          <p:cNvSpPr/>
          <p:nvPr/>
        </p:nvSpPr>
        <p:spPr>
          <a:xfrm>
            <a:off x="548640" y="1417320"/>
            <a:ext cx="5440680" cy="4160520"/>
          </a:xfrm>
          <a:prstGeom prst="roundRect">
            <a:avLst>
              <a:gd name="adj" fmla="val 2637"/>
            </a:avLst>
          </a:prstGeom>
          <a:solidFill>
            <a:srgbClr val="EFF4FE"/>
          </a:solidFill>
          <a:ln w="12700">
            <a:solidFill>
              <a:srgbClr val="EFF4FE"/>
            </a:solidFill>
            <a:prstDash val="solid"/>
          </a:ln>
        </p:spPr>
      </p:sp>
      <p:sp>
        <p:nvSpPr>
          <p:cNvPr id="4" name="text-52"/>
          <p:cNvSpPr txBox="1"/>
          <p:nvPr/>
        </p:nvSpPr>
        <p:spPr>
          <a:xfrm>
            <a:off x="868680" y="1600200"/>
            <a:ext cx="4846320" cy="411480"/>
          </a:xfrm>
          <a:prstGeom prst="rect">
            <a:avLst/>
          </a:prstGeom>
          <a:noFill/>
          <a:ln/>
        </p:spPr>
        <p:txBody>
          <a:bodyPr wrap="square" lIns="0" tIns="0" rIns="0" bIns="0" rtlCol="0" anchor="t"/>
          <a:lstStyle/>
          <a:p>
            <a:pPr indent="0" marL="0">
              <a:buNone/>
            </a:pPr>
            <a:r>
              <a:rPr lang="en-US" sz="1800" b="1" dirty="0">
                <a:solidFill>
                  <a:srgbClr val="1D5FD6"/>
                </a:solidFill>
                <a:latin typeface="Courier New" pitchFamily="34" charset="0"/>
                <a:ea typeface="Courier New" pitchFamily="34" charset="-122"/>
                <a:cs typeface="Courier New" pitchFamily="34" charset="-120"/>
              </a:rPr>
              <a:t>mobile_course_package</a:t>
            </a:r>
            <a:endParaRPr lang="en-US" sz="1800" dirty="0"/>
          </a:p>
        </p:txBody>
      </p:sp>
      <p:sp>
        <p:nvSpPr>
          <p:cNvPr id="5" name="text-53"/>
          <p:cNvSpPr txBox="1"/>
          <p:nvPr/>
        </p:nvSpPr>
        <p:spPr>
          <a:xfrm>
            <a:off x="868680" y="2011680"/>
            <a:ext cx="4846320" cy="365760"/>
          </a:xfrm>
          <a:prstGeom prst="rect">
            <a:avLst/>
          </a:prstGeom>
          <a:noFill/>
          <a:ln/>
        </p:spPr>
        <p:txBody>
          <a:bodyPr wrap="square" lIns="0" tIns="0" rIns="0" bIns="0" rtlCol="0" anchor="t"/>
          <a:lstStyle/>
          <a:p>
            <a:pPr indent="0" marL="0">
              <a:buNone/>
            </a:pPr>
            <a:r>
              <a:rPr lang="en-US" sz="1500" i="1" dirty="0">
                <a:solidFill>
                  <a:srgbClr val="5B6372"/>
                </a:solidFill>
                <a:latin typeface="Calibri" pitchFamily="34" charset="0"/>
                <a:ea typeface="Calibri" pitchFamily="34" charset="-122"/>
                <a:cs typeface="Calibri" pitchFamily="34" charset="-120"/>
              </a:rPr>
              <a:t>What the student sees and did</a:t>
            </a:r>
            <a:endParaRPr lang="en-US" sz="1500" dirty="0"/>
          </a:p>
        </p:txBody>
      </p:sp>
      <p:sp>
        <p:nvSpPr>
          <p:cNvPr id="6" name="text-54"/>
          <p:cNvSpPr txBox="1"/>
          <p:nvPr/>
        </p:nvSpPr>
        <p:spPr>
          <a:xfrm>
            <a:off x="868680" y="2514600"/>
            <a:ext cx="4846320" cy="68580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TopicPackage</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the audio course for one topic: steps + answer key</a:t>
            </a:r>
            <a:endParaRPr lang="en-US" sz="1400" dirty="0"/>
          </a:p>
        </p:txBody>
      </p:sp>
      <p:sp>
        <p:nvSpPr>
          <p:cNvPr id="7" name="text-55"/>
          <p:cNvSpPr txBox="1"/>
          <p:nvPr/>
        </p:nvSpPr>
        <p:spPr>
          <a:xfrm>
            <a:off x="868680" y="3264408"/>
            <a:ext cx="4846320" cy="68580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TopicPackageProgress</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where the student is: step, explanation type, return point</a:t>
            </a:r>
            <a:endParaRPr lang="en-US" sz="1400" dirty="0"/>
          </a:p>
        </p:txBody>
      </p:sp>
      <p:sp>
        <p:nvSpPr>
          <p:cNvPr id="8" name="text-56"/>
          <p:cNvSpPr txBox="1"/>
          <p:nvPr/>
        </p:nvSpPr>
        <p:spPr>
          <a:xfrm>
            <a:off x="868680" y="4014216"/>
            <a:ext cx="4846320" cy="68580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StudentResponse</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every answer: choice, correct, type heard, attempt, format</a:t>
            </a:r>
            <a:endParaRPr lang="en-US" sz="1400" dirty="0"/>
          </a:p>
        </p:txBody>
      </p:sp>
      <p:sp>
        <p:nvSpPr>
          <p:cNvPr id="9" name="card-57"/>
          <p:cNvSpPr/>
          <p:nvPr/>
        </p:nvSpPr>
        <p:spPr>
          <a:xfrm>
            <a:off x="6172200" y="1417320"/>
            <a:ext cx="5440680" cy="4160520"/>
          </a:xfrm>
          <a:prstGeom prst="roundRect">
            <a:avLst>
              <a:gd name="adj" fmla="val 2637"/>
            </a:avLst>
          </a:prstGeom>
          <a:solidFill>
            <a:srgbClr val="DCE8FD"/>
          </a:solidFill>
          <a:ln w="12700">
            <a:solidFill>
              <a:srgbClr val="DCE8FD"/>
            </a:solidFill>
            <a:prstDash val="solid"/>
          </a:ln>
        </p:spPr>
      </p:sp>
      <p:sp>
        <p:nvSpPr>
          <p:cNvPr id="10" name="text-58"/>
          <p:cNvSpPr txBox="1"/>
          <p:nvPr/>
        </p:nvSpPr>
        <p:spPr>
          <a:xfrm>
            <a:off x="6492240" y="1600200"/>
            <a:ext cx="4846320" cy="411480"/>
          </a:xfrm>
          <a:prstGeom prst="rect">
            <a:avLst/>
          </a:prstGeom>
          <a:noFill/>
          <a:ln/>
        </p:spPr>
        <p:txBody>
          <a:bodyPr wrap="square" lIns="0" tIns="0" rIns="0" bIns="0" rtlCol="0" anchor="t"/>
          <a:lstStyle/>
          <a:p>
            <a:pPr indent="0" marL="0">
              <a:buNone/>
            </a:pPr>
            <a:r>
              <a:rPr lang="en-US" sz="1800" b="1" dirty="0">
                <a:solidFill>
                  <a:srgbClr val="1D5FD6"/>
                </a:solidFill>
                <a:latin typeface="Courier New" pitchFamily="34" charset="0"/>
                <a:ea typeface="Courier New" pitchFamily="34" charset="-122"/>
                <a:cs typeface="Courier New" pitchFamily="34" charset="-120"/>
              </a:rPr>
              <a:t>adaptive</a:t>
            </a:r>
            <a:endParaRPr lang="en-US" sz="1800" dirty="0"/>
          </a:p>
        </p:txBody>
      </p:sp>
      <p:sp>
        <p:nvSpPr>
          <p:cNvPr id="11" name="text-59"/>
          <p:cNvSpPr txBox="1"/>
          <p:nvPr/>
        </p:nvSpPr>
        <p:spPr>
          <a:xfrm>
            <a:off x="6492240" y="2011680"/>
            <a:ext cx="4846320" cy="365760"/>
          </a:xfrm>
          <a:prstGeom prst="rect">
            <a:avLst/>
          </a:prstGeom>
          <a:noFill/>
          <a:ln/>
        </p:spPr>
        <p:txBody>
          <a:bodyPr wrap="square" lIns="0" tIns="0" rIns="0" bIns="0" rtlCol="0" anchor="t"/>
          <a:lstStyle/>
          <a:p>
            <a:pPr indent="0" marL="0">
              <a:buNone/>
            </a:pPr>
            <a:r>
              <a:rPr lang="en-US" sz="1500" i="1" dirty="0">
                <a:solidFill>
                  <a:srgbClr val="5B6372"/>
                </a:solidFill>
                <a:latin typeface="Calibri" pitchFamily="34" charset="0"/>
                <a:ea typeface="Calibri" pitchFamily="34" charset="-122"/>
                <a:cs typeface="Calibri" pitchFamily="34" charset="-120"/>
              </a:rPr>
              <a:t>What the server knows and decides</a:t>
            </a:r>
            <a:endParaRPr lang="en-US" sz="1500" dirty="0"/>
          </a:p>
        </p:txBody>
      </p:sp>
      <p:sp>
        <p:nvSpPr>
          <p:cNvPr id="12" name="text-60"/>
          <p:cNvSpPr txBox="1"/>
          <p:nvPr/>
        </p:nvSpPr>
        <p:spPr>
          <a:xfrm>
            <a:off x="6492240" y="2514600"/>
            <a:ext cx="4846320" cy="68580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Enrollment</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who may take which course</a:t>
            </a:r>
            <a:endParaRPr lang="en-US" sz="1400" dirty="0"/>
          </a:p>
        </p:txBody>
      </p:sp>
      <p:sp>
        <p:nvSpPr>
          <p:cNvPr id="13" name="text-61"/>
          <p:cNvSpPr txBox="1"/>
          <p:nvPr/>
        </p:nvSpPr>
        <p:spPr>
          <a:xfrm>
            <a:off x="6492240" y="3264408"/>
            <a:ext cx="4846320" cy="68580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ConceptMastery</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BKT estimate per student per concept</a:t>
            </a:r>
            <a:endParaRPr lang="en-US" sz="1400" dirty="0"/>
          </a:p>
        </p:txBody>
      </p:sp>
      <p:sp>
        <p:nvSpPr>
          <p:cNvPr id="14" name="text-62"/>
          <p:cNvSpPr txBox="1"/>
          <p:nvPr/>
        </p:nvSpPr>
        <p:spPr>
          <a:xfrm>
            <a:off x="6492240" y="4014216"/>
            <a:ext cx="4846320" cy="68580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StudentBaseline</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the student as a learner: ability, L₀, calibrated</a:t>
            </a:r>
            <a:endParaRPr lang="en-US" sz="1400" dirty="0"/>
          </a:p>
        </p:txBody>
      </p:sp>
      <p:sp>
        <p:nvSpPr>
          <p:cNvPr id="15" name="text-63"/>
          <p:cNvSpPr txBox="1"/>
          <p:nvPr/>
        </p:nvSpPr>
        <p:spPr>
          <a:xfrm>
            <a:off x="6492240" y="4764024"/>
            <a:ext cx="4846320" cy="68580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Decision</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what the engine saw and did, per answer</a:t>
            </a:r>
            <a:endParaRPr lang="en-US" sz="1400" dirty="0"/>
          </a:p>
        </p:txBody>
      </p:sp>
      <p:sp>
        <p:nvSpPr>
          <p:cNvPr id="16" name="text-64"/>
          <p:cNvSpPr txBox="1"/>
          <p:nvPr/>
        </p:nvSpPr>
        <p:spPr>
          <a:xfrm>
            <a:off x="548640" y="5760720"/>
            <a:ext cx="11064240" cy="411480"/>
          </a:xfrm>
          <a:prstGeom prst="rect">
            <a:avLst/>
          </a:prstGeom>
          <a:noFill/>
          <a:ln/>
        </p:spPr>
        <p:txBody>
          <a:bodyPr wrap="square" lIns="0" tIns="0" rIns="0" bIns="0" rtlCol="0" anchor="t"/>
          <a:lstStyle/>
          <a:p>
            <a:pPr indent="0" marL="0">
              <a:buNone/>
            </a:pPr>
            <a:r>
              <a:rPr lang="en-US" sz="1400" i="1" dirty="0">
                <a:solidFill>
                  <a:srgbClr val="1A47A8"/>
                </a:solidFill>
                <a:latin typeface="Calibri" pitchFamily="34" charset="0"/>
                <a:ea typeface="Calibri" pitchFamily="34" charset="-122"/>
                <a:cs typeface="Calibri" pitchFamily="34" charset="-120"/>
              </a:rPr>
              <a:t>adaptive_config holds the population weights every stranger starts on (admin-tunable on the web).</a:t>
            </a:r>
            <a:endParaRPr lang="en-US" sz="14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MVC layers, app by app</a:t>
            </a:r>
            <a:endParaRPr lang="en-US" sz="3000" dirty="0"/>
          </a:p>
        </p:txBody>
      </p:sp>
      <p:graphicFrame>
        <p:nvGraphicFramePr>
          <p:cNvPr id="7" name="mvc-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463040"/>
                <a:gridCol w="4800600"/>
                <a:gridCol w="480060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a:t>
                      </a:r>
                      <a:endParaRPr lang="en-US" sz="15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mobile_course_package</a:t>
                      </a:r>
                      <a:endParaRPr lang="en-US" sz="15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adaptive</a:t>
                      </a:r>
                      <a:endParaRPr lang="en-US" sz="15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r>
              <a:tr h="685800">
                <a:tc>
                  <a:txBody>
                    <a:bodyPr/>
                    <a:lstStyle/>
                    <a:p>
                      <a:pPr indent="0" marL="0">
                        <a:buNone/>
                      </a:pPr>
                      <a:r>
                        <a:rPr lang="en-US" sz="1300" b="1" dirty="0">
                          <a:solidFill>
                            <a:srgbClr val="0A1B3D"/>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TopicPackage · TopicPackageProgress · StudentResponse</a:t>
                      </a:r>
                      <a:endParaRPr lang="en-US" sz="13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Enrollment · ConceptMastery · StudentBaseline · Decision</a:t>
                      </a:r>
                      <a:endParaRPr lang="en-US" sz="13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868680">
                <a:tc>
                  <a:txBody>
                    <a:bodyPr/>
                    <a:lstStyle/>
                    <a:p>
                      <a:pPr indent="0" marL="0">
                        <a:buNone/>
                      </a:pPr>
                      <a:r>
                        <a:rPr lang="en-US" sz="1300" b="1" dirty="0">
                          <a:solidFill>
                            <a:srgbClr val="0A1B3D"/>
                          </a:solidFill>
                          <a:latin typeface="Calibri" pitchFamily="34" charset="0"/>
                          <a:ea typeface="Calibri" pitchFamily="34" charset="-122"/>
                          <a:cs typeface="Calibri" pitchFamily="34" charset="-120"/>
                        </a:rPr>
                        <a:t>Service</a:t>
                      </a:r>
                      <a:endParaRPr lang="en-US" sz="13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build_course_package · get_package · submit_answer · apply_command · continue_after_listening</a:t>
                      </a:r>
                      <a:endParaRPr lang="en-US" sz="13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grade · bkt_update · update_baseline · starting_mastery · decide · apply_answer</a:t>
                      </a:r>
                      <a:endParaRPr lang="en-US" sz="13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r>
              <a:tr h="685800">
                <a:tc>
                  <a:txBody>
                    <a:bodyPr/>
                    <a:lstStyle/>
                    <a:p>
                      <a:pPr indent="0" marL="0">
                        <a:buNone/>
                      </a:pPr>
                      <a:r>
                        <a:rPr lang="en-US" sz="1300" b="1" dirty="0">
                          <a:solidFill>
                            <a:srgbClr val="0A1B3D"/>
                          </a:solidFill>
                          <a:latin typeface="Calibri" pitchFamily="34" charset="0"/>
                          <a:ea typeface="Calibri" pitchFamily="34" charset="-122"/>
                          <a:cs typeface="Calibri" pitchFamily="34" charset="-120"/>
                        </a:rPr>
                        <a:t>Serializer</a:t>
                      </a:r>
                      <a:endParaRPr lang="en-US" sz="13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SubmitAnswerSerializer · TopicPackageProgressSerializer</a:t>
                      </a:r>
                      <a:endParaRPr lang="en-US" sz="13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StudentBriefSerializer · EnrollmentSerializer · StudentBaselineSerializer</a:t>
                      </a:r>
                      <a:endParaRPr lang="en-US" sz="13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A1B3D"/>
                          </a:solidFill>
                          <a:latin typeface="Calibri" pitchFamily="34" charset="0"/>
                          <a:ea typeface="Calibri" pitchFamily="34" charset="-122"/>
                          <a:cs typeface="Calibri" pitchFamily="34" charset="-120"/>
                        </a:rPr>
                        <a:t>View</a:t>
                      </a:r>
                      <a:endParaRPr lang="en-US" sz="13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MyCourses · CourseContent · TopicPackage · SubmitAnswer · Continue</a:t>
                      </a:r>
                      <a:endParaRPr lang="en-US" sz="13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StudentSearch · CourseEnrollment · CourseProgress (teacher web)</a:t>
                      </a:r>
                      <a:endParaRPr lang="en-US" sz="13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r>
              <a:tr h="502920">
                <a:tc>
                  <a:txBody>
                    <a:bodyPr/>
                    <a:lstStyle/>
                    <a:p>
                      <a:pPr indent="0" marL="0">
                        <a:buNone/>
                      </a:pPr>
                      <a:r>
                        <a:rPr lang="en-US" sz="1300" b="1" dirty="0">
                          <a:solidFill>
                            <a:srgbClr val="0A1B3D"/>
                          </a:solidFill>
                          <a:latin typeface="Calibri" pitchFamily="34" charset="0"/>
                          <a:ea typeface="Calibri" pitchFamily="34" charset="-122"/>
                          <a:cs typeface="Calibri" pitchFamily="34" charset="-120"/>
                        </a:rPr>
                        <a:t>URL</a:t>
                      </a:r>
                      <a:endParaRPr lang="en-US" sz="13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/api/mobile/…</a:t>
                      </a:r>
                      <a:endParaRPr lang="en-US" sz="13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/api/adaptive/…</a:t>
                      </a:r>
                      <a:endParaRPr lang="en-US" sz="1300" dirty="0">
                        <a:latin typeface="Calibri" charset="0"/>
                        <a:ea typeface="Calibri" charset="0"/>
                        <a:cs typeface="Calibri" charset="0"/>
                      </a:endParaRPr>
                    </a:p>
                  </a:txBody>
                  <a:tcPr marL="101600" marR="1016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4" name="text-65"/>
          <p:cNvSpPr txBox="1"/>
          <p:nvPr/>
        </p:nvSpPr>
        <p:spPr>
          <a:xfrm>
            <a:off x="548640" y="5760720"/>
            <a:ext cx="11064240" cy="411480"/>
          </a:xfrm>
          <a:prstGeom prst="rect">
            <a:avLst/>
          </a:prstGeom>
          <a:noFill/>
          <a:ln/>
        </p:spPr>
        <p:txBody>
          <a:bodyPr wrap="square" lIns="0" tIns="0" rIns="0" bIns="0" rtlCol="0" anchor="t"/>
          <a:lstStyle/>
          <a:p>
            <a:pPr indent="0" marL="0">
              <a:buNone/>
            </a:pPr>
            <a:r>
              <a:rPr lang="en-US" sz="1400" i="1" dirty="0">
                <a:solidFill>
                  <a:srgbClr val="1A47A8"/>
                </a:solidFill>
                <a:latin typeface="Calibri" pitchFamily="34" charset="0"/>
                <a:ea typeface="Calibri" pitchFamily="34" charset="-122"/>
                <a:cs typeface="Calibri" pitchFamily="34" charset="-120"/>
              </a:rPr>
              <a:t>Views check and route; services do the work; serializers guard what goes in and out.</a:t>
            </a:r>
            <a:endParaRPr lang="en-US" sz="14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audio course package is built once per publish</a:t>
            </a:r>
            <a:endParaRPr lang="en-US" sz="3000" dirty="0"/>
          </a:p>
        </p:txBody>
      </p:sp>
      <p:sp>
        <p:nvSpPr>
          <p:cNvPr id="3" name="card-66"/>
          <p:cNvSpPr/>
          <p:nvPr/>
        </p:nvSpPr>
        <p:spPr>
          <a:xfrm>
            <a:off x="548640" y="1417320"/>
            <a:ext cx="3291840" cy="1965960"/>
          </a:xfrm>
          <a:prstGeom prst="roundRect">
            <a:avLst>
              <a:gd name="adj" fmla="val 5581"/>
            </a:avLst>
          </a:prstGeom>
          <a:solidFill>
            <a:srgbClr val="DCE8FD"/>
          </a:solidFill>
          <a:ln w="12700">
            <a:solidFill>
              <a:srgbClr val="DCE8FD"/>
            </a:solidFill>
            <a:prstDash val="solid"/>
          </a:ln>
        </p:spPr>
      </p:sp>
      <p:sp>
        <p:nvSpPr>
          <p:cNvPr id="4" name="text-67"/>
          <p:cNvSpPr txBox="1"/>
          <p:nvPr/>
        </p:nvSpPr>
        <p:spPr>
          <a:xfrm>
            <a:off x="777240" y="1554480"/>
            <a:ext cx="2834640" cy="868680"/>
          </a:xfrm>
          <a:prstGeom prst="rect">
            <a:avLst/>
          </a:prstGeom>
          <a:noFill/>
          <a:ln/>
        </p:spPr>
        <p:txBody>
          <a:bodyPr wrap="square" lIns="0" tIns="0" rIns="0" bIns="0" rtlCol="0" anchor="t"/>
          <a:lstStyle/>
          <a:p>
            <a:pPr indent="0" marL="0">
              <a:buNone/>
            </a:pPr>
            <a:r>
              <a:rPr lang="en-US" sz="5400" b="1" dirty="0">
                <a:solidFill>
                  <a:srgbClr val="1D5FD6"/>
                </a:solidFill>
                <a:latin typeface="Cambria" pitchFamily="34" charset="0"/>
                <a:ea typeface="Cambria" pitchFamily="34" charset="-122"/>
                <a:cs typeface="Cambria" pitchFamily="34" charset="-120"/>
              </a:rPr>
              <a:t>5.9 s</a:t>
            </a:r>
            <a:endParaRPr lang="en-US" sz="5400" dirty="0"/>
          </a:p>
        </p:txBody>
      </p:sp>
      <p:sp>
        <p:nvSpPr>
          <p:cNvPr id="5" name="text-68"/>
          <p:cNvSpPr txBox="1"/>
          <p:nvPr/>
        </p:nvSpPr>
        <p:spPr>
          <a:xfrm>
            <a:off x="777240" y="2423160"/>
            <a:ext cx="2834640" cy="822960"/>
          </a:xfrm>
          <a:prstGeom prst="rect">
            <a:avLst/>
          </a:prstGeom>
          <a:noFill/>
          <a:ln/>
        </p:spPr>
        <p:txBody>
          <a:bodyPr wrap="square" lIns="0" tIns="0" rIns="0" bIns="0" rtlCol="0" anchor="t"/>
          <a:lstStyle/>
          <a:p>
            <a:pPr indent="0" marL="0">
              <a:buNone/>
            </a:pPr>
            <a:r>
              <a:rPr lang="en-US" sz="1300" dirty="0">
                <a:solidFill>
                  <a:srgbClr val="14161A"/>
                </a:solidFill>
                <a:latin typeface="Calibri" pitchFamily="34" charset="0"/>
                <a:ea typeface="Calibri" pitchFamily="34" charset="-122"/>
                <a:cs typeface="Calibri" pitchFamily="34" charset="-120"/>
              </a:rPr>
              <a:t>first build of a topic: loads the language models and runs the version checks</a:t>
            </a:r>
            <a:endParaRPr lang="en-US" sz="1300" dirty="0"/>
          </a:p>
        </p:txBody>
      </p:sp>
      <p:sp>
        <p:nvSpPr>
          <p:cNvPr id="6" name="card-69"/>
          <p:cNvSpPr/>
          <p:nvPr/>
        </p:nvSpPr>
        <p:spPr>
          <a:xfrm>
            <a:off x="548640" y="3611880"/>
            <a:ext cx="3291840" cy="1965960"/>
          </a:xfrm>
          <a:prstGeom prst="roundRect">
            <a:avLst>
              <a:gd name="adj" fmla="val 5581"/>
            </a:avLst>
          </a:prstGeom>
          <a:solidFill>
            <a:srgbClr val="DCE8FD"/>
          </a:solidFill>
          <a:ln w="12700">
            <a:solidFill>
              <a:srgbClr val="DCE8FD"/>
            </a:solidFill>
            <a:prstDash val="solid"/>
          </a:ln>
        </p:spPr>
      </p:sp>
      <p:sp>
        <p:nvSpPr>
          <p:cNvPr id="7" name="text-70"/>
          <p:cNvSpPr txBox="1"/>
          <p:nvPr/>
        </p:nvSpPr>
        <p:spPr>
          <a:xfrm>
            <a:off x="777240" y="3749040"/>
            <a:ext cx="2834640" cy="868680"/>
          </a:xfrm>
          <a:prstGeom prst="rect">
            <a:avLst/>
          </a:prstGeom>
          <a:noFill/>
          <a:ln/>
        </p:spPr>
        <p:txBody>
          <a:bodyPr wrap="square" lIns="0" tIns="0" rIns="0" bIns="0" rtlCol="0" anchor="t"/>
          <a:lstStyle/>
          <a:p>
            <a:pPr indent="0" marL="0">
              <a:buNone/>
            </a:pPr>
            <a:r>
              <a:rPr lang="en-US" sz="5400" b="1" dirty="0">
                <a:solidFill>
                  <a:srgbClr val="157A4F"/>
                </a:solidFill>
                <a:latin typeface="Cambria" pitchFamily="34" charset="0"/>
                <a:ea typeface="Cambria" pitchFamily="34" charset="-122"/>
                <a:cs typeface="Cambria" pitchFamily="34" charset="-120"/>
              </a:rPr>
              <a:t>~0 s</a:t>
            </a:r>
            <a:endParaRPr lang="en-US" sz="5400" dirty="0"/>
          </a:p>
        </p:txBody>
      </p:sp>
      <p:sp>
        <p:nvSpPr>
          <p:cNvPr id="8" name="text-71"/>
          <p:cNvSpPr txBox="1"/>
          <p:nvPr/>
        </p:nvSpPr>
        <p:spPr>
          <a:xfrm>
            <a:off x="777240" y="4617720"/>
            <a:ext cx="2834640" cy="822960"/>
          </a:xfrm>
          <a:prstGeom prst="rect">
            <a:avLst/>
          </a:prstGeom>
          <a:noFill/>
          <a:ln/>
        </p:spPr>
        <p:txBody>
          <a:bodyPr wrap="square" lIns="0" tIns="0" rIns="0" bIns="0" rtlCol="0" anchor="t"/>
          <a:lstStyle/>
          <a:p>
            <a:pPr indent="0" marL="0">
              <a:buNone/>
            </a:pPr>
            <a:r>
              <a:rPr lang="en-US" sz="1300" dirty="0">
                <a:solidFill>
                  <a:srgbClr val="14161A"/>
                </a:solidFill>
                <a:latin typeface="Calibri" pitchFamily="34" charset="0"/>
                <a:ea typeface="Calibri" pitchFamily="34" charset="-122"/>
                <a:cs typeface="Calibri" pitchFamily="34" charset="-120"/>
              </a:rPr>
              <a:t>every open after that: two cheap queries, no ML</a:t>
            </a:r>
            <a:endParaRPr lang="en-US" sz="1300" dirty="0"/>
          </a:p>
        </p:txBody>
      </p:sp>
      <p:sp>
        <p:nvSpPr>
          <p:cNvPr id="9" name="badge-72"/>
          <p:cNvSpPr/>
          <p:nvPr/>
        </p:nvSpPr>
        <p:spPr>
          <a:xfrm>
            <a:off x="4251960" y="1463040"/>
            <a:ext cx="548640" cy="548640"/>
          </a:xfrm>
          <a:prstGeom prst="ellipse">
            <a:avLst/>
          </a:prstGeom>
          <a:solidFill>
            <a:srgbClr val="1D5FD6"/>
          </a:solidFill>
          <a:ln w="12700">
            <a:solidFill>
              <a:srgbClr val="1D5FD6"/>
            </a:solidFill>
            <a:prstDash val="solid"/>
          </a:ln>
        </p:spPr>
      </p:sp>
      <p:pic>
        <p:nvPicPr>
          <p:cNvPr id="10" name="icon-73" descr="preencoded.png">    </p:cNvPr>
          <p:cNvPicPr>
            <a:picLocks noChangeAspect="1"/>
          </p:cNvPicPr>
          <p:nvPr/>
        </p:nvPicPr>
        <p:blipFill>
          <a:blip r:embed="rId1"/>
          <a:stretch>
            <a:fillRect/>
          </a:stretch>
        </p:blipFill>
        <p:spPr>
          <a:xfrm>
            <a:off x="4372661" y="1583741"/>
            <a:ext cx="307238" cy="307238"/>
          </a:xfrm>
          <a:prstGeom prst="rect">
            <a:avLst/>
          </a:prstGeom>
        </p:spPr>
      </p:pic>
      <p:sp>
        <p:nvSpPr>
          <p:cNvPr id="11" name="text-74"/>
          <p:cNvSpPr txBox="1"/>
          <p:nvPr/>
        </p:nvSpPr>
        <p:spPr>
          <a:xfrm>
            <a:off x="4983480" y="1417320"/>
            <a:ext cx="6583680" cy="914400"/>
          </a:xfrm>
          <a:prstGeom prst="rect">
            <a:avLst/>
          </a:prstGeom>
          <a:noFill/>
          <a:ln/>
        </p:spPr>
        <p:txBody>
          <a:bodyPr wrap="square" lIns="0" tIns="0" rIns="0" bIns="0" rtlCol="0" anchor="t"/>
          <a:lstStyle/>
          <a:p>
            <a:pPr indent="0" marL="0">
              <a:buNone/>
            </a:pPr>
            <a:r>
              <a:rPr lang="en-US" sz="1600" b="1" dirty="0">
                <a:solidFill>
                  <a:srgbClr val="0A1B3D"/>
                </a:solidFill>
                <a:latin typeface="Calibri" pitchFamily="34" charset="0"/>
                <a:ea typeface="Calibri" pitchFamily="34" charset="-122"/>
                <a:cs typeface="Calibri" pitchFamily="34" charset="-120"/>
              </a:rPr>
              <a:t>Audio only</a:t>
            </a:r>
            <a:endParaRPr lang="en-US" sz="1400" dirty="0"/>
          </a:p>
          <a:p>
            <a:pPr indent="0" marL="0">
              <a:buNone/>
            </a:pPr>
            <a:r>
              <a:rPr lang="en-US" sz="1400" dirty="0">
                <a:solidFill>
                  <a:srgbClr val="14161A"/>
                </a:solidFill>
                <a:latin typeface="Calibri" pitchFamily="34" charset="0"/>
                <a:ea typeface="Calibri" pitchFamily="34" charset="-122"/>
                <a:cs typeface="Calibri" pitchFamily="34" charset="-120"/>
              </a:rPr>
              <a:t>Each step keeps its explanation types as ordered audio clips; text is dropped</a:t>
            </a:r>
            <a:endParaRPr lang="en-US" sz="1400" dirty="0"/>
          </a:p>
        </p:txBody>
      </p:sp>
      <p:sp>
        <p:nvSpPr>
          <p:cNvPr id="12" name="badge-75"/>
          <p:cNvSpPr/>
          <p:nvPr/>
        </p:nvSpPr>
        <p:spPr>
          <a:xfrm>
            <a:off x="4251960" y="2514600"/>
            <a:ext cx="548640" cy="548640"/>
          </a:xfrm>
          <a:prstGeom prst="ellipse">
            <a:avLst/>
          </a:prstGeom>
          <a:solidFill>
            <a:srgbClr val="1D5FD6"/>
          </a:solidFill>
          <a:ln w="12700">
            <a:solidFill>
              <a:srgbClr val="1D5FD6"/>
            </a:solidFill>
            <a:prstDash val="solid"/>
          </a:ln>
        </p:spPr>
      </p:sp>
      <p:pic>
        <p:nvPicPr>
          <p:cNvPr id="13" name="icon-76" descr="preencoded.png">    </p:cNvPr>
          <p:cNvPicPr>
            <a:picLocks noChangeAspect="1"/>
          </p:cNvPicPr>
          <p:nvPr/>
        </p:nvPicPr>
        <p:blipFill>
          <a:blip r:embed="rId2"/>
          <a:stretch>
            <a:fillRect/>
          </a:stretch>
        </p:blipFill>
        <p:spPr>
          <a:xfrm>
            <a:off x="4372661" y="2635301"/>
            <a:ext cx="307238" cy="307238"/>
          </a:xfrm>
          <a:prstGeom prst="rect">
            <a:avLst/>
          </a:prstGeom>
        </p:spPr>
      </p:pic>
      <p:sp>
        <p:nvSpPr>
          <p:cNvPr id="14" name="text-77"/>
          <p:cNvSpPr txBox="1"/>
          <p:nvPr/>
        </p:nvSpPr>
        <p:spPr>
          <a:xfrm>
            <a:off x="4983480" y="2468880"/>
            <a:ext cx="6583680" cy="914400"/>
          </a:xfrm>
          <a:prstGeom prst="rect">
            <a:avLst/>
          </a:prstGeom>
          <a:noFill/>
          <a:ln/>
        </p:spPr>
        <p:txBody>
          <a:bodyPr wrap="square" lIns="0" tIns="0" rIns="0" bIns="0" rtlCol="0" anchor="t"/>
          <a:lstStyle/>
          <a:p>
            <a:pPr indent="0" marL="0">
              <a:buNone/>
            </a:pPr>
            <a:r>
              <a:rPr lang="en-US" sz="1600" b="1" dirty="0">
                <a:solidFill>
                  <a:srgbClr val="0A1B3D"/>
                </a:solidFill>
                <a:latin typeface="Calibri" pitchFamily="34" charset="0"/>
                <a:ea typeface="Calibri" pitchFamily="34" charset="-122"/>
                <a:cs typeface="Calibri" pitchFamily="34" charset="-120"/>
              </a:rPr>
              <a:t>Answer key stays on the server</a:t>
            </a:r>
            <a:endParaRPr lang="en-US" sz="1400" dirty="0"/>
          </a:p>
          <a:p>
            <a:pPr indent="0" marL="0">
              <a:buNone/>
            </a:pPr>
            <a:r>
              <a:rPr lang="en-US" sz="1400" dirty="0">
                <a:solidFill>
                  <a:srgbClr val="14161A"/>
                </a:solidFill>
                <a:latin typeface="Calibri" pitchFamily="34" charset="0"/>
                <a:ea typeface="Calibri" pitchFamily="34" charset="-122"/>
                <a:cs typeface="Calibri" pitchFamily="34" charset="-120"/>
              </a:rPr>
              <a:t>Questions go to the phone without answers; grading reads the saved key</a:t>
            </a:r>
            <a:endParaRPr lang="en-US" sz="1400" dirty="0"/>
          </a:p>
        </p:txBody>
      </p:sp>
      <p:sp>
        <p:nvSpPr>
          <p:cNvPr id="15" name="badge-78"/>
          <p:cNvSpPr/>
          <p:nvPr/>
        </p:nvSpPr>
        <p:spPr>
          <a:xfrm>
            <a:off x="4251960" y="3566160"/>
            <a:ext cx="548640" cy="548640"/>
          </a:xfrm>
          <a:prstGeom prst="ellipse">
            <a:avLst/>
          </a:prstGeom>
          <a:solidFill>
            <a:srgbClr val="1D5FD6"/>
          </a:solidFill>
          <a:ln w="12700">
            <a:solidFill>
              <a:srgbClr val="1D5FD6"/>
            </a:solidFill>
            <a:prstDash val="solid"/>
          </a:ln>
        </p:spPr>
      </p:sp>
      <p:pic>
        <p:nvPicPr>
          <p:cNvPr id="16" name="icon-79" descr="preencoded.png">    </p:cNvPr>
          <p:cNvPicPr>
            <a:picLocks noChangeAspect="1"/>
          </p:cNvPicPr>
          <p:nvPr/>
        </p:nvPicPr>
        <p:blipFill>
          <a:blip r:embed="rId3"/>
          <a:stretch>
            <a:fillRect/>
          </a:stretch>
        </p:blipFill>
        <p:spPr>
          <a:xfrm>
            <a:off x="4372661" y="3686861"/>
            <a:ext cx="307238" cy="307238"/>
          </a:xfrm>
          <a:prstGeom prst="rect">
            <a:avLst/>
          </a:prstGeom>
        </p:spPr>
      </p:pic>
      <p:sp>
        <p:nvSpPr>
          <p:cNvPr id="17" name="text-80"/>
          <p:cNvSpPr txBox="1"/>
          <p:nvPr/>
        </p:nvSpPr>
        <p:spPr>
          <a:xfrm>
            <a:off x="4983480" y="3520440"/>
            <a:ext cx="6583680" cy="914400"/>
          </a:xfrm>
          <a:prstGeom prst="rect">
            <a:avLst/>
          </a:prstGeom>
          <a:noFill/>
          <a:ln/>
        </p:spPr>
        <p:txBody>
          <a:bodyPr wrap="square" lIns="0" tIns="0" rIns="0" bIns="0" rtlCol="0" anchor="t"/>
          <a:lstStyle/>
          <a:p>
            <a:pPr indent="0" marL="0">
              <a:buNone/>
            </a:pPr>
            <a:r>
              <a:rPr lang="en-US" sz="1600" b="1" dirty="0">
                <a:solidFill>
                  <a:srgbClr val="0A1B3D"/>
                </a:solidFill>
                <a:latin typeface="Calibri" pitchFamily="34" charset="0"/>
                <a:ea typeface="Calibri" pitchFamily="34" charset="-122"/>
                <a:cs typeface="Calibri" pitchFamily="34" charset="-120"/>
              </a:rPr>
              <a:t>Rebuilt only on republish</a:t>
            </a:r>
            <a:endParaRPr lang="en-US" sz="1400" dirty="0"/>
          </a:p>
          <a:p>
            <a:pPr indent="0" marL="0">
              <a:buNone/>
            </a:pPr>
            <a:r>
              <a:rPr lang="en-US" sz="1400" dirty="0">
                <a:solidFill>
                  <a:srgbClr val="14161A"/>
                </a:solidFill>
                <a:latin typeface="Calibri" pitchFamily="34" charset="0"/>
                <a:ea typeface="Calibri" pitchFamily="34" charset="-122"/>
                <a:cs typeface="Calibri" pitchFamily="34" charset="-120"/>
              </a:rPr>
              <a:t>The saved package's published_at is compared with the topic's</a:t>
            </a:r>
            <a:endParaRPr lang="en-US" sz="1400" dirty="0"/>
          </a:p>
        </p:txBody>
      </p:sp>
      <p:sp>
        <p:nvSpPr>
          <p:cNvPr id="18" name="badge-81"/>
          <p:cNvSpPr/>
          <p:nvPr/>
        </p:nvSpPr>
        <p:spPr>
          <a:xfrm>
            <a:off x="4251960" y="4617720"/>
            <a:ext cx="548640" cy="548640"/>
          </a:xfrm>
          <a:prstGeom prst="ellipse">
            <a:avLst/>
          </a:prstGeom>
          <a:solidFill>
            <a:srgbClr val="1D5FD6"/>
          </a:solidFill>
          <a:ln w="12700">
            <a:solidFill>
              <a:srgbClr val="1D5FD6"/>
            </a:solidFill>
            <a:prstDash val="solid"/>
          </a:ln>
        </p:spPr>
      </p:sp>
      <p:pic>
        <p:nvPicPr>
          <p:cNvPr id="19" name="icon-82" descr="preencoded.png">    </p:cNvPr>
          <p:cNvPicPr>
            <a:picLocks noChangeAspect="1"/>
          </p:cNvPicPr>
          <p:nvPr/>
        </p:nvPicPr>
        <p:blipFill>
          <a:blip r:embed="rId4"/>
          <a:stretch>
            <a:fillRect/>
          </a:stretch>
        </p:blipFill>
        <p:spPr>
          <a:xfrm>
            <a:off x="4372661" y="4738421"/>
            <a:ext cx="307238" cy="307238"/>
          </a:xfrm>
          <a:prstGeom prst="rect">
            <a:avLst/>
          </a:prstGeom>
        </p:spPr>
      </p:pic>
      <p:sp>
        <p:nvSpPr>
          <p:cNvPr id="20" name="text-83"/>
          <p:cNvSpPr txBox="1"/>
          <p:nvPr/>
        </p:nvSpPr>
        <p:spPr>
          <a:xfrm>
            <a:off x="4983480" y="4572000"/>
            <a:ext cx="6583680" cy="914400"/>
          </a:xfrm>
          <a:prstGeom prst="rect">
            <a:avLst/>
          </a:prstGeom>
          <a:noFill/>
          <a:ln/>
        </p:spPr>
        <p:txBody>
          <a:bodyPr wrap="square" lIns="0" tIns="0" rIns="0" bIns="0" rtlCol="0" anchor="t"/>
          <a:lstStyle/>
          <a:p>
            <a:pPr indent="0" marL="0">
              <a:buNone/>
            </a:pPr>
            <a:r>
              <a:rPr lang="en-US" sz="1600" b="1" dirty="0">
                <a:solidFill>
                  <a:srgbClr val="0A1B3D"/>
                </a:solidFill>
                <a:latin typeface="Calibri" pitchFamily="34" charset="0"/>
                <a:ea typeface="Calibri" pitchFamily="34" charset="-122"/>
                <a:cs typeface="Calibri" pitchFamily="34" charset="-120"/>
              </a:rPr>
              <a:t>Reserve questions</a:t>
            </a:r>
            <a:endParaRPr lang="en-US" sz="1400" dirty="0"/>
          </a:p>
          <a:p>
            <a:pPr indent="0" marL="0">
              <a:buNone/>
            </a:pPr>
            <a:r>
              <a:rPr lang="en-US" sz="1400" dirty="0">
                <a:solidFill>
                  <a:srgbClr val="14161A"/>
                </a:solidFill>
                <a:latin typeface="Calibri" pitchFamily="34" charset="0"/>
                <a:ea typeface="Calibri" pitchFamily="34" charset="-122"/>
                <a:cs typeface="Calibri" pitchFamily="34" charset="-120"/>
              </a:rPr>
              <a:t>Spare bank questions, used only to replace a missed True/False</a:t>
            </a:r>
            <a:endParaRPr lang="en-US" sz="1400" dirty="0"/>
          </a:p>
        </p:txBody>
      </p:sp>
      <p:sp>
        <p:nvSpPr>
          <p:cNvPr id="21" name="card-84"/>
          <p:cNvSpPr/>
          <p:nvPr/>
        </p:nvSpPr>
        <p:spPr>
          <a:xfrm>
            <a:off x="4251960" y="5623560"/>
            <a:ext cx="7360920" cy="502920"/>
          </a:xfrm>
          <a:prstGeom prst="roundRect">
            <a:avLst>
              <a:gd name="adj" fmla="val 21818"/>
            </a:avLst>
          </a:prstGeom>
          <a:solidFill>
            <a:srgbClr val="0A1B3D"/>
          </a:solidFill>
          <a:ln w="12700">
            <a:solidFill>
              <a:srgbClr val="0A1B3D"/>
            </a:solidFill>
            <a:prstDash val="solid"/>
          </a:ln>
        </p:spPr>
      </p:sp>
      <p:sp>
        <p:nvSpPr>
          <p:cNvPr id="22" name="text-85"/>
          <p:cNvSpPr txBox="1"/>
          <p:nvPr/>
        </p:nvSpPr>
        <p:spPr>
          <a:xfrm>
            <a:off x="4480560" y="5733288"/>
            <a:ext cx="6903720" cy="283464"/>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python manage.py build_mobile_packages   # pre-build after publishing</a:t>
            </a:r>
            <a:endParaRPr lang="en-US" sz="13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Five endpoints are the whole contract with the phone</a:t>
            </a:r>
            <a:endParaRPr lang="en-US" sz="3000" dirty="0"/>
          </a:p>
        </p:txBody>
      </p:sp>
      <p:sp>
        <p:nvSpPr>
          <p:cNvPr id="3" name="card-86"/>
          <p:cNvSpPr/>
          <p:nvPr/>
        </p:nvSpPr>
        <p:spPr>
          <a:xfrm>
            <a:off x="548640" y="1463040"/>
            <a:ext cx="11064240" cy="731520"/>
          </a:xfrm>
          <a:prstGeom prst="roundRect">
            <a:avLst>
              <a:gd name="adj" fmla="val 15000"/>
            </a:avLst>
          </a:prstGeom>
          <a:solidFill>
            <a:srgbClr val="EFF4FE"/>
          </a:solidFill>
          <a:ln w="12700">
            <a:solidFill>
              <a:srgbClr val="EFF4FE"/>
            </a:solidFill>
            <a:prstDash val="solid"/>
          </a:ln>
        </p:spPr>
      </p:sp>
      <p:sp>
        <p:nvSpPr>
          <p:cNvPr id="4" name="pill-87"/>
          <p:cNvSpPr/>
          <p:nvPr/>
        </p:nvSpPr>
        <p:spPr>
          <a:xfrm>
            <a:off x="777240" y="1655064"/>
            <a:ext cx="868680" cy="347472"/>
          </a:xfrm>
          <a:prstGeom prst="roundRect">
            <a:avLst>
              <a:gd name="adj" fmla="val 50000"/>
            </a:avLst>
          </a:prstGeom>
          <a:solidFill>
            <a:srgbClr val="1D5FD6"/>
          </a:solidFill>
          <a:ln w="12700">
            <a:solidFill>
              <a:srgbClr val="1D5FD6"/>
            </a:solidFill>
            <a:prstDash val="solid"/>
          </a:ln>
        </p:spPr>
      </p:sp>
      <p:sp>
        <p:nvSpPr>
          <p:cNvPr id="5" name="text-88"/>
          <p:cNvSpPr txBox="1"/>
          <p:nvPr/>
        </p:nvSpPr>
        <p:spPr>
          <a:xfrm>
            <a:off x="777240" y="1655064"/>
            <a:ext cx="8686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GET</a:t>
            </a:r>
            <a:endParaRPr lang="en-US" sz="1200" dirty="0"/>
          </a:p>
        </p:txBody>
      </p:sp>
      <p:sp>
        <p:nvSpPr>
          <p:cNvPr id="6" name="text-89"/>
          <p:cNvSpPr txBox="1"/>
          <p:nvPr/>
        </p:nvSpPr>
        <p:spPr>
          <a:xfrm>
            <a:off x="1874520" y="1554480"/>
            <a:ext cx="4206240" cy="548640"/>
          </a:xfrm>
          <a:prstGeom prst="rect">
            <a:avLst/>
          </a:prstGeom>
          <a:noFill/>
          <a:ln/>
        </p:spPr>
        <p:txBody>
          <a:bodyPr wrap="square" lIns="0" tIns="0" rIns="0" bIns="0" rtlCol="0" anchor="ctr"/>
          <a:lstStyle/>
          <a:p>
            <a:pPr indent="0" marL="0">
              <a:buNone/>
            </a:pPr>
            <a:r>
              <a:rPr lang="en-US" sz="1400" b="1" dirty="0">
                <a:solidFill>
                  <a:srgbClr val="0A1B3D"/>
                </a:solidFill>
                <a:latin typeface="Courier New" pitchFamily="34" charset="0"/>
                <a:ea typeface="Courier New" pitchFamily="34" charset="-122"/>
                <a:cs typeface="Courier New" pitchFamily="34" charset="-120"/>
              </a:rPr>
              <a:t>/api/mobile/my-courses/</a:t>
            </a:r>
            <a:endParaRPr lang="en-US" sz="1400" dirty="0"/>
          </a:p>
        </p:txBody>
      </p:sp>
      <p:sp>
        <p:nvSpPr>
          <p:cNvPr id="7" name="text-90"/>
          <p:cNvSpPr txBox="1"/>
          <p:nvPr/>
        </p:nvSpPr>
        <p:spPr>
          <a:xfrm>
            <a:off x="6172200" y="1554480"/>
            <a:ext cx="5303520" cy="548640"/>
          </a:xfrm>
          <a:prstGeom prst="rect">
            <a:avLst/>
          </a:prstGeom>
          <a:noFill/>
          <a:ln/>
        </p:spPr>
        <p:txBody>
          <a:bodyPr wrap="square" lIns="0" tIns="0" rIns="0" bIns="0" rtlCol="0" anchor="ctr"/>
          <a:lstStyle/>
          <a:p>
            <a:pPr indent="0" marL="0">
              <a:buNone/>
            </a:pPr>
            <a:r>
              <a:rPr lang="en-US" sz="1400" dirty="0">
                <a:solidFill>
                  <a:srgbClr val="14161A"/>
                </a:solidFill>
                <a:latin typeface="Calibri" pitchFamily="34" charset="0"/>
                <a:ea typeface="Calibri" pitchFamily="34" charset="-122"/>
                <a:cs typeface="Calibri" pitchFamily="34" charset="-120"/>
              </a:rPr>
              <a:t>Enrolled courses, with topic counts for the progress bar</a:t>
            </a:r>
            <a:endParaRPr lang="en-US" sz="1400" dirty="0"/>
          </a:p>
        </p:txBody>
      </p:sp>
      <p:sp>
        <p:nvSpPr>
          <p:cNvPr id="8" name="card-91"/>
          <p:cNvSpPr/>
          <p:nvPr/>
        </p:nvSpPr>
        <p:spPr>
          <a:xfrm>
            <a:off x="548640" y="2331720"/>
            <a:ext cx="11064240" cy="731520"/>
          </a:xfrm>
          <a:prstGeom prst="roundRect">
            <a:avLst>
              <a:gd name="adj" fmla="val 15000"/>
            </a:avLst>
          </a:prstGeom>
          <a:solidFill>
            <a:srgbClr val="FFFFFF"/>
          </a:solidFill>
          <a:ln w="12700">
            <a:solidFill>
              <a:srgbClr val="FFFFFF"/>
            </a:solidFill>
            <a:prstDash val="solid"/>
          </a:ln>
        </p:spPr>
      </p:sp>
      <p:sp>
        <p:nvSpPr>
          <p:cNvPr id="9" name="pill-92"/>
          <p:cNvSpPr/>
          <p:nvPr/>
        </p:nvSpPr>
        <p:spPr>
          <a:xfrm>
            <a:off x="777240" y="2523744"/>
            <a:ext cx="868680" cy="347472"/>
          </a:xfrm>
          <a:prstGeom prst="roundRect">
            <a:avLst>
              <a:gd name="adj" fmla="val 50000"/>
            </a:avLst>
          </a:prstGeom>
          <a:solidFill>
            <a:srgbClr val="1D5FD6"/>
          </a:solidFill>
          <a:ln w="12700">
            <a:solidFill>
              <a:srgbClr val="1D5FD6"/>
            </a:solidFill>
            <a:prstDash val="solid"/>
          </a:ln>
        </p:spPr>
      </p:sp>
      <p:sp>
        <p:nvSpPr>
          <p:cNvPr id="10" name="text-93"/>
          <p:cNvSpPr txBox="1"/>
          <p:nvPr/>
        </p:nvSpPr>
        <p:spPr>
          <a:xfrm>
            <a:off x="777240" y="2523744"/>
            <a:ext cx="8686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GET</a:t>
            </a:r>
            <a:endParaRPr lang="en-US" sz="1200" dirty="0"/>
          </a:p>
        </p:txBody>
      </p:sp>
      <p:sp>
        <p:nvSpPr>
          <p:cNvPr id="11" name="text-94"/>
          <p:cNvSpPr txBox="1"/>
          <p:nvPr/>
        </p:nvSpPr>
        <p:spPr>
          <a:xfrm>
            <a:off x="1874520" y="2423160"/>
            <a:ext cx="4206240" cy="548640"/>
          </a:xfrm>
          <a:prstGeom prst="rect">
            <a:avLst/>
          </a:prstGeom>
          <a:noFill/>
          <a:ln/>
        </p:spPr>
        <p:txBody>
          <a:bodyPr wrap="square" lIns="0" tIns="0" rIns="0" bIns="0" rtlCol="0" anchor="ctr"/>
          <a:lstStyle/>
          <a:p>
            <a:pPr indent="0" marL="0">
              <a:buNone/>
            </a:pPr>
            <a:r>
              <a:rPr lang="en-US" sz="1400" b="1" dirty="0">
                <a:solidFill>
                  <a:srgbClr val="0A1B3D"/>
                </a:solidFill>
                <a:latin typeface="Courier New" pitchFamily="34" charset="0"/>
                <a:ea typeface="Courier New" pitchFamily="34" charset="-122"/>
                <a:cs typeface="Courier New" pitchFamily="34" charset="-120"/>
              </a:rPr>
              <a:t>/api/mobile/courses/&lt;id&gt;/</a:t>
            </a:r>
            <a:endParaRPr lang="en-US" sz="1400" dirty="0"/>
          </a:p>
        </p:txBody>
      </p:sp>
      <p:sp>
        <p:nvSpPr>
          <p:cNvPr id="12" name="text-95"/>
          <p:cNvSpPr txBox="1"/>
          <p:nvPr/>
        </p:nvSpPr>
        <p:spPr>
          <a:xfrm>
            <a:off x="6172200" y="2423160"/>
            <a:ext cx="5303520" cy="548640"/>
          </a:xfrm>
          <a:prstGeom prst="rect">
            <a:avLst/>
          </a:prstGeom>
          <a:noFill/>
          <a:ln/>
        </p:spPr>
        <p:txBody>
          <a:bodyPr wrap="square" lIns="0" tIns="0" rIns="0" bIns="0" rtlCol="0" anchor="ctr"/>
          <a:lstStyle/>
          <a:p>
            <a:pPr indent="0" marL="0">
              <a:buNone/>
            </a:pPr>
            <a:r>
              <a:rPr lang="en-US" sz="1400" dirty="0">
                <a:solidFill>
                  <a:srgbClr val="14161A"/>
                </a:solidFill>
                <a:latin typeface="Calibri" pitchFamily="34" charset="0"/>
                <a:ea typeface="Calibri" pitchFamily="34" charset="-122"/>
                <a:cs typeface="Calibri" pitchFamily="34" charset="-120"/>
              </a:rPr>
              <a:t>Modules and their published topics</a:t>
            </a:r>
            <a:endParaRPr lang="en-US" sz="1400" dirty="0"/>
          </a:p>
        </p:txBody>
      </p:sp>
      <p:sp>
        <p:nvSpPr>
          <p:cNvPr id="13" name="card-96"/>
          <p:cNvSpPr/>
          <p:nvPr/>
        </p:nvSpPr>
        <p:spPr>
          <a:xfrm>
            <a:off x="548640" y="3200400"/>
            <a:ext cx="11064240" cy="731520"/>
          </a:xfrm>
          <a:prstGeom prst="roundRect">
            <a:avLst>
              <a:gd name="adj" fmla="val 15000"/>
            </a:avLst>
          </a:prstGeom>
          <a:solidFill>
            <a:srgbClr val="EFF4FE"/>
          </a:solidFill>
          <a:ln w="12700">
            <a:solidFill>
              <a:srgbClr val="EFF4FE"/>
            </a:solidFill>
            <a:prstDash val="solid"/>
          </a:ln>
        </p:spPr>
      </p:sp>
      <p:sp>
        <p:nvSpPr>
          <p:cNvPr id="14" name="pill-97"/>
          <p:cNvSpPr/>
          <p:nvPr/>
        </p:nvSpPr>
        <p:spPr>
          <a:xfrm>
            <a:off x="777240" y="3392424"/>
            <a:ext cx="868680" cy="347472"/>
          </a:xfrm>
          <a:prstGeom prst="roundRect">
            <a:avLst>
              <a:gd name="adj" fmla="val 50000"/>
            </a:avLst>
          </a:prstGeom>
          <a:solidFill>
            <a:srgbClr val="1D5FD6"/>
          </a:solidFill>
          <a:ln w="12700">
            <a:solidFill>
              <a:srgbClr val="1D5FD6"/>
            </a:solidFill>
            <a:prstDash val="solid"/>
          </a:ln>
        </p:spPr>
      </p:sp>
      <p:sp>
        <p:nvSpPr>
          <p:cNvPr id="15" name="text-98"/>
          <p:cNvSpPr txBox="1"/>
          <p:nvPr/>
        </p:nvSpPr>
        <p:spPr>
          <a:xfrm>
            <a:off x="777240" y="3392424"/>
            <a:ext cx="8686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GET</a:t>
            </a:r>
            <a:endParaRPr lang="en-US" sz="1200" dirty="0"/>
          </a:p>
        </p:txBody>
      </p:sp>
      <p:sp>
        <p:nvSpPr>
          <p:cNvPr id="16" name="text-99"/>
          <p:cNvSpPr txBox="1"/>
          <p:nvPr/>
        </p:nvSpPr>
        <p:spPr>
          <a:xfrm>
            <a:off x="1874520" y="3291840"/>
            <a:ext cx="4206240" cy="548640"/>
          </a:xfrm>
          <a:prstGeom prst="rect">
            <a:avLst/>
          </a:prstGeom>
          <a:noFill/>
          <a:ln/>
        </p:spPr>
        <p:txBody>
          <a:bodyPr wrap="square" lIns="0" tIns="0" rIns="0" bIns="0" rtlCol="0" anchor="ctr"/>
          <a:lstStyle/>
          <a:p>
            <a:pPr indent="0" marL="0">
              <a:buNone/>
            </a:pPr>
            <a:r>
              <a:rPr lang="en-US" sz="1400" b="1" dirty="0">
                <a:solidFill>
                  <a:srgbClr val="0A1B3D"/>
                </a:solidFill>
                <a:latin typeface="Courier New" pitchFamily="34" charset="0"/>
                <a:ea typeface="Courier New" pitchFamily="34" charset="-122"/>
                <a:cs typeface="Courier New" pitchFamily="34" charset="-120"/>
              </a:rPr>
              <a:t>/api/mobile/topics/&lt;id&gt;/</a:t>
            </a:r>
            <a:endParaRPr lang="en-US" sz="1400" dirty="0"/>
          </a:p>
        </p:txBody>
      </p:sp>
      <p:sp>
        <p:nvSpPr>
          <p:cNvPr id="17" name="text-100"/>
          <p:cNvSpPr txBox="1"/>
          <p:nvPr/>
        </p:nvSpPr>
        <p:spPr>
          <a:xfrm>
            <a:off x="6172200" y="3291840"/>
            <a:ext cx="5303520" cy="548640"/>
          </a:xfrm>
          <a:prstGeom prst="rect">
            <a:avLst/>
          </a:prstGeom>
          <a:noFill/>
          <a:ln/>
        </p:spPr>
        <p:txBody>
          <a:bodyPr wrap="square" lIns="0" tIns="0" rIns="0" bIns="0" rtlCol="0" anchor="ctr"/>
          <a:lstStyle/>
          <a:p>
            <a:pPr indent="0" marL="0">
              <a:buNone/>
            </a:pPr>
            <a:r>
              <a:rPr lang="en-US" sz="1400" dirty="0">
                <a:solidFill>
                  <a:srgbClr val="14161A"/>
                </a:solidFill>
                <a:latin typeface="Calibri" pitchFamily="34" charset="0"/>
                <a:ea typeface="Calibri" pitchFamily="34" charset="-122"/>
                <a:cs typeface="Calibri" pitchFamily="34" charset="-120"/>
              </a:rPr>
              <a:t>The audio package + where the student is + which question waits</a:t>
            </a:r>
            <a:endParaRPr lang="en-US" sz="1400" dirty="0"/>
          </a:p>
        </p:txBody>
      </p:sp>
      <p:sp>
        <p:nvSpPr>
          <p:cNvPr id="18" name="card-101"/>
          <p:cNvSpPr/>
          <p:nvPr/>
        </p:nvSpPr>
        <p:spPr>
          <a:xfrm>
            <a:off x="548640" y="4069080"/>
            <a:ext cx="11064240" cy="731520"/>
          </a:xfrm>
          <a:prstGeom prst="roundRect">
            <a:avLst>
              <a:gd name="adj" fmla="val 15000"/>
            </a:avLst>
          </a:prstGeom>
          <a:solidFill>
            <a:srgbClr val="FFFFFF"/>
          </a:solidFill>
          <a:ln w="12700">
            <a:solidFill>
              <a:srgbClr val="FFFFFF"/>
            </a:solidFill>
            <a:prstDash val="solid"/>
          </a:ln>
        </p:spPr>
      </p:sp>
      <p:sp>
        <p:nvSpPr>
          <p:cNvPr id="19" name="pill-102"/>
          <p:cNvSpPr/>
          <p:nvPr/>
        </p:nvSpPr>
        <p:spPr>
          <a:xfrm>
            <a:off x="777240" y="4261104"/>
            <a:ext cx="868680" cy="347472"/>
          </a:xfrm>
          <a:prstGeom prst="roundRect">
            <a:avLst>
              <a:gd name="adj" fmla="val 50000"/>
            </a:avLst>
          </a:prstGeom>
          <a:solidFill>
            <a:srgbClr val="E8833A"/>
          </a:solidFill>
          <a:ln w="12700">
            <a:solidFill>
              <a:srgbClr val="E8833A"/>
            </a:solidFill>
            <a:prstDash val="solid"/>
          </a:ln>
        </p:spPr>
      </p:sp>
      <p:sp>
        <p:nvSpPr>
          <p:cNvPr id="20" name="text-103"/>
          <p:cNvSpPr txBox="1"/>
          <p:nvPr/>
        </p:nvSpPr>
        <p:spPr>
          <a:xfrm>
            <a:off x="777240" y="4261104"/>
            <a:ext cx="8686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POST</a:t>
            </a:r>
            <a:endParaRPr lang="en-US" sz="1200" dirty="0"/>
          </a:p>
        </p:txBody>
      </p:sp>
      <p:sp>
        <p:nvSpPr>
          <p:cNvPr id="21" name="text-104"/>
          <p:cNvSpPr txBox="1"/>
          <p:nvPr/>
        </p:nvSpPr>
        <p:spPr>
          <a:xfrm>
            <a:off x="1874520" y="4160520"/>
            <a:ext cx="4206240" cy="548640"/>
          </a:xfrm>
          <a:prstGeom prst="rect">
            <a:avLst/>
          </a:prstGeom>
          <a:noFill/>
          <a:ln/>
        </p:spPr>
        <p:txBody>
          <a:bodyPr wrap="square" lIns="0" tIns="0" rIns="0" bIns="0" rtlCol="0" anchor="ctr"/>
          <a:lstStyle/>
          <a:p>
            <a:pPr indent="0" marL="0">
              <a:buNone/>
            </a:pPr>
            <a:r>
              <a:rPr lang="en-US" sz="1400" b="1" dirty="0">
                <a:solidFill>
                  <a:srgbClr val="0A1B3D"/>
                </a:solidFill>
                <a:latin typeface="Courier New" pitchFamily="34" charset="0"/>
                <a:ea typeface="Courier New" pitchFamily="34" charset="-122"/>
                <a:cs typeface="Courier New" pitchFamily="34" charset="-120"/>
              </a:rPr>
              <a:t>/api/mobile/topics/&lt;id&gt;/continue/</a:t>
            </a:r>
            <a:endParaRPr lang="en-US" sz="1400" dirty="0"/>
          </a:p>
        </p:txBody>
      </p:sp>
      <p:sp>
        <p:nvSpPr>
          <p:cNvPr id="22" name="text-105"/>
          <p:cNvSpPr txBox="1"/>
          <p:nvPr/>
        </p:nvSpPr>
        <p:spPr>
          <a:xfrm>
            <a:off x="6172200" y="4160520"/>
            <a:ext cx="5303520" cy="548640"/>
          </a:xfrm>
          <a:prstGeom prst="rect">
            <a:avLst/>
          </a:prstGeom>
          <a:noFill/>
          <a:ln/>
        </p:spPr>
        <p:txBody>
          <a:bodyPr wrap="square" lIns="0" tIns="0" rIns="0" bIns="0" rtlCol="0" anchor="ctr"/>
          <a:lstStyle/>
          <a:p>
            <a:pPr indent="0" marL="0">
              <a:buNone/>
            </a:pPr>
            <a:r>
              <a:rPr lang="en-US" sz="1400" dirty="0">
                <a:solidFill>
                  <a:srgbClr val="14161A"/>
                </a:solidFill>
                <a:latin typeface="Calibri" pitchFamily="34" charset="0"/>
                <a:ea typeface="Calibri" pitchFamily="34" charset="-122"/>
                <a:cs typeface="Calibri" pitchFamily="34" charset="-120"/>
              </a:rPr>
              <a:t>Move past a step that has nothing left to ask</a:t>
            </a:r>
            <a:endParaRPr lang="en-US" sz="1400" dirty="0"/>
          </a:p>
        </p:txBody>
      </p:sp>
      <p:sp>
        <p:nvSpPr>
          <p:cNvPr id="23" name="card-106"/>
          <p:cNvSpPr/>
          <p:nvPr/>
        </p:nvSpPr>
        <p:spPr>
          <a:xfrm>
            <a:off x="548640" y="4937760"/>
            <a:ext cx="11064240" cy="731520"/>
          </a:xfrm>
          <a:prstGeom prst="roundRect">
            <a:avLst>
              <a:gd name="adj" fmla="val 15000"/>
            </a:avLst>
          </a:prstGeom>
          <a:solidFill>
            <a:srgbClr val="EFF4FE"/>
          </a:solidFill>
          <a:ln w="12700">
            <a:solidFill>
              <a:srgbClr val="EFF4FE"/>
            </a:solidFill>
            <a:prstDash val="solid"/>
          </a:ln>
        </p:spPr>
      </p:sp>
      <p:sp>
        <p:nvSpPr>
          <p:cNvPr id="24" name="pill-107"/>
          <p:cNvSpPr/>
          <p:nvPr/>
        </p:nvSpPr>
        <p:spPr>
          <a:xfrm>
            <a:off x="777240" y="5129784"/>
            <a:ext cx="868680" cy="347472"/>
          </a:xfrm>
          <a:prstGeom prst="roundRect">
            <a:avLst>
              <a:gd name="adj" fmla="val 50000"/>
            </a:avLst>
          </a:prstGeom>
          <a:solidFill>
            <a:srgbClr val="E8833A"/>
          </a:solidFill>
          <a:ln w="12700">
            <a:solidFill>
              <a:srgbClr val="E8833A"/>
            </a:solidFill>
            <a:prstDash val="solid"/>
          </a:ln>
        </p:spPr>
      </p:sp>
      <p:sp>
        <p:nvSpPr>
          <p:cNvPr id="25" name="text-108"/>
          <p:cNvSpPr txBox="1"/>
          <p:nvPr/>
        </p:nvSpPr>
        <p:spPr>
          <a:xfrm>
            <a:off x="777240" y="5129784"/>
            <a:ext cx="8686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POST</a:t>
            </a:r>
            <a:endParaRPr lang="en-US" sz="1200" dirty="0"/>
          </a:p>
        </p:txBody>
      </p:sp>
      <p:sp>
        <p:nvSpPr>
          <p:cNvPr id="26" name="text-109"/>
          <p:cNvSpPr txBox="1"/>
          <p:nvPr/>
        </p:nvSpPr>
        <p:spPr>
          <a:xfrm>
            <a:off x="1874520" y="5029200"/>
            <a:ext cx="4206240" cy="548640"/>
          </a:xfrm>
          <a:prstGeom prst="rect">
            <a:avLst/>
          </a:prstGeom>
          <a:noFill/>
          <a:ln/>
        </p:spPr>
        <p:txBody>
          <a:bodyPr wrap="square" lIns="0" tIns="0" rIns="0" bIns="0" rtlCol="0" anchor="ctr"/>
          <a:lstStyle/>
          <a:p>
            <a:pPr indent="0" marL="0">
              <a:buNone/>
            </a:pPr>
            <a:r>
              <a:rPr lang="en-US" sz="1400" b="1" dirty="0">
                <a:solidFill>
                  <a:srgbClr val="0A1B3D"/>
                </a:solidFill>
                <a:latin typeface="Courier New" pitchFamily="34" charset="0"/>
                <a:ea typeface="Courier New" pitchFamily="34" charset="-122"/>
                <a:cs typeface="Courier New" pitchFamily="34" charset="-120"/>
              </a:rPr>
              <a:t>/api/mobile/answers/</a:t>
            </a:r>
            <a:endParaRPr lang="en-US" sz="1400" dirty="0"/>
          </a:p>
        </p:txBody>
      </p:sp>
      <p:sp>
        <p:nvSpPr>
          <p:cNvPr id="27" name="text-110"/>
          <p:cNvSpPr txBox="1"/>
          <p:nvPr/>
        </p:nvSpPr>
        <p:spPr>
          <a:xfrm>
            <a:off x="6172200" y="5029200"/>
            <a:ext cx="5303520" cy="548640"/>
          </a:xfrm>
          <a:prstGeom prst="rect">
            <a:avLst/>
          </a:prstGeom>
          <a:noFill/>
          <a:ln/>
        </p:spPr>
        <p:txBody>
          <a:bodyPr wrap="square" lIns="0" tIns="0" rIns="0" bIns="0" rtlCol="0" anchor="ctr"/>
          <a:lstStyle/>
          <a:p>
            <a:pPr indent="0" marL="0">
              <a:buNone/>
            </a:pPr>
            <a:r>
              <a:rPr lang="en-US" sz="1400" dirty="0">
                <a:solidFill>
                  <a:srgbClr val="14161A"/>
                </a:solidFill>
                <a:latin typeface="Calibri" pitchFamily="34" charset="0"/>
                <a:ea typeface="Calibri" pitchFamily="34" charset="-122"/>
                <a:cs typeface="Calibri" pitchFamily="34" charset="-120"/>
              </a:rPr>
              <a:t>{topic_id, question_id, selected_answer} → graded + the next command</a:t>
            </a:r>
            <a:endParaRPr lang="en-US" sz="1400" dirty="0"/>
          </a:p>
        </p:txBody>
      </p:sp>
      <p:sp>
        <p:nvSpPr>
          <p:cNvPr id="28" name="text-111"/>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400" i="1" dirty="0">
                <a:solidFill>
                  <a:srgbClr val="1A47A8"/>
                </a:solidFill>
                <a:latin typeface="Calibri" pitchFamily="34" charset="0"/>
                <a:ea typeface="Calibri" pitchFamily="34" charset="-122"/>
                <a:cs typeface="Calibri" pitchFamily="34" charset="-120"/>
              </a:rPr>
              <a:t>Every view checks the same four things first: a student · the topic exists and is published · enrolled · package ready</a:t>
            </a:r>
            <a:endParaRPr lang="en-US" sz="14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One answer, end to end</a:t>
            </a:r>
            <a:endParaRPr lang="en-US" sz="3000" dirty="0"/>
          </a:p>
        </p:txBody>
      </p:sp>
      <p:sp>
        <p:nvSpPr>
          <p:cNvPr id="3" name="num-112"/>
          <p:cNvSpPr/>
          <p:nvPr/>
        </p:nvSpPr>
        <p:spPr>
          <a:xfrm>
            <a:off x="594360" y="1426464"/>
            <a:ext cx="457200" cy="457200"/>
          </a:xfrm>
          <a:prstGeom prst="ellipse">
            <a:avLst/>
          </a:prstGeom>
          <a:solidFill>
            <a:srgbClr val="1D5FD6"/>
          </a:solidFill>
          <a:ln w="12700">
            <a:solidFill>
              <a:srgbClr val="FFFFFF"/>
            </a:solidFill>
            <a:prstDash val="solid"/>
          </a:ln>
        </p:spPr>
      </p:sp>
      <p:sp>
        <p:nvSpPr>
          <p:cNvPr id="4" name="text-113"/>
          <p:cNvSpPr txBox="1"/>
          <p:nvPr/>
        </p:nvSpPr>
        <p:spPr>
          <a:xfrm>
            <a:off x="594360" y="14264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114"/>
          <p:cNvSpPr txBox="1"/>
          <p:nvPr/>
        </p:nvSpPr>
        <p:spPr>
          <a:xfrm>
            <a:off x="1280160" y="1463040"/>
            <a:ext cx="1554480" cy="41148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Phone</a:t>
            </a:r>
            <a:endParaRPr lang="en-US" sz="1600" dirty="0"/>
          </a:p>
        </p:txBody>
      </p:sp>
      <p:sp>
        <p:nvSpPr>
          <p:cNvPr id="6" name="text-115"/>
          <p:cNvSpPr txBox="1"/>
          <p:nvPr/>
        </p:nvSpPr>
        <p:spPr>
          <a:xfrm>
            <a:off x="2834640" y="1463040"/>
            <a:ext cx="8686800" cy="411480"/>
          </a:xfrm>
          <a:prstGeom prst="rect">
            <a:avLst/>
          </a:prstGeom>
          <a:noFill/>
          <a:ln/>
        </p:spPr>
        <p:txBody>
          <a:bodyPr wrap="square" lIns="0" tIns="0" rIns="0" bIns="0" rtlCol="0" anchor="ctr"/>
          <a:lstStyle/>
          <a:p>
            <a:pPr indent="0" marL="0">
              <a:buNone/>
            </a:pPr>
            <a:r>
              <a:rPr lang="en-US" sz="1500" dirty="0">
                <a:solidFill>
                  <a:srgbClr val="14161A"/>
                </a:solidFill>
                <a:latin typeface="Calibri" pitchFamily="34" charset="0"/>
                <a:ea typeface="Calibri" pitchFamily="34" charset="-122"/>
                <a:cs typeface="Calibri" pitchFamily="34" charset="-120"/>
              </a:rPr>
              <a:t>POST /answers/ with topic, question, letter</a:t>
            </a:r>
            <a:endParaRPr lang="en-US" sz="1500" dirty="0"/>
          </a:p>
        </p:txBody>
      </p:sp>
      <p:sp>
        <p:nvSpPr>
          <p:cNvPr id="7" name="num-116"/>
          <p:cNvSpPr/>
          <p:nvPr/>
        </p:nvSpPr>
        <p:spPr>
          <a:xfrm>
            <a:off x="594360" y="2093976"/>
            <a:ext cx="457200" cy="457200"/>
          </a:xfrm>
          <a:prstGeom prst="ellipse">
            <a:avLst/>
          </a:prstGeom>
          <a:solidFill>
            <a:srgbClr val="1D5FD6"/>
          </a:solidFill>
          <a:ln w="12700">
            <a:solidFill>
              <a:srgbClr val="FFFFFF"/>
            </a:solidFill>
            <a:prstDash val="solid"/>
          </a:ln>
        </p:spPr>
      </p:sp>
      <p:sp>
        <p:nvSpPr>
          <p:cNvPr id="8" name="text-117"/>
          <p:cNvSpPr txBox="1"/>
          <p:nvPr/>
        </p:nvSpPr>
        <p:spPr>
          <a:xfrm>
            <a:off x="594360" y="20939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118"/>
          <p:cNvSpPr txBox="1"/>
          <p:nvPr/>
        </p:nvSpPr>
        <p:spPr>
          <a:xfrm>
            <a:off x="1280160" y="2130552"/>
            <a:ext cx="1554480" cy="41148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Serializer</a:t>
            </a:r>
            <a:endParaRPr lang="en-US" sz="1600" dirty="0"/>
          </a:p>
        </p:txBody>
      </p:sp>
      <p:sp>
        <p:nvSpPr>
          <p:cNvPr id="10" name="text-119"/>
          <p:cNvSpPr txBox="1"/>
          <p:nvPr/>
        </p:nvSpPr>
        <p:spPr>
          <a:xfrm>
            <a:off x="2834640" y="2130552"/>
            <a:ext cx="8686800" cy="411480"/>
          </a:xfrm>
          <a:prstGeom prst="rect">
            <a:avLst/>
          </a:prstGeom>
          <a:noFill/>
          <a:ln/>
        </p:spPr>
        <p:txBody>
          <a:bodyPr wrap="square" lIns="0" tIns="0" rIns="0" bIns="0" rtlCol="0" anchor="ctr"/>
          <a:lstStyle/>
          <a:p>
            <a:pPr indent="0" marL="0">
              <a:buNone/>
            </a:pPr>
            <a:r>
              <a:rPr lang="en-US" sz="1500" dirty="0">
                <a:solidFill>
                  <a:srgbClr val="14161A"/>
                </a:solidFill>
                <a:latin typeface="Calibri" pitchFamily="34" charset="0"/>
                <a:ea typeface="Calibri" pitchFamily="34" charset="-122"/>
                <a:cs typeface="Calibri" pitchFamily="34" charset="-120"/>
              </a:rPr>
              <a:t>Validates the body — bad input is a 400, nothing saved</a:t>
            </a:r>
            <a:endParaRPr lang="en-US" sz="1500" dirty="0"/>
          </a:p>
        </p:txBody>
      </p:sp>
      <p:sp>
        <p:nvSpPr>
          <p:cNvPr id="11" name="num-120"/>
          <p:cNvSpPr/>
          <p:nvPr/>
        </p:nvSpPr>
        <p:spPr>
          <a:xfrm>
            <a:off x="594360" y="2761488"/>
            <a:ext cx="457200" cy="457200"/>
          </a:xfrm>
          <a:prstGeom prst="ellipse">
            <a:avLst/>
          </a:prstGeom>
          <a:solidFill>
            <a:srgbClr val="1D5FD6"/>
          </a:solidFill>
          <a:ln w="12700">
            <a:solidFill>
              <a:srgbClr val="FFFFFF"/>
            </a:solidFill>
            <a:prstDash val="solid"/>
          </a:ln>
        </p:spPr>
      </p:sp>
      <p:sp>
        <p:nvSpPr>
          <p:cNvPr id="12" name="text-121"/>
          <p:cNvSpPr txBox="1"/>
          <p:nvPr/>
        </p:nvSpPr>
        <p:spPr>
          <a:xfrm>
            <a:off x="594360" y="2761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122"/>
          <p:cNvSpPr txBox="1"/>
          <p:nvPr/>
        </p:nvSpPr>
        <p:spPr>
          <a:xfrm>
            <a:off x="1280160" y="2798064"/>
            <a:ext cx="1554480" cy="41148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Grade</a:t>
            </a:r>
            <a:endParaRPr lang="en-US" sz="1600" dirty="0"/>
          </a:p>
        </p:txBody>
      </p:sp>
      <p:sp>
        <p:nvSpPr>
          <p:cNvPr id="14" name="text-123"/>
          <p:cNvSpPr txBox="1"/>
          <p:nvPr/>
        </p:nvSpPr>
        <p:spPr>
          <a:xfrm>
            <a:off x="2834640" y="2798064"/>
            <a:ext cx="8686800" cy="411480"/>
          </a:xfrm>
          <a:prstGeom prst="rect">
            <a:avLst/>
          </a:prstGeom>
          <a:noFill/>
          <a:ln/>
        </p:spPr>
        <p:txBody>
          <a:bodyPr wrap="square" lIns="0" tIns="0" rIns="0" bIns="0" rtlCol="0" anchor="ctr"/>
          <a:lstStyle/>
          <a:p>
            <a:pPr indent="0" marL="0">
              <a:buNone/>
            </a:pPr>
            <a:r>
              <a:rPr lang="en-US" sz="1500" dirty="0">
                <a:solidFill>
                  <a:srgbClr val="14161A"/>
                </a:solidFill>
                <a:latin typeface="Calibri" pitchFamily="34" charset="0"/>
                <a:ea typeface="Calibri" pitchFamily="34" charset="-122"/>
                <a:cs typeface="Calibri" pitchFamily="34" charset="-120"/>
              </a:rPr>
              <a:t>normalize() then compare with the saved answer key</a:t>
            </a:r>
            <a:endParaRPr lang="en-US" sz="1500" dirty="0"/>
          </a:p>
        </p:txBody>
      </p:sp>
      <p:sp>
        <p:nvSpPr>
          <p:cNvPr id="15" name="num-124"/>
          <p:cNvSpPr/>
          <p:nvPr/>
        </p:nvSpPr>
        <p:spPr>
          <a:xfrm>
            <a:off x="594360" y="3429000"/>
            <a:ext cx="457200" cy="457200"/>
          </a:xfrm>
          <a:prstGeom prst="ellipse">
            <a:avLst/>
          </a:prstGeom>
          <a:solidFill>
            <a:srgbClr val="1D5FD6"/>
          </a:solidFill>
          <a:ln w="12700">
            <a:solidFill>
              <a:srgbClr val="FFFFFF"/>
            </a:solidFill>
            <a:prstDash val="solid"/>
          </a:ln>
        </p:spPr>
      </p:sp>
      <p:sp>
        <p:nvSpPr>
          <p:cNvPr id="16" name="text-125"/>
          <p:cNvSpPr txBox="1"/>
          <p:nvPr/>
        </p:nvSpPr>
        <p:spPr>
          <a:xfrm>
            <a:off x="594360" y="3429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7" name="text-126"/>
          <p:cNvSpPr txBox="1"/>
          <p:nvPr/>
        </p:nvSpPr>
        <p:spPr>
          <a:xfrm>
            <a:off x="1280160" y="3465576"/>
            <a:ext cx="1554480" cy="41148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Record</a:t>
            </a:r>
            <a:endParaRPr lang="en-US" sz="1600" dirty="0"/>
          </a:p>
        </p:txBody>
      </p:sp>
      <p:sp>
        <p:nvSpPr>
          <p:cNvPr id="18" name="text-127"/>
          <p:cNvSpPr txBox="1"/>
          <p:nvPr/>
        </p:nvSpPr>
        <p:spPr>
          <a:xfrm>
            <a:off x="2834640" y="3465576"/>
            <a:ext cx="8686800" cy="411480"/>
          </a:xfrm>
          <a:prstGeom prst="rect">
            <a:avLst/>
          </a:prstGeom>
          <a:noFill/>
          <a:ln/>
        </p:spPr>
        <p:txBody>
          <a:bodyPr wrap="square" lIns="0" tIns="0" rIns="0" bIns="0" rtlCol="0" anchor="ctr"/>
          <a:lstStyle/>
          <a:p>
            <a:pPr indent="0" marL="0">
              <a:buNone/>
            </a:pPr>
            <a:r>
              <a:rPr lang="en-US" sz="1500" dirty="0">
                <a:solidFill>
                  <a:srgbClr val="14161A"/>
                </a:solidFill>
                <a:latin typeface="Calibri" pitchFamily="34" charset="0"/>
                <a:ea typeface="Calibri" pitchFamily="34" charset="-122"/>
                <a:cs typeface="Calibri" pitchFamily="34" charset="-120"/>
              </a:rPr>
              <a:t>StudentResponse: answer, correct, type heard, attempt, format</a:t>
            </a:r>
            <a:endParaRPr lang="en-US" sz="1500" dirty="0"/>
          </a:p>
        </p:txBody>
      </p:sp>
      <p:sp>
        <p:nvSpPr>
          <p:cNvPr id="19" name="num-128"/>
          <p:cNvSpPr/>
          <p:nvPr/>
        </p:nvSpPr>
        <p:spPr>
          <a:xfrm>
            <a:off x="594360" y="4096512"/>
            <a:ext cx="457200" cy="457200"/>
          </a:xfrm>
          <a:prstGeom prst="ellipse">
            <a:avLst/>
          </a:prstGeom>
          <a:solidFill>
            <a:srgbClr val="E8833A"/>
          </a:solidFill>
          <a:ln w="12700">
            <a:solidFill>
              <a:srgbClr val="FFFFFF"/>
            </a:solidFill>
            <a:prstDash val="solid"/>
          </a:ln>
        </p:spPr>
      </p:sp>
      <p:sp>
        <p:nvSpPr>
          <p:cNvPr id="20" name="text-129"/>
          <p:cNvSpPr txBox="1"/>
          <p:nvPr/>
        </p:nvSpPr>
        <p:spPr>
          <a:xfrm>
            <a:off x="594360" y="40965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1" name="text-130"/>
          <p:cNvSpPr txBox="1"/>
          <p:nvPr/>
        </p:nvSpPr>
        <p:spPr>
          <a:xfrm>
            <a:off x="1280160" y="4133088"/>
            <a:ext cx="1554480" cy="41148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Engine</a:t>
            </a:r>
            <a:endParaRPr lang="en-US" sz="1600" dirty="0"/>
          </a:p>
        </p:txBody>
      </p:sp>
      <p:sp>
        <p:nvSpPr>
          <p:cNvPr id="22" name="text-131"/>
          <p:cNvSpPr txBox="1"/>
          <p:nvPr/>
        </p:nvSpPr>
        <p:spPr>
          <a:xfrm>
            <a:off x="2834640" y="4133088"/>
            <a:ext cx="8686800" cy="411480"/>
          </a:xfrm>
          <a:prstGeom prst="rect">
            <a:avLst/>
          </a:prstGeom>
          <a:noFill/>
          <a:ln/>
        </p:spPr>
        <p:txBody>
          <a:bodyPr wrap="square" lIns="0" tIns="0" rIns="0" bIns="0" rtlCol="0" anchor="ctr"/>
          <a:lstStyle/>
          <a:p>
            <a:pPr indent="0" marL="0">
              <a:buNone/>
            </a:pPr>
            <a:r>
              <a:rPr lang="en-US" sz="1500" dirty="0">
                <a:solidFill>
                  <a:srgbClr val="14161A"/>
                </a:solidFill>
                <a:latin typeface="Calibri" pitchFamily="34" charset="0"/>
                <a:ea typeface="Calibri" pitchFamily="34" charset="-122"/>
                <a:cs typeface="Calibri" pitchFamily="34" charset="-120"/>
              </a:rPr>
              <a:t>apply_answer: BKT → baseline → decide → Decision log (one transaction)</a:t>
            </a:r>
            <a:endParaRPr lang="en-US" sz="1500" dirty="0"/>
          </a:p>
        </p:txBody>
      </p:sp>
      <p:sp>
        <p:nvSpPr>
          <p:cNvPr id="23" name="num-132"/>
          <p:cNvSpPr/>
          <p:nvPr/>
        </p:nvSpPr>
        <p:spPr>
          <a:xfrm>
            <a:off x="594360" y="4764024"/>
            <a:ext cx="457200" cy="457200"/>
          </a:xfrm>
          <a:prstGeom prst="ellipse">
            <a:avLst/>
          </a:prstGeom>
          <a:solidFill>
            <a:srgbClr val="1D5FD6"/>
          </a:solidFill>
          <a:ln w="12700">
            <a:solidFill>
              <a:srgbClr val="FFFFFF"/>
            </a:solidFill>
            <a:prstDash val="solid"/>
          </a:ln>
        </p:spPr>
      </p:sp>
      <p:sp>
        <p:nvSpPr>
          <p:cNvPr id="24" name="text-133"/>
          <p:cNvSpPr txBox="1"/>
          <p:nvPr/>
        </p:nvSpPr>
        <p:spPr>
          <a:xfrm>
            <a:off x="594360" y="476402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5" name="text-134"/>
          <p:cNvSpPr txBox="1"/>
          <p:nvPr/>
        </p:nvSpPr>
        <p:spPr>
          <a:xfrm>
            <a:off x="1280160" y="4800600"/>
            <a:ext cx="1554480" cy="41148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Apply</a:t>
            </a:r>
            <a:endParaRPr lang="en-US" sz="1600" dirty="0"/>
          </a:p>
        </p:txBody>
      </p:sp>
      <p:sp>
        <p:nvSpPr>
          <p:cNvPr id="26" name="text-135"/>
          <p:cNvSpPr txBox="1"/>
          <p:nvPr/>
        </p:nvSpPr>
        <p:spPr>
          <a:xfrm>
            <a:off x="2834640" y="4800600"/>
            <a:ext cx="8686800" cy="411480"/>
          </a:xfrm>
          <a:prstGeom prst="rect">
            <a:avLst/>
          </a:prstGeom>
          <a:noFill/>
          <a:ln/>
        </p:spPr>
        <p:txBody>
          <a:bodyPr wrap="square" lIns="0" tIns="0" rIns="0" bIns="0" rtlCol="0" anchor="ctr"/>
          <a:lstStyle/>
          <a:p>
            <a:pPr indent="0" marL="0">
              <a:buNone/>
            </a:pPr>
            <a:r>
              <a:rPr lang="en-US" sz="1500" dirty="0">
                <a:solidFill>
                  <a:srgbClr val="14161A"/>
                </a:solidFill>
                <a:latin typeface="Calibri" pitchFamily="34" charset="0"/>
                <a:ea typeface="Calibri" pitchFamily="34" charset="-122"/>
                <a:cs typeface="Calibri" pitchFamily="34" charset="-120"/>
              </a:rPr>
              <a:t>apply_command writes the new step / type into TopicPackageProgress</a:t>
            </a:r>
            <a:endParaRPr lang="en-US" sz="1500" dirty="0"/>
          </a:p>
        </p:txBody>
      </p:sp>
      <p:sp>
        <p:nvSpPr>
          <p:cNvPr id="27" name="num-136"/>
          <p:cNvSpPr/>
          <p:nvPr/>
        </p:nvSpPr>
        <p:spPr>
          <a:xfrm>
            <a:off x="594360" y="5431536"/>
            <a:ext cx="457200" cy="457200"/>
          </a:xfrm>
          <a:prstGeom prst="ellipse">
            <a:avLst/>
          </a:prstGeom>
          <a:solidFill>
            <a:srgbClr val="1D5FD6"/>
          </a:solidFill>
          <a:ln w="12700">
            <a:solidFill>
              <a:srgbClr val="FFFFFF"/>
            </a:solidFill>
            <a:prstDash val="solid"/>
          </a:ln>
        </p:spPr>
      </p:sp>
      <p:sp>
        <p:nvSpPr>
          <p:cNvPr id="28" name="text-137"/>
          <p:cNvSpPr txBox="1"/>
          <p:nvPr/>
        </p:nvSpPr>
        <p:spPr>
          <a:xfrm>
            <a:off x="594360" y="54315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29" name="text-138"/>
          <p:cNvSpPr txBox="1"/>
          <p:nvPr/>
        </p:nvSpPr>
        <p:spPr>
          <a:xfrm>
            <a:off x="1280160" y="5468112"/>
            <a:ext cx="1554480" cy="41148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Phone</a:t>
            </a:r>
            <a:endParaRPr lang="en-US" sz="1600" dirty="0"/>
          </a:p>
        </p:txBody>
      </p:sp>
      <p:sp>
        <p:nvSpPr>
          <p:cNvPr id="30" name="text-139"/>
          <p:cNvSpPr txBox="1"/>
          <p:nvPr/>
        </p:nvSpPr>
        <p:spPr>
          <a:xfrm>
            <a:off x="2834640" y="5468112"/>
            <a:ext cx="8686800" cy="411480"/>
          </a:xfrm>
          <a:prstGeom prst="rect">
            <a:avLst/>
          </a:prstGeom>
          <a:noFill/>
          <a:ln/>
        </p:spPr>
        <p:txBody>
          <a:bodyPr wrap="square" lIns="0" tIns="0" rIns="0" bIns="0" rtlCol="0" anchor="ctr"/>
          <a:lstStyle/>
          <a:p>
            <a:pPr indent="0" marL="0">
              <a:buNone/>
            </a:pPr>
            <a:r>
              <a:rPr lang="en-US" sz="1500" dirty="0">
                <a:solidFill>
                  <a:srgbClr val="14161A"/>
                </a:solidFill>
                <a:latin typeface="Calibri" pitchFamily="34" charset="0"/>
                <a:ea typeface="Calibri" pitchFamily="34" charset="-122"/>
                <a:cs typeface="Calibri" pitchFamily="34" charset="-120"/>
              </a:rPr>
              <a:t>Reply {is_correct, explanation, next} → traversal.applyCommand</a:t>
            </a:r>
            <a:endParaRPr lang="en-US" sz="15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frontend is an audio-first player</a:t>
            </a:r>
            <a:endParaRPr lang="en-US" sz="3000" dirty="0"/>
          </a:p>
        </p:txBody>
      </p:sp>
      <p:sp>
        <p:nvSpPr>
          <p:cNvPr id="3" name="card-140"/>
          <p:cNvSpPr/>
          <p:nvPr/>
        </p:nvSpPr>
        <p:spPr>
          <a:xfrm>
            <a:off x="548640" y="1417320"/>
            <a:ext cx="5212080" cy="4343400"/>
          </a:xfrm>
          <a:prstGeom prst="roundRect">
            <a:avLst>
              <a:gd name="adj" fmla="val 2526"/>
            </a:avLst>
          </a:prstGeom>
          <a:solidFill>
            <a:srgbClr val="EFF4FE"/>
          </a:solidFill>
          <a:ln w="12700">
            <a:solidFill>
              <a:srgbClr val="EFF4FE"/>
            </a:solidFill>
            <a:prstDash val="solid"/>
          </a:ln>
        </p:spPr>
      </p:sp>
      <p:sp>
        <p:nvSpPr>
          <p:cNvPr id="4" name="text-141"/>
          <p:cNvSpPr txBox="1"/>
          <p:nvPr/>
        </p:nvSpPr>
        <p:spPr>
          <a:xfrm>
            <a:off x="822960" y="1600200"/>
            <a:ext cx="4663440" cy="411480"/>
          </a:xfrm>
          <a:prstGeom prst="rect">
            <a:avLst/>
          </a:prstGeom>
          <a:noFill/>
          <a:ln/>
        </p:spPr>
        <p:txBody>
          <a:bodyPr wrap="square" lIns="0" tIns="0" rIns="0" bIns="0" rtlCol="0" anchor="t"/>
          <a:lstStyle/>
          <a:p>
            <a:pPr indent="0" marL="0">
              <a:buNone/>
            </a:pPr>
            <a:r>
              <a:rPr lang="en-US" sz="1900" b="1" dirty="0">
                <a:solidFill>
                  <a:srgbClr val="0A1B3D"/>
                </a:solidFill>
                <a:latin typeface="Cambria" pitchFamily="34" charset="0"/>
                <a:ea typeface="Cambria" pitchFamily="34" charset="-122"/>
                <a:cs typeface="Cambria" pitchFamily="34" charset="-120"/>
              </a:rPr>
              <a:t>Screens</a:t>
            </a:r>
            <a:endParaRPr lang="en-US" sz="1900" dirty="0"/>
          </a:p>
        </p:txBody>
      </p:sp>
      <p:sp>
        <p:nvSpPr>
          <p:cNvPr id="5" name="text-142"/>
          <p:cNvSpPr txBox="1"/>
          <p:nvPr/>
        </p:nvSpPr>
        <p:spPr>
          <a:xfrm>
            <a:off x="822960" y="2057400"/>
            <a:ext cx="466344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4161A"/>
                </a:solidFill>
                <a:latin typeface="Calibri" pitchFamily="34" charset="0"/>
                <a:ea typeface="Calibri" pitchFamily="34" charset="-122"/>
                <a:cs typeface="Calibri" pitchFamily="34" charset="-120"/>
              </a:rPr>
              <a:t>Courses → topics: read out four at a time, chosen with A–D; the choice is read back (“A. Opening course: Grade 1: Science”)</a:t>
            </a:r>
            <a:endParaRPr lang="en-US" sz="1500" dirty="0"/>
          </a:p>
          <a:p>
            <a:pPr marL="342900" indent="-342900">
              <a:spcAft>
                <a:spcPts val="800"/>
              </a:spcAft>
              <a:buSzPct val="100000"/>
              <a:buChar char="•"/>
            </a:pPr>
            <a:r>
              <a:rPr lang="en-US" sz="1500" dirty="0">
                <a:solidFill>
                  <a:srgbClr val="14161A"/>
                </a:solidFill>
                <a:latin typeface="Calibri" pitchFamily="34" charset="0"/>
                <a:ea typeface="Calibri" pitchFamily="34" charset="-122"/>
                <a:cs typeface="Calibri" pitchFamily="34" charset="-120"/>
              </a:rPr>
              <a:t>Player — Listening: each concept's clips in order, with pause / play</a:t>
            </a:r>
            <a:endParaRPr lang="en-US" sz="1500" dirty="0"/>
          </a:p>
          <a:p>
            <a:pPr marL="342900" indent="-342900">
              <a:spcAft>
                <a:spcPts val="800"/>
              </a:spcAft>
              <a:buSzPct val="100000"/>
              <a:buChar char="•"/>
            </a:pPr>
            <a:r>
              <a:rPr lang="en-US" sz="1500" dirty="0">
                <a:solidFill>
                  <a:srgbClr val="14161A"/>
                </a:solidFill>
                <a:latin typeface="Calibri" pitchFamily="34" charset="0"/>
                <a:ea typeface="Calibri" pitchFamily="34" charset="-122"/>
                <a:cs typeface="Calibri" pitchFamily="34" charset="-120"/>
              </a:rPr>
              <a:t>Player — Question time: the player stays on screen, greyed out; the question is read aloud, not shown</a:t>
            </a:r>
            <a:endParaRPr lang="en-US" sz="1500" dirty="0"/>
          </a:p>
          <a:p>
            <a:pPr marL="342900" indent="-342900">
              <a:spcAft>
                <a:spcPts val="800"/>
              </a:spcAft>
              <a:buSzPct val="100000"/>
              <a:buChar char="•"/>
            </a:pPr>
            <a:r>
              <a:rPr lang="en-US" sz="1500" dirty="0">
                <a:solidFill>
                  <a:srgbClr val="14161A"/>
                </a:solidFill>
                <a:latin typeface="Calibri" pitchFamily="34" charset="0"/>
                <a:ea typeface="Calibri" pitchFamily="34" charset="-122"/>
                <a:cs typeface="Calibri" pitchFamily="34" charset="-120"/>
              </a:rPr>
              <a:t>traversal.ts: pure functions that follow each server command</a:t>
            </a:r>
            <a:endParaRPr lang="en-US" sz="1500" dirty="0"/>
          </a:p>
        </p:txBody>
      </p:sp>
      <p:sp>
        <p:nvSpPr>
          <p:cNvPr id="6" name="card-143"/>
          <p:cNvSpPr/>
          <p:nvPr/>
        </p:nvSpPr>
        <p:spPr>
          <a:xfrm>
            <a:off x="6035040" y="1417320"/>
            <a:ext cx="5577840" cy="4343400"/>
          </a:xfrm>
          <a:prstGeom prst="roundRect">
            <a:avLst>
              <a:gd name="adj" fmla="val 2526"/>
            </a:avLst>
          </a:prstGeom>
          <a:solidFill>
            <a:srgbClr val="DCE8FD"/>
          </a:solidFill>
          <a:ln w="12700">
            <a:solidFill>
              <a:srgbClr val="DCE8FD"/>
            </a:solidFill>
            <a:prstDash val="solid"/>
          </a:ln>
        </p:spPr>
      </p:sp>
      <p:sp>
        <p:nvSpPr>
          <p:cNvPr id="7" name="text-144"/>
          <p:cNvSpPr txBox="1"/>
          <p:nvPr/>
        </p:nvSpPr>
        <p:spPr>
          <a:xfrm>
            <a:off x="6309360" y="1600200"/>
            <a:ext cx="5029200" cy="411480"/>
          </a:xfrm>
          <a:prstGeom prst="rect">
            <a:avLst/>
          </a:prstGeom>
          <a:noFill/>
          <a:ln/>
        </p:spPr>
        <p:txBody>
          <a:bodyPr wrap="square" lIns="0" tIns="0" rIns="0" bIns="0" rtlCol="0" anchor="t"/>
          <a:lstStyle/>
          <a:p>
            <a:pPr indent="0" marL="0">
              <a:buNone/>
            </a:pPr>
            <a:r>
              <a:rPr lang="en-US" sz="1900" b="1" dirty="0">
                <a:solidFill>
                  <a:srgbClr val="0A1B3D"/>
                </a:solidFill>
                <a:latin typeface="Cambria" pitchFamily="34" charset="0"/>
                <a:ea typeface="Cambria" pitchFamily="34" charset="-122"/>
                <a:cs typeface="Cambria" pitchFamily="34" charset="-120"/>
              </a:rPr>
              <a:t>Braille keypad</a:t>
            </a:r>
            <a:endParaRPr lang="en-US" sz="1900" dirty="0"/>
          </a:p>
        </p:txBody>
      </p:sp>
      <p:sp>
        <p:nvSpPr>
          <p:cNvPr id="8" name="pill-145"/>
          <p:cNvSpPr/>
          <p:nvPr/>
        </p:nvSpPr>
        <p:spPr>
          <a:xfrm>
            <a:off x="6309360" y="2103120"/>
            <a:ext cx="1325880" cy="347472"/>
          </a:xfrm>
          <a:prstGeom prst="roundRect">
            <a:avLst>
              <a:gd name="adj" fmla="val 50000"/>
            </a:avLst>
          </a:prstGeom>
          <a:solidFill>
            <a:srgbClr val="0A1B3D"/>
          </a:solidFill>
          <a:ln w="12700">
            <a:solidFill>
              <a:srgbClr val="0A1B3D"/>
            </a:solidFill>
            <a:prstDash val="solid"/>
          </a:ln>
        </p:spPr>
      </p:sp>
      <p:sp>
        <p:nvSpPr>
          <p:cNvPr id="9" name="text-146"/>
          <p:cNvSpPr txBox="1"/>
          <p:nvPr/>
        </p:nvSpPr>
        <p:spPr>
          <a:xfrm>
            <a:off x="6309360" y="2103120"/>
            <a:ext cx="13258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7 8 4 5</a:t>
            </a:r>
            <a:endParaRPr lang="en-US" sz="1200" dirty="0"/>
          </a:p>
        </p:txBody>
      </p:sp>
      <p:sp>
        <p:nvSpPr>
          <p:cNvPr id="10" name="text-147"/>
          <p:cNvSpPr txBox="1"/>
          <p:nvPr/>
        </p:nvSpPr>
        <p:spPr>
          <a:xfrm>
            <a:off x="7818120" y="2103120"/>
            <a:ext cx="3566160" cy="347472"/>
          </a:xfrm>
          <a:prstGeom prst="rect">
            <a:avLst/>
          </a:prstGeom>
          <a:noFill/>
          <a:ln/>
        </p:spPr>
        <p:txBody>
          <a:bodyPr wrap="square" lIns="0" tIns="0" rIns="0" bIns="0" rtlCol="0" anchor="ctr"/>
          <a:lstStyle/>
          <a:p>
            <a:pPr indent="0" marL="0">
              <a:buNone/>
            </a:pPr>
            <a:r>
              <a:rPr lang="en-US" sz="1400" dirty="0">
                <a:solidFill>
                  <a:srgbClr val="14161A"/>
                </a:solidFill>
                <a:latin typeface="Calibri" pitchFamily="34" charset="0"/>
                <a:ea typeface="Calibri" pitchFamily="34" charset="-122"/>
                <a:cs typeface="Calibri" pitchFamily="34" charset="-120"/>
              </a:rPr>
              <a:t>A B C D — answer / choose</a:t>
            </a:r>
            <a:endParaRPr lang="en-US" sz="1400" dirty="0"/>
          </a:p>
        </p:txBody>
      </p:sp>
      <p:sp>
        <p:nvSpPr>
          <p:cNvPr id="11" name="pill-148"/>
          <p:cNvSpPr/>
          <p:nvPr/>
        </p:nvSpPr>
        <p:spPr>
          <a:xfrm>
            <a:off x="6309360" y="2651760"/>
            <a:ext cx="1325880" cy="347472"/>
          </a:xfrm>
          <a:prstGeom prst="roundRect">
            <a:avLst>
              <a:gd name="adj" fmla="val 50000"/>
            </a:avLst>
          </a:prstGeom>
          <a:solidFill>
            <a:srgbClr val="0A1B3D"/>
          </a:solidFill>
          <a:ln w="12700">
            <a:solidFill>
              <a:srgbClr val="0A1B3D"/>
            </a:solidFill>
            <a:prstDash val="solid"/>
          </a:ln>
        </p:spPr>
      </p:sp>
      <p:sp>
        <p:nvSpPr>
          <p:cNvPr id="12" name="text-149"/>
          <p:cNvSpPr txBox="1"/>
          <p:nvPr/>
        </p:nvSpPr>
        <p:spPr>
          <a:xfrm>
            <a:off x="6309360" y="2651760"/>
            <a:ext cx="13258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(P)</a:t>
            </a:r>
            <a:endParaRPr lang="en-US" sz="1200" dirty="0"/>
          </a:p>
        </p:txBody>
      </p:sp>
      <p:sp>
        <p:nvSpPr>
          <p:cNvPr id="13" name="text-150"/>
          <p:cNvSpPr txBox="1"/>
          <p:nvPr/>
        </p:nvSpPr>
        <p:spPr>
          <a:xfrm>
            <a:off x="7818120" y="2651760"/>
            <a:ext cx="3566160" cy="347472"/>
          </a:xfrm>
          <a:prstGeom prst="rect">
            <a:avLst/>
          </a:prstGeom>
          <a:noFill/>
          <a:ln/>
        </p:spPr>
        <p:txBody>
          <a:bodyPr wrap="square" lIns="0" tIns="0" rIns="0" bIns="0" rtlCol="0" anchor="ctr"/>
          <a:lstStyle/>
          <a:p>
            <a:pPr indent="0" marL="0">
              <a:buNone/>
            </a:pPr>
            <a:r>
              <a:rPr lang="en-US" sz="1400" dirty="0">
                <a:solidFill>
                  <a:srgbClr val="14161A"/>
                </a:solidFill>
                <a:latin typeface="Calibri" pitchFamily="34" charset="0"/>
                <a:ea typeface="Calibri" pitchFamily="34" charset="-122"/>
                <a:cs typeface="Calibri" pitchFamily="34" charset="-120"/>
              </a:rPr>
              <a:t>pause / play</a:t>
            </a:r>
            <a:endParaRPr lang="en-US" sz="1400" dirty="0"/>
          </a:p>
        </p:txBody>
      </p:sp>
      <p:sp>
        <p:nvSpPr>
          <p:cNvPr id="14" name="pill-151"/>
          <p:cNvSpPr/>
          <p:nvPr/>
        </p:nvSpPr>
        <p:spPr>
          <a:xfrm>
            <a:off x="6309360" y="3200400"/>
            <a:ext cx="1325880" cy="347472"/>
          </a:xfrm>
          <a:prstGeom prst="roundRect">
            <a:avLst>
              <a:gd name="adj" fmla="val 50000"/>
            </a:avLst>
          </a:prstGeom>
          <a:solidFill>
            <a:srgbClr val="0A1B3D"/>
          </a:solidFill>
          <a:ln w="12700">
            <a:solidFill>
              <a:srgbClr val="0A1B3D"/>
            </a:solidFill>
            <a:prstDash val="solid"/>
          </a:ln>
        </p:spPr>
      </p:sp>
      <p:sp>
        <p:nvSpPr>
          <p:cNvPr id="15" name="text-152"/>
          <p:cNvSpPr txBox="1"/>
          <p:nvPr/>
        </p:nvSpPr>
        <p:spPr>
          <a:xfrm>
            <a:off x="6309360" y="3200400"/>
            <a:ext cx="13258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a:t>
            </a:r>
            <a:endParaRPr lang="en-US" sz="1200" dirty="0"/>
          </a:p>
        </p:txBody>
      </p:sp>
      <p:sp>
        <p:nvSpPr>
          <p:cNvPr id="16" name="text-153"/>
          <p:cNvSpPr txBox="1"/>
          <p:nvPr/>
        </p:nvSpPr>
        <p:spPr>
          <a:xfrm>
            <a:off x="7818120" y="3200400"/>
            <a:ext cx="3566160" cy="347472"/>
          </a:xfrm>
          <a:prstGeom prst="rect">
            <a:avLst/>
          </a:prstGeom>
          <a:noFill/>
          <a:ln/>
        </p:spPr>
        <p:txBody>
          <a:bodyPr wrap="square" lIns="0" tIns="0" rIns="0" bIns="0" rtlCol="0" anchor="ctr"/>
          <a:lstStyle/>
          <a:p>
            <a:pPr indent="0" marL="0">
              <a:buNone/>
            </a:pPr>
            <a:r>
              <a:rPr lang="en-US" sz="1400" dirty="0">
                <a:solidFill>
                  <a:srgbClr val="14161A"/>
                </a:solidFill>
                <a:latin typeface="Calibri" pitchFamily="34" charset="0"/>
                <a:ea typeface="Calibri" pitchFamily="34" charset="-122"/>
                <a:cs typeface="Calibri" pitchFamily="34" charset="-120"/>
              </a:rPr>
              <a:t>repeat: A topic · B question</a:t>
            </a:r>
            <a:endParaRPr lang="en-US" sz="1400" dirty="0"/>
          </a:p>
        </p:txBody>
      </p:sp>
      <p:sp>
        <p:nvSpPr>
          <p:cNvPr id="17" name="pill-154"/>
          <p:cNvSpPr/>
          <p:nvPr/>
        </p:nvSpPr>
        <p:spPr>
          <a:xfrm>
            <a:off x="6309360" y="3749040"/>
            <a:ext cx="1325880" cy="347472"/>
          </a:xfrm>
          <a:prstGeom prst="roundRect">
            <a:avLst>
              <a:gd name="adj" fmla="val 50000"/>
            </a:avLst>
          </a:prstGeom>
          <a:solidFill>
            <a:srgbClr val="0A1B3D"/>
          </a:solidFill>
          <a:ln w="12700">
            <a:solidFill>
              <a:srgbClr val="0A1B3D"/>
            </a:solidFill>
            <a:prstDash val="solid"/>
          </a:ln>
        </p:spPr>
      </p:sp>
      <p:sp>
        <p:nvSpPr>
          <p:cNvPr id="18" name="text-155"/>
          <p:cNvSpPr txBox="1"/>
          <p:nvPr/>
        </p:nvSpPr>
        <p:spPr>
          <a:xfrm>
            <a:off x="6309360" y="3749040"/>
            <a:ext cx="13258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a:t>
            </a:r>
            <a:endParaRPr lang="en-US" sz="1200" dirty="0"/>
          </a:p>
        </p:txBody>
      </p:sp>
      <p:sp>
        <p:nvSpPr>
          <p:cNvPr id="19" name="text-156"/>
          <p:cNvSpPr txBox="1"/>
          <p:nvPr/>
        </p:nvSpPr>
        <p:spPr>
          <a:xfrm>
            <a:off x="7818120" y="3749040"/>
            <a:ext cx="3566160" cy="347472"/>
          </a:xfrm>
          <a:prstGeom prst="rect">
            <a:avLst/>
          </a:prstGeom>
          <a:noFill/>
          <a:ln/>
        </p:spPr>
        <p:txBody>
          <a:bodyPr wrap="square" lIns="0" tIns="0" rIns="0" bIns="0" rtlCol="0" anchor="ctr"/>
          <a:lstStyle/>
          <a:p>
            <a:pPr indent="0" marL="0">
              <a:buNone/>
            </a:pPr>
            <a:r>
              <a:rPr lang="en-US" sz="1400" dirty="0">
                <a:solidFill>
                  <a:srgbClr val="14161A"/>
                </a:solidFill>
                <a:latin typeface="Calibri" pitchFamily="34" charset="0"/>
                <a:ea typeface="Calibri" pitchFamily="34" charset="-122"/>
                <a:cs typeface="Calibri" pitchFamily="34" charset="-120"/>
              </a:rPr>
              <a:t>back</a:t>
            </a:r>
            <a:endParaRPr lang="en-US" sz="1400" dirty="0"/>
          </a:p>
        </p:txBody>
      </p:sp>
      <p:sp>
        <p:nvSpPr>
          <p:cNvPr id="20" name="pill-157"/>
          <p:cNvSpPr/>
          <p:nvPr/>
        </p:nvSpPr>
        <p:spPr>
          <a:xfrm>
            <a:off x="6309360" y="4297680"/>
            <a:ext cx="1325880" cy="347472"/>
          </a:xfrm>
          <a:prstGeom prst="roundRect">
            <a:avLst>
              <a:gd name="adj" fmla="val 50000"/>
            </a:avLst>
          </a:prstGeom>
          <a:solidFill>
            <a:srgbClr val="0A1B3D"/>
          </a:solidFill>
          <a:ln w="12700">
            <a:solidFill>
              <a:srgbClr val="0A1B3D"/>
            </a:solidFill>
            <a:prstDash val="solid"/>
          </a:ln>
        </p:spPr>
      </p:sp>
      <p:sp>
        <p:nvSpPr>
          <p:cNvPr id="21" name="text-158"/>
          <p:cNvSpPr txBox="1"/>
          <p:nvPr/>
        </p:nvSpPr>
        <p:spPr>
          <a:xfrm>
            <a:off x="6309360" y="4297680"/>
            <a:ext cx="13258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a:t>
            </a:r>
            <a:endParaRPr lang="en-US" sz="1200" dirty="0"/>
          </a:p>
        </p:txBody>
      </p:sp>
      <p:sp>
        <p:nvSpPr>
          <p:cNvPr id="22" name="text-159"/>
          <p:cNvSpPr txBox="1"/>
          <p:nvPr/>
        </p:nvSpPr>
        <p:spPr>
          <a:xfrm>
            <a:off x="7818120" y="4297680"/>
            <a:ext cx="3566160" cy="347472"/>
          </a:xfrm>
          <a:prstGeom prst="rect">
            <a:avLst/>
          </a:prstGeom>
          <a:noFill/>
          <a:ln/>
        </p:spPr>
        <p:txBody>
          <a:bodyPr wrap="square" lIns="0" tIns="0" rIns="0" bIns="0" rtlCol="0" anchor="ctr"/>
          <a:lstStyle/>
          <a:p>
            <a:pPr indent="0" marL="0">
              <a:buNone/>
            </a:pPr>
            <a:r>
              <a:rPr lang="en-US" sz="1400" dirty="0">
                <a:solidFill>
                  <a:srgbClr val="14161A"/>
                </a:solidFill>
                <a:latin typeface="Calibri" pitchFamily="34" charset="0"/>
                <a:ea typeface="Calibri" pitchFamily="34" charset="-122"/>
                <a:cs typeface="Calibri" pitchFamily="34" charset="-120"/>
              </a:rPr>
              <a:t>next four</a:t>
            </a:r>
            <a:endParaRPr lang="en-US" sz="1400" dirty="0"/>
          </a:p>
        </p:txBody>
      </p:sp>
      <p:sp>
        <p:nvSpPr>
          <p:cNvPr id="23" name="pill-160"/>
          <p:cNvSpPr/>
          <p:nvPr/>
        </p:nvSpPr>
        <p:spPr>
          <a:xfrm>
            <a:off x="6309360" y="4846320"/>
            <a:ext cx="1325880" cy="347472"/>
          </a:xfrm>
          <a:prstGeom prst="roundRect">
            <a:avLst>
              <a:gd name="adj" fmla="val 50000"/>
            </a:avLst>
          </a:prstGeom>
          <a:solidFill>
            <a:srgbClr val="0A1B3D"/>
          </a:solidFill>
          <a:ln w="12700">
            <a:solidFill>
              <a:srgbClr val="0A1B3D"/>
            </a:solidFill>
            <a:prstDash val="solid"/>
          </a:ln>
        </p:spPr>
      </p:sp>
      <p:sp>
        <p:nvSpPr>
          <p:cNvPr id="24" name="text-161"/>
          <p:cNvSpPr txBox="1"/>
          <p:nvPr/>
        </p:nvSpPr>
        <p:spPr>
          <a:xfrm>
            <a:off x="6309360" y="4846320"/>
            <a:ext cx="13258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(G)</a:t>
            </a:r>
            <a:endParaRPr lang="en-US" sz="1200" dirty="0"/>
          </a:p>
        </p:txBody>
      </p:sp>
      <p:sp>
        <p:nvSpPr>
          <p:cNvPr id="25" name="text-162"/>
          <p:cNvSpPr txBox="1"/>
          <p:nvPr/>
        </p:nvSpPr>
        <p:spPr>
          <a:xfrm>
            <a:off x="7818120" y="4846320"/>
            <a:ext cx="3566160" cy="347472"/>
          </a:xfrm>
          <a:prstGeom prst="rect">
            <a:avLst/>
          </a:prstGeom>
          <a:noFill/>
          <a:ln/>
        </p:spPr>
        <p:txBody>
          <a:bodyPr wrap="square" lIns="0" tIns="0" rIns="0" bIns="0" rtlCol="0" anchor="ctr"/>
          <a:lstStyle/>
          <a:p>
            <a:pPr indent="0" marL="0">
              <a:buNone/>
            </a:pPr>
            <a:r>
              <a:rPr lang="en-US" sz="1400" dirty="0">
                <a:solidFill>
                  <a:srgbClr val="14161A"/>
                </a:solidFill>
                <a:latin typeface="Calibri" pitchFamily="34" charset="0"/>
                <a:ea typeface="Calibri" pitchFamily="34" charset="-122"/>
                <a:cs typeface="Calibri" pitchFamily="34" charset="-120"/>
              </a:rPr>
              <a:t>guide: A whole · B one part</a:t>
            </a:r>
            <a:endParaRPr lang="en-US" sz="1400" dirty="0"/>
          </a:p>
        </p:txBody>
      </p:sp>
      <p:sp>
        <p:nvSpPr>
          <p:cNvPr id="26" name="text-163"/>
          <p:cNvSpPr txBox="1"/>
          <p:nvPr/>
        </p:nvSpPr>
        <p:spPr>
          <a:xfrm>
            <a:off x="6309360" y="5349240"/>
            <a:ext cx="5120640" cy="320040"/>
          </a:xfrm>
          <a:prstGeom prst="rect">
            <a:avLst/>
          </a:prstGeom>
          <a:noFill/>
          <a:ln/>
        </p:spPr>
        <p:txBody>
          <a:bodyPr wrap="square" lIns="0" tIns="0" rIns="0" bIns="0" rtlCol="0" anchor="t"/>
          <a:lstStyle/>
          <a:p>
            <a:pPr indent="0" marL="0">
              <a:buNone/>
            </a:pPr>
            <a:r>
              <a:rPr lang="en-US" sz="1300" i="1" dirty="0">
                <a:solidFill>
                  <a:srgbClr val="1A47A8"/>
                </a:solidFill>
                <a:latin typeface="Calibri" pitchFamily="34" charset="0"/>
                <a:ea typeface="Calibri" pitchFamily="34" charset="-122"/>
                <a:cs typeface="Calibri" pitchFamily="34" charset="-120"/>
              </a:rPr>
              <a:t>Or tap: once for A, twice for B, three for C, four for D</a:t>
            </a:r>
            <a:endParaRPr lang="en-US" sz="13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2 · Scoring student mastery</a:t>
            </a: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Bayesian Knowledge Tracing: a probability per concept, updated by every answer</a:t>
            </a:r>
            <a:endParaRPr lang="en-US" sz="18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A3F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What Bayesian Knowledge Tracing is</a:t>
            </a:r>
            <a:endParaRPr lang="en-US" sz="3000" dirty="0"/>
          </a:p>
        </p:txBody>
      </p:sp>
      <p:sp>
        <p:nvSpPr>
          <p:cNvPr id="3" name="text-164"/>
          <p:cNvSpPr txBox="1"/>
          <p:nvPr/>
        </p:nvSpPr>
        <p:spPr>
          <a:xfrm>
            <a:off x="548640" y="1463040"/>
            <a:ext cx="4846320" cy="4023360"/>
          </a:xfrm>
          <a:prstGeom prst="rect">
            <a:avLst/>
          </a:prstGeom>
          <a:noFill/>
          <a:ln/>
        </p:spPr>
        <p:txBody>
          <a:bodyPr wrap="square" lIns="0" tIns="0" rIns="0" bIns="0" rtlCol="0" anchor="t"/>
          <a:lstStyle/>
          <a:p>
            <a:pPr indent="0" marL="0">
              <a:buNone/>
            </a:pPr>
            <a:r>
              <a:rPr lang="en-US" sz="1600" b="1" dirty="0">
                <a:solidFill>
                  <a:srgbClr val="0A1B3D"/>
                </a:solidFill>
                <a:latin typeface="Calibri" pitchFamily="34" charset="0"/>
                <a:ea typeface="Calibri" pitchFamily="34" charset="-122"/>
                <a:cs typeface="Calibri" pitchFamily="34" charset="-120"/>
              </a:rPr>
              <a:t>Knowledge is hidden.</a:t>
            </a:r>
            <a:endParaRPr lang="en-US" sz="1600" dirty="0"/>
          </a:p>
          <a:p>
            <a:pPr indent="0" marL="0">
              <a:buNone/>
            </a:pPr>
            <a:r>
              <a:rPr lang="en-US" sz="1600" dirty="0">
                <a:solidFill>
                  <a:srgbClr val="14161A"/>
                </a:solidFill>
                <a:latin typeface="Calibri" pitchFamily="34" charset="0"/>
                <a:ea typeface="Calibri" pitchFamily="34" charset="-122"/>
                <a:cs typeface="Calibri" pitchFamily="34" charset="-120"/>
              </a:rPr>
              <a:t>We never see whether a student knows a concept — only their answers.</a:t>
            </a:r>
            <a:endParaRPr lang="en-US" sz="1600" dirty="0"/>
          </a:p>
          <a:p>
            <a:pPr indent="0" marL="0">
              <a:buNone/>
            </a:pPr>
            <a:r>
              <a:rPr lang="en-US" sz="600" dirty="0">
                <a:solidFill>
                  <a:srgbClr val="14161A"/>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rgbClr val="0A1B3D"/>
                </a:solidFill>
                <a:latin typeface="Calibri" pitchFamily="34" charset="0"/>
                <a:ea typeface="Calibri" pitchFamily="34" charset="-122"/>
                <a:cs typeface="Calibri" pitchFamily="34" charset="-120"/>
              </a:rPr>
              <a:t>Answers are noisy evidence.</a:t>
            </a:r>
            <a:endParaRPr lang="en-US" sz="1600" dirty="0"/>
          </a:p>
          <a:p>
            <a:pPr indent="0" marL="0">
              <a:buNone/>
            </a:pPr>
            <a:r>
              <a:rPr lang="en-US" sz="1600" dirty="0">
                <a:solidFill>
                  <a:srgbClr val="14161A"/>
                </a:solidFill>
                <a:latin typeface="Calibri" pitchFamily="34" charset="0"/>
                <a:ea typeface="Calibri" pitchFamily="34" charset="-122"/>
                <a:cs typeface="Calibri" pitchFamily="34" charset="-120"/>
              </a:rPr>
              <a:t>A right answer can be a lucky guess; a wrong one can be a slip.</a:t>
            </a:r>
            <a:endParaRPr lang="en-US" sz="1600" dirty="0"/>
          </a:p>
          <a:p>
            <a:pPr indent="0" marL="0">
              <a:buNone/>
            </a:pPr>
            <a:r>
              <a:rPr lang="en-US" sz="600" dirty="0">
                <a:solidFill>
                  <a:srgbClr val="14161A"/>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rgbClr val="0A1B3D"/>
                </a:solidFill>
                <a:latin typeface="Calibri" pitchFamily="34" charset="0"/>
                <a:ea typeface="Calibri" pitchFamily="34" charset="-122"/>
                <a:cs typeface="Calibri" pitchFamily="34" charset="-120"/>
              </a:rPr>
              <a:t>Bayes' rule weighs each answer.</a:t>
            </a:r>
            <a:endParaRPr lang="en-US" sz="1600" dirty="0"/>
          </a:p>
          <a:p>
            <a:pPr indent="0" marL="0">
              <a:buNone/>
            </a:pPr>
            <a:r>
              <a:rPr lang="en-US" sz="1600" dirty="0">
                <a:solidFill>
                  <a:srgbClr val="14161A"/>
                </a:solidFill>
                <a:latin typeface="Calibri" pitchFamily="34" charset="0"/>
                <a:ea typeface="Calibri" pitchFamily="34" charset="-122"/>
                <a:cs typeface="Calibri" pitchFamily="34" charset="-120"/>
              </a:rPr>
              <a:t>The estimate moves only as far as that answer really tells us.</a:t>
            </a:r>
            <a:endParaRPr lang="en-US" sz="1600" dirty="0"/>
          </a:p>
          <a:p>
            <a:pPr indent="0" marL="0">
              <a:buNone/>
            </a:pPr>
            <a:r>
              <a:rPr lang="en-US" sz="600" dirty="0">
                <a:solidFill>
                  <a:srgbClr val="14161A"/>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rgbClr val="1D5FD6"/>
                </a:solidFill>
                <a:latin typeface="Calibri" pitchFamily="34" charset="0"/>
                <a:ea typeface="Calibri" pitchFamily="34" charset="-122"/>
                <a:cs typeface="Calibri" pitchFamily="34" charset="-120"/>
              </a:rPr>
              <a:t>Mastery = P(the student knows the concept)</a:t>
            </a:r>
            <a:endParaRPr lang="en-US" sz="1600" dirty="0"/>
          </a:p>
          <a:p>
            <a:pPr indent="0" marL="0">
              <a:buNone/>
            </a:pPr>
            <a:r>
              <a:rPr lang="en-US" sz="1600" dirty="0">
                <a:solidFill>
                  <a:srgbClr val="14161A"/>
                </a:solidFill>
                <a:latin typeface="Calibri" pitchFamily="34" charset="0"/>
                <a:ea typeface="Calibri" pitchFamily="34" charset="-122"/>
                <a:cs typeface="Calibri" pitchFamily="34" charset="-120"/>
              </a:rPr>
              <a:t>a number from 0 to 1, kept per student, per concept.</a:t>
            </a:r>
            <a:endParaRPr lang="en-US" sz="1600" dirty="0"/>
          </a:p>
        </p:txBody>
      </p:sp>
      <p:sp>
        <p:nvSpPr>
          <p:cNvPr id="4" name="text-165"/>
          <p:cNvSpPr txBox="1"/>
          <p:nvPr/>
        </p:nvSpPr>
        <p:spPr>
          <a:xfrm>
            <a:off x="548640" y="5623560"/>
            <a:ext cx="4846320" cy="548640"/>
          </a:xfrm>
          <a:prstGeom prst="rect">
            <a:avLst/>
          </a:prstGeom>
          <a:noFill/>
          <a:ln/>
        </p:spPr>
        <p:txBody>
          <a:bodyPr wrap="square" lIns="0" tIns="0" rIns="0" bIns="0" rtlCol="0" anchor="t"/>
          <a:lstStyle/>
          <a:p>
            <a:pPr indent="0" marL="0">
              <a:buNone/>
            </a:pPr>
            <a:r>
              <a:rPr lang="en-US" sz="1200" i="1" dirty="0">
                <a:solidFill>
                  <a:srgbClr val="5B6372"/>
                </a:solidFill>
                <a:latin typeface="Calibri" pitchFamily="34" charset="0"/>
                <a:ea typeface="Calibri" pitchFamily="34" charset="-122"/>
                <a:cs typeface="Calibri" pitchFamily="34" charset="-120"/>
              </a:rPr>
              <a:t>Corbett &amp; Anderson (1995) — the model behind the Cognitive Tutors, and the standard baseline for knowledge tracing since.</a:t>
            </a:r>
            <a:endParaRPr lang="en-US" sz="1200" dirty="0"/>
          </a:p>
        </p:txBody>
      </p:sp>
      <p:sp>
        <p:nvSpPr>
          <p:cNvPr id="5" name="card-166"/>
          <p:cNvSpPr/>
          <p:nvPr/>
        </p:nvSpPr>
        <p:spPr>
          <a:xfrm>
            <a:off x="5760720" y="1371600"/>
            <a:ext cx="5852160" cy="4800600"/>
          </a:xfrm>
          <a:prstGeom prst="roundRect">
            <a:avLst>
              <a:gd name="adj" fmla="val 2286"/>
            </a:avLst>
          </a:prstGeom>
          <a:solidFill>
            <a:srgbClr val="EFF4FE"/>
          </a:solidFill>
          <a:ln w="12700">
            <a:solidFill>
              <a:srgbClr val="EFF4FE"/>
            </a:solidFill>
            <a:prstDash val="solid"/>
          </a:ln>
        </p:spPr>
      </p:sp>
      <p:sp>
        <p:nvSpPr>
          <p:cNvPr id="6" name="text-167"/>
          <p:cNvSpPr txBox="1"/>
          <p:nvPr/>
        </p:nvSpPr>
        <p:spPr>
          <a:xfrm>
            <a:off x="5989320" y="1508760"/>
            <a:ext cx="5486400" cy="320040"/>
          </a:xfrm>
          <a:prstGeom prst="rect">
            <a:avLst/>
          </a:prstGeom>
          <a:noFill/>
          <a:ln/>
        </p:spPr>
        <p:txBody>
          <a:bodyPr wrap="square" lIns="0" tIns="0" rIns="0" bIns="0" rtlCol="0" anchor="t"/>
          <a:lstStyle/>
          <a:p>
            <a:pPr indent="0" marL="0">
              <a:buNone/>
            </a:pPr>
            <a:r>
              <a:rPr lang="en-US" sz="1200" b="1" spc="100" kern="0" dirty="0">
                <a:solidFill>
                  <a:srgbClr val="5B6372"/>
                </a:solidFill>
                <a:latin typeface="Calibri" pitchFamily="34" charset="0"/>
                <a:ea typeface="Calibri" pitchFamily="34" charset="-122"/>
                <a:cs typeface="Calibri" pitchFamily="34" charset="-120"/>
              </a:rPr>
              <a:t>HIDDEN — what the student knows</a:t>
            </a:r>
            <a:endParaRPr lang="en-US" sz="1200" dirty="0"/>
          </a:p>
        </p:txBody>
      </p:sp>
      <p:sp>
        <p:nvSpPr>
          <p:cNvPr id="7" name="state-168"/>
          <p:cNvSpPr/>
          <p:nvPr/>
        </p:nvSpPr>
        <p:spPr>
          <a:xfrm>
            <a:off x="6080760" y="1920240"/>
            <a:ext cx="2194560" cy="868680"/>
          </a:xfrm>
          <a:prstGeom prst="roundRect">
            <a:avLst>
              <a:gd name="adj" fmla="val 49474"/>
            </a:avLst>
          </a:prstGeom>
          <a:solidFill>
            <a:srgbClr val="FFFFFF"/>
          </a:solidFill>
          <a:ln w="19050">
            <a:solidFill>
              <a:srgbClr val="1D5FD6"/>
            </a:solidFill>
            <a:prstDash val="solid"/>
          </a:ln>
        </p:spPr>
      </p:sp>
      <p:sp>
        <p:nvSpPr>
          <p:cNvPr id="8" name="text-169"/>
          <p:cNvSpPr txBox="1"/>
          <p:nvPr/>
        </p:nvSpPr>
        <p:spPr>
          <a:xfrm>
            <a:off x="6080760" y="1920240"/>
            <a:ext cx="2194560" cy="868680"/>
          </a:xfrm>
          <a:prstGeom prst="rect">
            <a:avLst/>
          </a:prstGeom>
          <a:noFill/>
          <a:ln/>
        </p:spPr>
        <p:txBody>
          <a:bodyPr wrap="square" lIns="0" tIns="0" rIns="0" bIns="0" rtlCol="0" anchor="ctr"/>
          <a:lstStyle/>
          <a:p>
            <a:pPr algn="ctr" indent="0" marL="0">
              <a:buNone/>
            </a:pPr>
            <a:r>
              <a:rPr lang="en-US" sz="1700" b="1" dirty="0">
                <a:solidFill>
                  <a:srgbClr val="0A1B3D"/>
                </a:solidFill>
                <a:latin typeface="Calibri" pitchFamily="34" charset="0"/>
                <a:ea typeface="Calibri" pitchFamily="34" charset="-122"/>
                <a:cs typeface="Calibri" pitchFamily="34" charset="-120"/>
              </a:rPr>
              <a:t>Not yet known</a:t>
            </a:r>
            <a:endParaRPr lang="en-US" sz="1700" dirty="0"/>
          </a:p>
        </p:txBody>
      </p:sp>
      <p:sp>
        <p:nvSpPr>
          <p:cNvPr id="9" name="state-170"/>
          <p:cNvSpPr/>
          <p:nvPr/>
        </p:nvSpPr>
        <p:spPr>
          <a:xfrm>
            <a:off x="9098280" y="1920240"/>
            <a:ext cx="2194560" cy="868680"/>
          </a:xfrm>
          <a:prstGeom prst="roundRect">
            <a:avLst>
              <a:gd name="adj" fmla="val 49474"/>
            </a:avLst>
          </a:prstGeom>
          <a:solidFill>
            <a:srgbClr val="1D5FD6"/>
          </a:solidFill>
          <a:ln w="19050">
            <a:solidFill>
              <a:srgbClr val="1D5FD6"/>
            </a:solidFill>
            <a:prstDash val="solid"/>
          </a:ln>
        </p:spPr>
      </p:sp>
      <p:sp>
        <p:nvSpPr>
          <p:cNvPr id="10" name="text-171"/>
          <p:cNvSpPr txBox="1"/>
          <p:nvPr/>
        </p:nvSpPr>
        <p:spPr>
          <a:xfrm>
            <a:off x="9098280" y="1920240"/>
            <a:ext cx="2194560"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Known</a:t>
            </a:r>
            <a:endParaRPr lang="en-US" sz="1700" dirty="0"/>
          </a:p>
        </p:txBody>
      </p:sp>
      <p:sp>
        <p:nvSpPr>
          <p:cNvPr id="11" name="arrow-172"/>
          <p:cNvSpPr/>
          <p:nvPr/>
        </p:nvSpPr>
        <p:spPr>
          <a:xfrm>
            <a:off x="8275320" y="2350008"/>
            <a:ext cx="822960" cy="0"/>
          </a:xfrm>
          <a:prstGeom prst="line">
            <a:avLst/>
          </a:prstGeom>
          <a:noFill/>
          <a:ln w="25400">
            <a:solidFill>
              <a:srgbClr val="0A1B3D"/>
            </a:solidFill>
            <a:prstDash val="solid"/>
            <a:tailEnd type="triangle"/>
          </a:ln>
        </p:spPr>
      </p:sp>
      <p:sp>
        <p:nvSpPr>
          <p:cNvPr id="12" name="text-173"/>
          <p:cNvSpPr txBox="1"/>
          <p:nvPr/>
        </p:nvSpPr>
        <p:spPr>
          <a:xfrm>
            <a:off x="8229600" y="1938528"/>
            <a:ext cx="914400" cy="320040"/>
          </a:xfrm>
          <a:prstGeom prst="rect">
            <a:avLst/>
          </a:prstGeom>
          <a:noFill/>
          <a:ln/>
        </p:spPr>
        <p:txBody>
          <a:bodyPr wrap="square" lIns="0" tIns="0" rIns="0" bIns="0" rtlCol="0" anchor="t"/>
          <a:lstStyle/>
          <a:p>
            <a:pPr algn="ctr" indent="0" marL="0">
              <a:buNone/>
            </a:pPr>
            <a:r>
              <a:rPr lang="en-US" sz="1300" b="1" dirty="0">
                <a:solidFill>
                  <a:srgbClr val="0A1B3D"/>
                </a:solidFill>
                <a:latin typeface="Calibri" pitchFamily="34" charset="0"/>
                <a:ea typeface="Calibri" pitchFamily="34" charset="-122"/>
                <a:cs typeface="Calibri" pitchFamily="34" charset="-120"/>
              </a:rPr>
              <a:t>learn  T</a:t>
            </a:r>
            <a:endParaRPr lang="en-US" sz="1300" dirty="0"/>
          </a:p>
        </p:txBody>
      </p:sp>
      <p:sp>
        <p:nvSpPr>
          <p:cNvPr id="13" name="text-174"/>
          <p:cNvSpPr txBox="1"/>
          <p:nvPr/>
        </p:nvSpPr>
        <p:spPr>
          <a:xfrm>
            <a:off x="6080760" y="2834640"/>
            <a:ext cx="2194560" cy="274320"/>
          </a:xfrm>
          <a:prstGeom prst="rect">
            <a:avLst/>
          </a:prstGeom>
          <a:noFill/>
          <a:ln/>
        </p:spPr>
        <p:txBody>
          <a:bodyPr wrap="square" lIns="0" tIns="0" rIns="0" bIns="0" rtlCol="0" anchor="t"/>
          <a:lstStyle/>
          <a:p>
            <a:pPr algn="ctr" indent="0" marL="0">
              <a:buNone/>
            </a:pPr>
            <a:r>
              <a:rPr lang="en-US" sz="1200" dirty="0">
                <a:solidFill>
                  <a:srgbClr val="5B6372"/>
                </a:solidFill>
                <a:latin typeface="Calibri" pitchFamily="34" charset="0"/>
                <a:ea typeface="Calibri" pitchFamily="34" charset="-122"/>
                <a:cs typeface="Calibri" pitchFamily="34" charset="-120"/>
              </a:rPr>
              <a:t>stays: 1 − T</a:t>
            </a:r>
            <a:endParaRPr lang="en-US" sz="1200" dirty="0"/>
          </a:p>
        </p:txBody>
      </p:sp>
      <p:sp>
        <p:nvSpPr>
          <p:cNvPr id="14" name="text-175"/>
          <p:cNvSpPr txBox="1"/>
          <p:nvPr/>
        </p:nvSpPr>
        <p:spPr>
          <a:xfrm>
            <a:off x="9098280" y="2834640"/>
            <a:ext cx="2194560" cy="274320"/>
          </a:xfrm>
          <a:prstGeom prst="rect">
            <a:avLst/>
          </a:prstGeom>
          <a:noFill/>
          <a:ln/>
        </p:spPr>
        <p:txBody>
          <a:bodyPr wrap="square" lIns="0" tIns="0" rIns="0" bIns="0" rtlCol="0" anchor="t"/>
          <a:lstStyle/>
          <a:p>
            <a:pPr algn="ctr" indent="0" marL="0">
              <a:buNone/>
            </a:pPr>
            <a:r>
              <a:rPr lang="en-US" sz="1200" dirty="0">
                <a:solidFill>
                  <a:srgbClr val="5B6372"/>
                </a:solidFill>
                <a:latin typeface="Calibri" pitchFamily="34" charset="0"/>
                <a:ea typeface="Calibri" pitchFamily="34" charset="-122"/>
                <a:cs typeface="Calibri" pitchFamily="34" charset="-120"/>
              </a:rPr>
              <a:t>stays (no forgetting)</a:t>
            </a:r>
            <a:endParaRPr lang="en-US" sz="1200" dirty="0"/>
          </a:p>
        </p:txBody>
      </p:sp>
      <p:sp>
        <p:nvSpPr>
          <p:cNvPr id="15" name="divider-176"/>
          <p:cNvSpPr/>
          <p:nvPr/>
        </p:nvSpPr>
        <p:spPr>
          <a:xfrm>
            <a:off x="5989320" y="3337560"/>
            <a:ext cx="5394960" cy="0"/>
          </a:xfrm>
          <a:prstGeom prst="line">
            <a:avLst/>
          </a:prstGeom>
          <a:noFill/>
          <a:ln w="15875">
            <a:solidFill>
              <a:srgbClr val="6BA3F6"/>
            </a:solidFill>
            <a:prstDash val="dash"/>
          </a:ln>
        </p:spPr>
      </p:sp>
      <p:sp>
        <p:nvSpPr>
          <p:cNvPr id="16" name="text-177"/>
          <p:cNvSpPr txBox="1"/>
          <p:nvPr/>
        </p:nvSpPr>
        <p:spPr>
          <a:xfrm>
            <a:off x="7315200" y="3456432"/>
            <a:ext cx="2743200" cy="320040"/>
          </a:xfrm>
          <a:prstGeom prst="rect">
            <a:avLst/>
          </a:prstGeom>
          <a:noFill/>
          <a:ln/>
        </p:spPr>
        <p:txBody>
          <a:bodyPr wrap="square" lIns="0" tIns="0" rIns="0" bIns="0" rtlCol="0" anchor="t"/>
          <a:lstStyle/>
          <a:p>
            <a:pPr algn="ctr" indent="0" marL="0">
              <a:buNone/>
            </a:pPr>
            <a:r>
              <a:rPr lang="en-US" sz="1200" b="1" spc="100" kern="0" dirty="0">
                <a:solidFill>
                  <a:srgbClr val="5B6372"/>
                </a:solidFill>
                <a:latin typeface="Calibri" pitchFamily="34" charset="0"/>
                <a:ea typeface="Calibri" pitchFamily="34" charset="-122"/>
                <a:cs typeface="Calibri" pitchFamily="34" charset="-120"/>
              </a:rPr>
              <a:t>OBSERVED — the answer we hear</a:t>
            </a:r>
            <a:endParaRPr lang="en-US" sz="1200" dirty="0"/>
          </a:p>
        </p:txBody>
      </p:sp>
      <p:sp>
        <p:nvSpPr>
          <p:cNvPr id="17" name="arrow-178"/>
          <p:cNvSpPr/>
          <p:nvPr/>
        </p:nvSpPr>
        <p:spPr>
          <a:xfrm>
            <a:off x="7178040" y="3154680"/>
            <a:ext cx="0" cy="777240"/>
          </a:xfrm>
          <a:prstGeom prst="line">
            <a:avLst/>
          </a:prstGeom>
          <a:noFill/>
          <a:ln w="25400">
            <a:solidFill>
              <a:srgbClr val="1D5FD6"/>
            </a:solidFill>
            <a:prstDash val="solid"/>
            <a:tailEnd type="triangle"/>
          </a:ln>
        </p:spPr>
      </p:sp>
      <p:sp>
        <p:nvSpPr>
          <p:cNvPr id="18" name="arrow-179"/>
          <p:cNvSpPr/>
          <p:nvPr/>
        </p:nvSpPr>
        <p:spPr>
          <a:xfrm>
            <a:off x="10195560" y="3154680"/>
            <a:ext cx="0" cy="777240"/>
          </a:xfrm>
          <a:prstGeom prst="line">
            <a:avLst/>
          </a:prstGeom>
          <a:noFill/>
          <a:ln w="25400">
            <a:solidFill>
              <a:srgbClr val="1D5FD6"/>
            </a:solidFill>
            <a:prstDash val="solid"/>
            <a:tailEnd type="triangle"/>
          </a:ln>
        </p:spPr>
      </p:sp>
      <p:sp>
        <p:nvSpPr>
          <p:cNvPr id="19" name="card-180"/>
          <p:cNvSpPr/>
          <p:nvPr/>
        </p:nvSpPr>
        <p:spPr>
          <a:xfrm>
            <a:off x="5897880" y="3931920"/>
            <a:ext cx="2560320" cy="1051560"/>
          </a:xfrm>
          <a:prstGeom prst="roundRect">
            <a:avLst>
              <a:gd name="adj" fmla="val 10435"/>
            </a:avLst>
          </a:prstGeom>
          <a:solidFill>
            <a:srgbClr val="FFFFFF"/>
          </a:solidFill>
          <a:ln w="12700">
            <a:solidFill>
              <a:srgbClr val="FFFFFF"/>
            </a:solidFill>
            <a:prstDash val="solid"/>
          </a:ln>
        </p:spPr>
      </p:sp>
      <p:sp>
        <p:nvSpPr>
          <p:cNvPr id="20" name="text-181"/>
          <p:cNvSpPr txBox="1"/>
          <p:nvPr/>
        </p:nvSpPr>
        <p:spPr>
          <a:xfrm>
            <a:off x="6035040" y="4005072"/>
            <a:ext cx="2286000" cy="91440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Right only by guessing:  G</a:t>
            </a:r>
            <a:endParaRPr lang="en-US" sz="1400" dirty="0"/>
          </a:p>
          <a:p>
            <a:pPr algn="ctr" indent="0" marL="0">
              <a:buNone/>
            </a:pPr>
            <a:r>
              <a:rPr lang="en-US" sz="1200" dirty="0">
                <a:solidFill>
                  <a:srgbClr val="1A47A8"/>
                </a:solidFill>
                <a:latin typeface="Calibri" pitchFamily="34" charset="0"/>
                <a:ea typeface="Calibri" pitchFamily="34" charset="-122"/>
                <a:cs typeface="Calibri" pitchFamily="34" charset="-120"/>
              </a:rPr>
              <a:t>MCQ 0.20 · True/False 0.45</a:t>
            </a:r>
            <a:endParaRPr lang="en-US" sz="1400" dirty="0"/>
          </a:p>
        </p:txBody>
      </p:sp>
      <p:sp>
        <p:nvSpPr>
          <p:cNvPr id="21" name="card-182"/>
          <p:cNvSpPr/>
          <p:nvPr/>
        </p:nvSpPr>
        <p:spPr>
          <a:xfrm>
            <a:off x="8915400" y="3931920"/>
            <a:ext cx="2560320" cy="1051560"/>
          </a:xfrm>
          <a:prstGeom prst="roundRect">
            <a:avLst>
              <a:gd name="adj" fmla="val 10435"/>
            </a:avLst>
          </a:prstGeom>
          <a:solidFill>
            <a:srgbClr val="FFFFFF"/>
          </a:solidFill>
          <a:ln w="12700">
            <a:solidFill>
              <a:srgbClr val="FFFFFF"/>
            </a:solidFill>
            <a:prstDash val="solid"/>
          </a:ln>
        </p:spPr>
      </p:sp>
      <p:sp>
        <p:nvSpPr>
          <p:cNvPr id="22" name="text-183"/>
          <p:cNvSpPr txBox="1"/>
          <p:nvPr/>
        </p:nvSpPr>
        <p:spPr>
          <a:xfrm>
            <a:off x="9052560" y="4005072"/>
            <a:ext cx="2286000" cy="91440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Right unless a slip:  1 − S</a:t>
            </a:r>
            <a:endParaRPr lang="en-US" sz="1400" dirty="0"/>
          </a:p>
          <a:p>
            <a:pPr algn="ctr" indent="0" marL="0">
              <a:buNone/>
            </a:pPr>
            <a:r>
              <a:rPr lang="en-US" sz="1200" dirty="0">
                <a:solidFill>
                  <a:srgbClr val="1A47A8"/>
                </a:solidFill>
                <a:latin typeface="Calibri" pitchFamily="34" charset="0"/>
                <a:ea typeface="Calibri" pitchFamily="34" charset="-122"/>
                <a:cs typeface="Calibri" pitchFamily="34" charset="-120"/>
              </a:rPr>
              <a:t>S = 0.10</a:t>
            </a:r>
            <a:endParaRPr lang="en-US" sz="1400" dirty="0"/>
          </a:p>
        </p:txBody>
      </p:sp>
      <p:sp>
        <p:nvSpPr>
          <p:cNvPr id="23" name="text-184"/>
          <p:cNvSpPr txBox="1"/>
          <p:nvPr/>
        </p:nvSpPr>
        <p:spPr>
          <a:xfrm>
            <a:off x="5989320" y="5212080"/>
            <a:ext cx="5486400" cy="777240"/>
          </a:xfrm>
          <a:prstGeom prst="rect">
            <a:avLst/>
          </a:prstGeom>
          <a:noFill/>
          <a:ln/>
        </p:spPr>
        <p:txBody>
          <a:bodyPr wrap="square" lIns="0" tIns="0" rIns="0" bIns="0" rtlCol="0" anchor="ctr"/>
          <a:lstStyle/>
          <a:p>
            <a:pPr algn="ctr" indent="0" marL="0">
              <a:buNone/>
            </a:pPr>
            <a:r>
              <a:rPr lang="en-US" sz="1400" i="1" dirty="0">
                <a:solidFill>
                  <a:srgbClr val="1A47A8"/>
                </a:solidFill>
                <a:latin typeface="Calibri" pitchFamily="34" charset="0"/>
                <a:ea typeface="Calibri" pitchFamily="34" charset="-122"/>
                <a:cs typeface="Calibri" pitchFamily="34" charset="-120"/>
              </a:rPr>
              <a:t>BKT runs this model backwards: from the answer we can hear, infer the state we can't see.</a:t>
            </a:r>
            <a:endParaRPr lang="en-US" sz="14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Why BKT fits MAVIA — and what MAVIA adjusts</a:t>
            </a:r>
            <a:endParaRPr lang="en-US" sz="3000" dirty="0"/>
          </a:p>
        </p:txBody>
      </p:sp>
      <p:sp>
        <p:nvSpPr>
          <p:cNvPr id="3" name="card-185"/>
          <p:cNvSpPr/>
          <p:nvPr/>
        </p:nvSpPr>
        <p:spPr>
          <a:xfrm>
            <a:off x="548640" y="1417320"/>
            <a:ext cx="5486400" cy="4754880"/>
          </a:xfrm>
          <a:prstGeom prst="roundRect">
            <a:avLst>
              <a:gd name="adj" fmla="val 2308"/>
            </a:avLst>
          </a:prstGeom>
          <a:solidFill>
            <a:srgbClr val="EFF4FE"/>
          </a:solidFill>
          <a:ln w="12700">
            <a:solidFill>
              <a:srgbClr val="EFF4FE"/>
            </a:solidFill>
            <a:prstDash val="solid"/>
          </a:ln>
        </p:spPr>
      </p:sp>
      <p:sp>
        <p:nvSpPr>
          <p:cNvPr id="4" name="text-186"/>
          <p:cNvSpPr txBox="1"/>
          <p:nvPr/>
        </p:nvSpPr>
        <p:spPr>
          <a:xfrm>
            <a:off x="822960" y="1572768"/>
            <a:ext cx="4937760" cy="457200"/>
          </a:xfrm>
          <a:prstGeom prst="rect">
            <a:avLst/>
          </a:prstGeom>
          <a:noFill/>
          <a:ln/>
        </p:spPr>
        <p:txBody>
          <a:bodyPr wrap="square" lIns="0" tIns="0" rIns="0" bIns="0" rtlCol="0" anchor="t"/>
          <a:lstStyle/>
          <a:p>
            <a:pPr indent="0" marL="0">
              <a:buNone/>
            </a:pPr>
            <a:r>
              <a:rPr lang="en-US" sz="2000" b="1" dirty="0">
                <a:solidFill>
                  <a:srgbClr val="0A1B3D"/>
                </a:solidFill>
                <a:latin typeface="Cambria" pitchFamily="34" charset="0"/>
                <a:ea typeface="Cambria" pitchFamily="34" charset="-122"/>
                <a:cs typeface="Cambria" pitchFamily="34" charset="-120"/>
              </a:rPr>
              <a:t>Why BKT</a:t>
            </a:r>
            <a:endParaRPr lang="en-US" sz="2000" dirty="0"/>
          </a:p>
        </p:txBody>
      </p:sp>
      <p:sp>
        <p:nvSpPr>
          <p:cNvPr id="5" name="badge-187"/>
          <p:cNvSpPr/>
          <p:nvPr/>
        </p:nvSpPr>
        <p:spPr>
          <a:xfrm>
            <a:off x="822960" y="2194560"/>
            <a:ext cx="502920" cy="502920"/>
          </a:xfrm>
          <a:prstGeom prst="ellipse">
            <a:avLst/>
          </a:prstGeom>
          <a:solidFill>
            <a:srgbClr val="1D5FD6"/>
          </a:solidFill>
          <a:ln w="12700">
            <a:solidFill>
              <a:srgbClr val="1D5FD6"/>
            </a:solidFill>
            <a:prstDash val="solid"/>
          </a:ln>
        </p:spPr>
      </p:sp>
      <p:pic>
        <p:nvPicPr>
          <p:cNvPr id="6" name="icon-188" descr="preencoded.png">    </p:cNvPr>
          <p:cNvPicPr>
            <a:picLocks noChangeAspect="1"/>
          </p:cNvPicPr>
          <p:nvPr/>
        </p:nvPicPr>
        <p:blipFill>
          <a:blip r:embed="rId1"/>
          <a:stretch>
            <a:fillRect/>
          </a:stretch>
        </p:blipFill>
        <p:spPr>
          <a:xfrm>
            <a:off x="933602" y="2305202"/>
            <a:ext cx="281635" cy="281635"/>
          </a:xfrm>
          <a:prstGeom prst="rect">
            <a:avLst/>
          </a:prstGeom>
        </p:spPr>
      </p:pic>
      <p:sp>
        <p:nvSpPr>
          <p:cNvPr id="7" name="text-189"/>
          <p:cNvSpPr txBox="1"/>
          <p:nvPr/>
        </p:nvSpPr>
        <p:spPr>
          <a:xfrm>
            <a:off x="1508760" y="2148840"/>
            <a:ext cx="4343400" cy="91440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Explainable</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Four weights, each a plain idea — start, guess, slip, learn. Every number can be read and defended.</a:t>
            </a:r>
            <a:endParaRPr lang="en-US" sz="1400" dirty="0"/>
          </a:p>
        </p:txBody>
      </p:sp>
      <p:sp>
        <p:nvSpPr>
          <p:cNvPr id="8" name="badge-190"/>
          <p:cNvSpPr/>
          <p:nvPr/>
        </p:nvSpPr>
        <p:spPr>
          <a:xfrm>
            <a:off x="822960" y="3182112"/>
            <a:ext cx="502920" cy="502920"/>
          </a:xfrm>
          <a:prstGeom prst="ellipse">
            <a:avLst/>
          </a:prstGeom>
          <a:solidFill>
            <a:srgbClr val="1D5FD6"/>
          </a:solidFill>
          <a:ln w="12700">
            <a:solidFill>
              <a:srgbClr val="1D5FD6"/>
            </a:solidFill>
            <a:prstDash val="solid"/>
          </a:ln>
        </p:spPr>
      </p:sp>
      <p:pic>
        <p:nvPicPr>
          <p:cNvPr id="9" name="icon-191" descr="preencoded.png">    </p:cNvPr>
          <p:cNvPicPr>
            <a:picLocks noChangeAspect="1"/>
          </p:cNvPicPr>
          <p:nvPr/>
        </p:nvPicPr>
        <p:blipFill>
          <a:blip r:embed="rId2"/>
          <a:stretch>
            <a:fillRect/>
          </a:stretch>
        </p:blipFill>
        <p:spPr>
          <a:xfrm>
            <a:off x="933602" y="3292754"/>
            <a:ext cx="281635" cy="281635"/>
          </a:xfrm>
          <a:prstGeom prst="rect">
            <a:avLst/>
          </a:prstGeom>
        </p:spPr>
      </p:pic>
      <p:sp>
        <p:nvSpPr>
          <p:cNvPr id="10" name="text-192"/>
          <p:cNvSpPr txBox="1"/>
          <p:nvPr/>
        </p:nvSpPr>
        <p:spPr>
          <a:xfrm>
            <a:off x="1508760" y="3136392"/>
            <a:ext cx="4343400" cy="91440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Per concept</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One estimate per concept of the learning path, matching how topics are built and walked.</a:t>
            </a:r>
            <a:endParaRPr lang="en-US" sz="1400" dirty="0"/>
          </a:p>
        </p:txBody>
      </p:sp>
      <p:sp>
        <p:nvSpPr>
          <p:cNvPr id="11" name="badge-193"/>
          <p:cNvSpPr/>
          <p:nvPr/>
        </p:nvSpPr>
        <p:spPr>
          <a:xfrm>
            <a:off x="822960" y="4169664"/>
            <a:ext cx="502920" cy="502920"/>
          </a:xfrm>
          <a:prstGeom prst="ellipse">
            <a:avLst/>
          </a:prstGeom>
          <a:solidFill>
            <a:srgbClr val="1D5FD6"/>
          </a:solidFill>
          <a:ln w="12700">
            <a:solidFill>
              <a:srgbClr val="1D5FD6"/>
            </a:solidFill>
            <a:prstDash val="solid"/>
          </a:ln>
        </p:spPr>
      </p:sp>
      <p:pic>
        <p:nvPicPr>
          <p:cNvPr id="12" name="icon-194" descr="preencoded.png">    </p:cNvPr>
          <p:cNvPicPr>
            <a:picLocks noChangeAspect="1"/>
          </p:cNvPicPr>
          <p:nvPr/>
        </p:nvPicPr>
        <p:blipFill>
          <a:blip r:embed="rId3"/>
          <a:stretch>
            <a:fillRect/>
          </a:stretch>
        </p:blipFill>
        <p:spPr>
          <a:xfrm>
            <a:off x="933602" y="4280306"/>
            <a:ext cx="281635" cy="281635"/>
          </a:xfrm>
          <a:prstGeom prst="rect">
            <a:avLst/>
          </a:prstGeom>
        </p:spPr>
      </p:pic>
      <p:sp>
        <p:nvSpPr>
          <p:cNvPr id="13" name="text-195"/>
          <p:cNvSpPr txBox="1"/>
          <p:nvPr/>
        </p:nvSpPr>
        <p:spPr>
          <a:xfrm>
            <a:off x="1508760" y="4123944"/>
            <a:ext cx="4343400" cy="91440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Works from the first answer</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Needs no training data to start: population defaults carry a stranger — the cold start.</a:t>
            </a:r>
            <a:endParaRPr lang="en-US" sz="1400" dirty="0"/>
          </a:p>
        </p:txBody>
      </p:sp>
      <p:sp>
        <p:nvSpPr>
          <p:cNvPr id="14" name="badge-196"/>
          <p:cNvSpPr/>
          <p:nvPr/>
        </p:nvSpPr>
        <p:spPr>
          <a:xfrm>
            <a:off x="822960" y="5157216"/>
            <a:ext cx="502920" cy="502920"/>
          </a:xfrm>
          <a:prstGeom prst="ellipse">
            <a:avLst/>
          </a:prstGeom>
          <a:solidFill>
            <a:srgbClr val="1D5FD6"/>
          </a:solidFill>
          <a:ln w="12700">
            <a:solidFill>
              <a:srgbClr val="1D5FD6"/>
            </a:solidFill>
            <a:prstDash val="solid"/>
          </a:ln>
        </p:spPr>
      </p:sp>
      <p:pic>
        <p:nvPicPr>
          <p:cNvPr id="15" name="icon-197" descr="preencoded.png">    </p:cNvPr>
          <p:cNvPicPr>
            <a:picLocks noChangeAspect="1"/>
          </p:cNvPicPr>
          <p:nvPr/>
        </p:nvPicPr>
        <p:blipFill>
          <a:blip r:embed="rId4"/>
          <a:stretch>
            <a:fillRect/>
          </a:stretch>
        </p:blipFill>
        <p:spPr>
          <a:xfrm>
            <a:off x="933602" y="5267858"/>
            <a:ext cx="281635" cy="281635"/>
          </a:xfrm>
          <a:prstGeom prst="rect">
            <a:avLst/>
          </a:prstGeom>
        </p:spPr>
      </p:pic>
      <p:sp>
        <p:nvSpPr>
          <p:cNvPr id="16" name="text-198"/>
          <p:cNvSpPr txBox="1"/>
          <p:nvPr/>
        </p:nvSpPr>
        <p:spPr>
          <a:xfrm>
            <a:off x="1508760" y="5111496"/>
            <a:ext cx="4343400" cy="91440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Testable</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It predicts each answer before seeing it, so its accuracy can be measured from the logs.</a:t>
            </a:r>
            <a:endParaRPr lang="en-US" sz="1400" dirty="0"/>
          </a:p>
        </p:txBody>
      </p:sp>
      <p:sp>
        <p:nvSpPr>
          <p:cNvPr id="17" name="card-199"/>
          <p:cNvSpPr/>
          <p:nvPr/>
        </p:nvSpPr>
        <p:spPr>
          <a:xfrm>
            <a:off x="6172200" y="1417320"/>
            <a:ext cx="5440680" cy="4754880"/>
          </a:xfrm>
          <a:prstGeom prst="roundRect">
            <a:avLst>
              <a:gd name="adj" fmla="val 2308"/>
            </a:avLst>
          </a:prstGeom>
          <a:solidFill>
            <a:srgbClr val="DCE8FD"/>
          </a:solidFill>
          <a:ln w="12700">
            <a:solidFill>
              <a:srgbClr val="DCE8FD"/>
            </a:solidFill>
            <a:prstDash val="solid"/>
          </a:ln>
        </p:spPr>
      </p:sp>
      <p:sp>
        <p:nvSpPr>
          <p:cNvPr id="18" name="text-200"/>
          <p:cNvSpPr txBox="1"/>
          <p:nvPr/>
        </p:nvSpPr>
        <p:spPr>
          <a:xfrm>
            <a:off x="6446520" y="1572768"/>
            <a:ext cx="4937760" cy="457200"/>
          </a:xfrm>
          <a:prstGeom prst="rect">
            <a:avLst/>
          </a:prstGeom>
          <a:noFill/>
          <a:ln/>
        </p:spPr>
        <p:txBody>
          <a:bodyPr wrap="square" lIns="0" tIns="0" rIns="0" bIns="0" rtlCol="0" anchor="t"/>
          <a:lstStyle/>
          <a:p>
            <a:pPr indent="0" marL="0">
              <a:buNone/>
            </a:pPr>
            <a:r>
              <a:rPr lang="en-US" sz="2000" b="1" dirty="0">
                <a:solidFill>
                  <a:srgbClr val="0A1B3D"/>
                </a:solidFill>
                <a:latin typeface="Cambria" pitchFamily="34" charset="0"/>
                <a:ea typeface="Cambria" pitchFamily="34" charset="-122"/>
                <a:cs typeface="Cambria" pitchFamily="34" charset="-120"/>
              </a:rPr>
              <a:t>What MAVIA adjusts</a:t>
            </a:r>
            <a:endParaRPr lang="en-US" sz="2000" dirty="0"/>
          </a:p>
        </p:txBody>
      </p:sp>
      <p:sp>
        <p:nvSpPr>
          <p:cNvPr id="19" name="adj-201"/>
          <p:cNvSpPr/>
          <p:nvPr/>
        </p:nvSpPr>
        <p:spPr>
          <a:xfrm>
            <a:off x="6446520" y="2240280"/>
            <a:ext cx="384048" cy="384048"/>
          </a:xfrm>
          <a:prstGeom prst="ellipse">
            <a:avLst/>
          </a:prstGeom>
          <a:solidFill>
            <a:srgbClr val="E8833A"/>
          </a:solidFill>
          <a:ln w="12700">
            <a:solidFill>
              <a:srgbClr val="E8833A"/>
            </a:solidFill>
            <a:prstDash val="solid"/>
          </a:ln>
        </p:spPr>
      </p:sp>
      <p:sp>
        <p:nvSpPr>
          <p:cNvPr id="20" name="text-202"/>
          <p:cNvSpPr txBox="1"/>
          <p:nvPr/>
        </p:nvSpPr>
        <p:spPr>
          <a:xfrm>
            <a:off x="6446520"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1" name="text-203"/>
          <p:cNvSpPr txBox="1"/>
          <p:nvPr/>
        </p:nvSpPr>
        <p:spPr>
          <a:xfrm>
            <a:off x="7040880" y="2148840"/>
            <a:ext cx="4389120" cy="91440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Guess depends on the format</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True/False 0.45, MCQ 0.20 — a lucky T/F right answer counts for less.</a:t>
            </a:r>
            <a:endParaRPr lang="en-US" sz="1400" dirty="0"/>
          </a:p>
        </p:txBody>
      </p:sp>
      <p:sp>
        <p:nvSpPr>
          <p:cNvPr id="22" name="adj-204"/>
          <p:cNvSpPr/>
          <p:nvPr/>
        </p:nvSpPr>
        <p:spPr>
          <a:xfrm>
            <a:off x="6446520" y="3227832"/>
            <a:ext cx="384048" cy="384048"/>
          </a:xfrm>
          <a:prstGeom prst="ellipse">
            <a:avLst/>
          </a:prstGeom>
          <a:solidFill>
            <a:srgbClr val="E8833A"/>
          </a:solidFill>
          <a:ln w="12700">
            <a:solidFill>
              <a:srgbClr val="E8833A"/>
            </a:solidFill>
            <a:prstDash val="solid"/>
          </a:ln>
        </p:spPr>
      </p:sp>
      <p:sp>
        <p:nvSpPr>
          <p:cNvPr id="23" name="text-205"/>
          <p:cNvSpPr txBox="1"/>
          <p:nvPr/>
        </p:nvSpPr>
        <p:spPr>
          <a:xfrm>
            <a:off x="6446520" y="32278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4" name="text-206"/>
          <p:cNvSpPr txBox="1"/>
          <p:nvPr/>
        </p:nvSpPr>
        <p:spPr>
          <a:xfrm>
            <a:off x="7040880" y="3136392"/>
            <a:ext cx="4389120" cy="91440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Personal starting mastery</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Not one fixed L₀: the student's own L₀, blended with their prerequisites' mastery.</a:t>
            </a:r>
            <a:endParaRPr lang="en-US" sz="1400" dirty="0"/>
          </a:p>
        </p:txBody>
      </p:sp>
      <p:sp>
        <p:nvSpPr>
          <p:cNvPr id="25" name="adj-207"/>
          <p:cNvSpPr/>
          <p:nvPr/>
        </p:nvSpPr>
        <p:spPr>
          <a:xfrm>
            <a:off x="6446520" y="4215384"/>
            <a:ext cx="384048" cy="384048"/>
          </a:xfrm>
          <a:prstGeom prst="ellipse">
            <a:avLst/>
          </a:prstGeom>
          <a:solidFill>
            <a:srgbClr val="E8833A"/>
          </a:solidFill>
          <a:ln w="12700">
            <a:solidFill>
              <a:srgbClr val="E8833A"/>
            </a:solidFill>
            <a:prstDash val="solid"/>
          </a:ln>
        </p:spPr>
      </p:sp>
      <p:sp>
        <p:nvSpPr>
          <p:cNvPr id="26" name="text-208"/>
          <p:cNvSpPr txBox="1"/>
          <p:nvPr/>
        </p:nvSpPr>
        <p:spPr>
          <a:xfrm>
            <a:off x="6446520" y="4215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209"/>
          <p:cNvSpPr txBox="1"/>
          <p:nvPr/>
        </p:nvSpPr>
        <p:spPr>
          <a:xfrm>
            <a:off x="7040880" y="4123944"/>
            <a:ext cx="4389120" cy="91440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Ceiling at 0.99</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Never fully certain, so a later answer can always still move the estimate.</a:t>
            </a:r>
            <a:endParaRPr lang="en-US" sz="1400" dirty="0"/>
          </a:p>
        </p:txBody>
      </p:sp>
      <p:sp>
        <p:nvSpPr>
          <p:cNvPr id="28" name="adj-210"/>
          <p:cNvSpPr/>
          <p:nvPr/>
        </p:nvSpPr>
        <p:spPr>
          <a:xfrm>
            <a:off x="6446520" y="5202936"/>
            <a:ext cx="384048" cy="384048"/>
          </a:xfrm>
          <a:prstGeom prst="ellipse">
            <a:avLst/>
          </a:prstGeom>
          <a:solidFill>
            <a:srgbClr val="E8833A"/>
          </a:solidFill>
          <a:ln w="12700">
            <a:solidFill>
              <a:srgbClr val="E8833A"/>
            </a:solidFill>
            <a:prstDash val="solid"/>
          </a:ln>
        </p:spPr>
      </p:sp>
      <p:sp>
        <p:nvSpPr>
          <p:cNvPr id="29" name="text-211"/>
          <p:cNvSpPr txBox="1"/>
          <p:nvPr/>
        </p:nvSpPr>
        <p:spPr>
          <a:xfrm>
            <a:off x="6446520" y="52029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0" name="text-212"/>
          <p:cNvSpPr txBox="1"/>
          <p:nvPr/>
        </p:nvSpPr>
        <p:spPr>
          <a:xfrm>
            <a:off x="7040880" y="5111496"/>
            <a:ext cx="4389120" cy="91440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No forgetting</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Kept from standard BKT: within a topic, a learned concept stays learned.</a:t>
            </a:r>
            <a:endParaRPr lang="en-US" sz="14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Mastery is a probability, set by four population weights</a:t>
            </a:r>
            <a:endParaRPr lang="en-US" sz="3000" dirty="0"/>
          </a:p>
        </p:txBody>
      </p:sp>
      <p:sp>
        <p:nvSpPr>
          <p:cNvPr id="3" name="card-213"/>
          <p:cNvSpPr/>
          <p:nvPr/>
        </p:nvSpPr>
        <p:spPr>
          <a:xfrm>
            <a:off x="548640" y="1463040"/>
            <a:ext cx="2578608" cy="3566160"/>
          </a:xfrm>
          <a:prstGeom prst="roundRect">
            <a:avLst>
              <a:gd name="adj" fmla="val 4255"/>
            </a:avLst>
          </a:prstGeom>
          <a:solidFill>
            <a:srgbClr val="EFF4FE"/>
          </a:solidFill>
          <a:ln w="12700">
            <a:solidFill>
              <a:srgbClr val="EFF4FE"/>
            </a:solidFill>
            <a:prstDash val="solid"/>
          </a:ln>
        </p:spPr>
      </p:sp>
      <p:sp>
        <p:nvSpPr>
          <p:cNvPr id="4" name="text-214"/>
          <p:cNvSpPr txBox="1"/>
          <p:nvPr/>
        </p:nvSpPr>
        <p:spPr>
          <a:xfrm>
            <a:off x="822960" y="1645920"/>
            <a:ext cx="2103120" cy="640080"/>
          </a:xfrm>
          <a:prstGeom prst="rect">
            <a:avLst/>
          </a:prstGeom>
          <a:noFill/>
          <a:ln/>
        </p:spPr>
        <p:txBody>
          <a:bodyPr wrap="square" lIns="0" tIns="0" rIns="0" bIns="0" rtlCol="0" anchor="t"/>
          <a:lstStyle/>
          <a:p>
            <a:pPr indent="0" marL="0">
              <a:buNone/>
            </a:pPr>
            <a:r>
              <a:rPr lang="en-US" sz="3600" b="1" dirty="0">
                <a:solidFill>
                  <a:srgbClr val="1D5FD6"/>
                </a:solidFill>
                <a:latin typeface="Cambria" pitchFamily="34" charset="0"/>
                <a:ea typeface="Cambria" pitchFamily="34" charset="-122"/>
                <a:cs typeface="Cambria" pitchFamily="34" charset="-120"/>
              </a:rPr>
              <a:t>L₀</a:t>
            </a:r>
            <a:endParaRPr lang="en-US" sz="3600" dirty="0"/>
          </a:p>
        </p:txBody>
      </p:sp>
      <p:sp>
        <p:nvSpPr>
          <p:cNvPr id="5" name="text-215"/>
          <p:cNvSpPr txBox="1"/>
          <p:nvPr/>
        </p:nvSpPr>
        <p:spPr>
          <a:xfrm>
            <a:off x="822960" y="2331720"/>
            <a:ext cx="2103120" cy="548640"/>
          </a:xfrm>
          <a:prstGeom prst="rect">
            <a:avLst/>
          </a:prstGeom>
          <a:noFill/>
          <a:ln/>
        </p:spPr>
        <p:txBody>
          <a:bodyPr wrap="square" lIns="0" tIns="0" rIns="0" bIns="0" rtlCol="0" anchor="t"/>
          <a:lstStyle/>
          <a:p>
            <a:pPr indent="0" marL="0">
              <a:buNone/>
            </a:pPr>
            <a:r>
              <a:rPr lang="en-US" sz="2600" b="1" dirty="0">
                <a:solidFill>
                  <a:srgbClr val="0A1B3D"/>
                </a:solidFill>
                <a:latin typeface="Cambria" pitchFamily="34" charset="0"/>
                <a:ea typeface="Cambria" pitchFamily="34" charset="-122"/>
                <a:cs typeface="Cambria" pitchFamily="34" charset="-120"/>
              </a:rPr>
              <a:t>0.30</a:t>
            </a:r>
            <a:endParaRPr lang="en-US" sz="2600" dirty="0"/>
          </a:p>
        </p:txBody>
      </p:sp>
      <p:sp>
        <p:nvSpPr>
          <p:cNvPr id="6" name="text-216"/>
          <p:cNvSpPr txBox="1"/>
          <p:nvPr/>
        </p:nvSpPr>
        <p:spPr>
          <a:xfrm>
            <a:off x="822960" y="2926080"/>
            <a:ext cx="2103120" cy="411480"/>
          </a:xfrm>
          <a:prstGeom prst="rect">
            <a:avLst/>
          </a:prstGeom>
          <a:noFill/>
          <a:ln/>
        </p:spPr>
        <p:txBody>
          <a:bodyPr wrap="square" lIns="0" tIns="0" rIns="0" bIns="0" rtlCol="0" anchor="t"/>
          <a:lstStyle/>
          <a:p>
            <a:pPr indent="0" marL="0">
              <a:buNone/>
            </a:pPr>
            <a:r>
              <a:rPr lang="en-US" sz="1500" b="1" dirty="0">
                <a:solidFill>
                  <a:srgbClr val="14161A"/>
                </a:solidFill>
                <a:latin typeface="Calibri" pitchFamily="34" charset="0"/>
                <a:ea typeface="Calibri" pitchFamily="34" charset="-122"/>
                <a:cs typeface="Calibri" pitchFamily="34" charset="-120"/>
              </a:rPr>
              <a:t>starting mastery</a:t>
            </a:r>
            <a:endParaRPr lang="en-US" sz="1500" dirty="0"/>
          </a:p>
        </p:txBody>
      </p:sp>
      <p:sp>
        <p:nvSpPr>
          <p:cNvPr id="7" name="text-217"/>
          <p:cNvSpPr txBox="1"/>
          <p:nvPr/>
        </p:nvSpPr>
        <p:spPr>
          <a:xfrm>
            <a:off x="822960" y="3383280"/>
            <a:ext cx="2103120" cy="1463040"/>
          </a:xfrm>
          <a:prstGeom prst="rect">
            <a:avLst/>
          </a:prstGeom>
          <a:noFill/>
          <a:ln/>
        </p:spPr>
        <p:txBody>
          <a:bodyPr wrap="square" lIns="0" tIns="0" rIns="0" bIns="0" rtlCol="0" anchor="t"/>
          <a:lstStyle/>
          <a:p>
            <a:pPr indent="0" marL="0">
              <a:buNone/>
            </a:pPr>
            <a:r>
              <a:rPr lang="en-US" sz="1400" dirty="0">
                <a:solidFill>
                  <a:srgbClr val="14161A"/>
                </a:solidFill>
                <a:latin typeface="Calibri" pitchFamily="34" charset="0"/>
                <a:ea typeface="Calibri" pitchFamily="34" charset="-122"/>
                <a:cs typeface="Calibri" pitchFamily="34" charset="-120"/>
              </a:rPr>
              <a:t>chance the student already knows a concept before any answer</a:t>
            </a:r>
            <a:endParaRPr lang="en-US" sz="1400" dirty="0"/>
          </a:p>
        </p:txBody>
      </p:sp>
      <p:sp>
        <p:nvSpPr>
          <p:cNvPr id="8" name="card-218"/>
          <p:cNvSpPr/>
          <p:nvPr/>
        </p:nvSpPr>
        <p:spPr>
          <a:xfrm>
            <a:off x="3355848" y="1463040"/>
            <a:ext cx="2578608" cy="3566160"/>
          </a:xfrm>
          <a:prstGeom prst="roundRect">
            <a:avLst>
              <a:gd name="adj" fmla="val 4255"/>
            </a:avLst>
          </a:prstGeom>
          <a:solidFill>
            <a:srgbClr val="DCE8FD"/>
          </a:solidFill>
          <a:ln w="12700">
            <a:solidFill>
              <a:srgbClr val="DCE8FD"/>
            </a:solidFill>
            <a:prstDash val="solid"/>
          </a:ln>
        </p:spPr>
      </p:sp>
      <p:sp>
        <p:nvSpPr>
          <p:cNvPr id="9" name="text-219"/>
          <p:cNvSpPr txBox="1"/>
          <p:nvPr/>
        </p:nvSpPr>
        <p:spPr>
          <a:xfrm>
            <a:off x="3630168" y="1645920"/>
            <a:ext cx="2103120" cy="640080"/>
          </a:xfrm>
          <a:prstGeom prst="rect">
            <a:avLst/>
          </a:prstGeom>
          <a:noFill/>
          <a:ln/>
        </p:spPr>
        <p:txBody>
          <a:bodyPr wrap="square" lIns="0" tIns="0" rIns="0" bIns="0" rtlCol="0" anchor="t"/>
          <a:lstStyle/>
          <a:p>
            <a:pPr indent="0" marL="0">
              <a:buNone/>
            </a:pPr>
            <a:r>
              <a:rPr lang="en-US" sz="3600" b="1" dirty="0">
                <a:solidFill>
                  <a:srgbClr val="1D5FD6"/>
                </a:solidFill>
                <a:latin typeface="Cambria" pitchFamily="34" charset="0"/>
                <a:ea typeface="Cambria" pitchFamily="34" charset="-122"/>
                <a:cs typeface="Cambria" pitchFamily="34" charset="-120"/>
              </a:rPr>
              <a:t>G</a:t>
            </a:r>
            <a:endParaRPr lang="en-US" sz="3600" dirty="0"/>
          </a:p>
        </p:txBody>
      </p:sp>
      <p:sp>
        <p:nvSpPr>
          <p:cNvPr id="10" name="text-220"/>
          <p:cNvSpPr txBox="1"/>
          <p:nvPr/>
        </p:nvSpPr>
        <p:spPr>
          <a:xfrm>
            <a:off x="3630168" y="2331720"/>
            <a:ext cx="2103120" cy="548640"/>
          </a:xfrm>
          <a:prstGeom prst="rect">
            <a:avLst/>
          </a:prstGeom>
          <a:noFill/>
          <a:ln/>
        </p:spPr>
        <p:txBody>
          <a:bodyPr wrap="square" lIns="0" tIns="0" rIns="0" bIns="0" rtlCol="0" anchor="t"/>
          <a:lstStyle/>
          <a:p>
            <a:pPr indent="0" marL="0">
              <a:buNone/>
            </a:pPr>
            <a:r>
              <a:rPr lang="en-US" sz="2600" b="1" dirty="0">
                <a:solidFill>
                  <a:srgbClr val="0A1B3D"/>
                </a:solidFill>
                <a:latin typeface="Cambria" pitchFamily="34" charset="0"/>
                <a:ea typeface="Cambria" pitchFamily="34" charset="-122"/>
                <a:cs typeface="Cambria" pitchFamily="34" charset="-120"/>
              </a:rPr>
              <a:t>0.20 · 0.45</a:t>
            </a:r>
            <a:endParaRPr lang="en-US" sz="2600" dirty="0"/>
          </a:p>
        </p:txBody>
      </p:sp>
      <p:sp>
        <p:nvSpPr>
          <p:cNvPr id="11" name="text-221"/>
          <p:cNvSpPr txBox="1"/>
          <p:nvPr/>
        </p:nvSpPr>
        <p:spPr>
          <a:xfrm>
            <a:off x="3630168" y="2926080"/>
            <a:ext cx="2103120" cy="411480"/>
          </a:xfrm>
          <a:prstGeom prst="rect">
            <a:avLst/>
          </a:prstGeom>
          <a:noFill/>
          <a:ln/>
        </p:spPr>
        <p:txBody>
          <a:bodyPr wrap="square" lIns="0" tIns="0" rIns="0" bIns="0" rtlCol="0" anchor="t"/>
          <a:lstStyle/>
          <a:p>
            <a:pPr indent="0" marL="0">
              <a:buNone/>
            </a:pPr>
            <a:r>
              <a:rPr lang="en-US" sz="1500" b="1" dirty="0">
                <a:solidFill>
                  <a:srgbClr val="14161A"/>
                </a:solidFill>
                <a:latin typeface="Calibri" pitchFamily="34" charset="0"/>
                <a:ea typeface="Calibri" pitchFamily="34" charset="-122"/>
                <a:cs typeface="Calibri" pitchFamily="34" charset="-120"/>
              </a:rPr>
              <a:t>guess (MCQ · True/False)</a:t>
            </a:r>
            <a:endParaRPr lang="en-US" sz="1500" dirty="0"/>
          </a:p>
        </p:txBody>
      </p:sp>
      <p:sp>
        <p:nvSpPr>
          <p:cNvPr id="12" name="text-222"/>
          <p:cNvSpPr txBox="1"/>
          <p:nvPr/>
        </p:nvSpPr>
        <p:spPr>
          <a:xfrm>
            <a:off x="3630168" y="3383280"/>
            <a:ext cx="2103120" cy="1463040"/>
          </a:xfrm>
          <a:prstGeom prst="rect">
            <a:avLst/>
          </a:prstGeom>
          <a:noFill/>
          <a:ln/>
        </p:spPr>
        <p:txBody>
          <a:bodyPr wrap="square" lIns="0" tIns="0" rIns="0" bIns="0" rtlCol="0" anchor="t"/>
          <a:lstStyle/>
          <a:p>
            <a:pPr indent="0" marL="0">
              <a:buNone/>
            </a:pPr>
            <a:r>
              <a:rPr lang="en-US" sz="1400" dirty="0">
                <a:solidFill>
                  <a:srgbClr val="14161A"/>
                </a:solidFill>
                <a:latin typeface="Calibri" pitchFamily="34" charset="0"/>
                <a:ea typeface="Calibri" pitchFamily="34" charset="-122"/>
                <a:cs typeface="Calibri" pitchFamily="34" charset="-120"/>
              </a:rPr>
              <a:t>right without knowing — set by the question format</a:t>
            </a:r>
            <a:endParaRPr lang="en-US" sz="1400" dirty="0"/>
          </a:p>
        </p:txBody>
      </p:sp>
      <p:sp>
        <p:nvSpPr>
          <p:cNvPr id="13" name="card-223"/>
          <p:cNvSpPr/>
          <p:nvPr/>
        </p:nvSpPr>
        <p:spPr>
          <a:xfrm>
            <a:off x="6163056" y="1463040"/>
            <a:ext cx="2578608" cy="3566160"/>
          </a:xfrm>
          <a:prstGeom prst="roundRect">
            <a:avLst>
              <a:gd name="adj" fmla="val 4255"/>
            </a:avLst>
          </a:prstGeom>
          <a:solidFill>
            <a:srgbClr val="EFF4FE"/>
          </a:solidFill>
          <a:ln w="12700">
            <a:solidFill>
              <a:srgbClr val="EFF4FE"/>
            </a:solidFill>
            <a:prstDash val="solid"/>
          </a:ln>
        </p:spPr>
      </p:sp>
      <p:sp>
        <p:nvSpPr>
          <p:cNvPr id="14" name="text-224"/>
          <p:cNvSpPr txBox="1"/>
          <p:nvPr/>
        </p:nvSpPr>
        <p:spPr>
          <a:xfrm>
            <a:off x="6437376" y="1645920"/>
            <a:ext cx="2103120" cy="640080"/>
          </a:xfrm>
          <a:prstGeom prst="rect">
            <a:avLst/>
          </a:prstGeom>
          <a:noFill/>
          <a:ln/>
        </p:spPr>
        <p:txBody>
          <a:bodyPr wrap="square" lIns="0" tIns="0" rIns="0" bIns="0" rtlCol="0" anchor="t"/>
          <a:lstStyle/>
          <a:p>
            <a:pPr indent="0" marL="0">
              <a:buNone/>
            </a:pPr>
            <a:r>
              <a:rPr lang="en-US" sz="3600" b="1" dirty="0">
                <a:solidFill>
                  <a:srgbClr val="1D5FD6"/>
                </a:solidFill>
                <a:latin typeface="Cambria" pitchFamily="34" charset="0"/>
                <a:ea typeface="Cambria" pitchFamily="34" charset="-122"/>
                <a:cs typeface="Cambria" pitchFamily="34" charset="-120"/>
              </a:rPr>
              <a:t>S</a:t>
            </a:r>
            <a:endParaRPr lang="en-US" sz="3600" dirty="0"/>
          </a:p>
        </p:txBody>
      </p:sp>
      <p:sp>
        <p:nvSpPr>
          <p:cNvPr id="15" name="text-225"/>
          <p:cNvSpPr txBox="1"/>
          <p:nvPr/>
        </p:nvSpPr>
        <p:spPr>
          <a:xfrm>
            <a:off x="6437376" y="2331720"/>
            <a:ext cx="2103120" cy="548640"/>
          </a:xfrm>
          <a:prstGeom prst="rect">
            <a:avLst/>
          </a:prstGeom>
          <a:noFill/>
          <a:ln/>
        </p:spPr>
        <p:txBody>
          <a:bodyPr wrap="square" lIns="0" tIns="0" rIns="0" bIns="0" rtlCol="0" anchor="t"/>
          <a:lstStyle/>
          <a:p>
            <a:pPr indent="0" marL="0">
              <a:buNone/>
            </a:pPr>
            <a:r>
              <a:rPr lang="en-US" sz="2600" b="1" dirty="0">
                <a:solidFill>
                  <a:srgbClr val="0A1B3D"/>
                </a:solidFill>
                <a:latin typeface="Cambria" pitchFamily="34" charset="0"/>
                <a:ea typeface="Cambria" pitchFamily="34" charset="-122"/>
                <a:cs typeface="Cambria" pitchFamily="34" charset="-120"/>
              </a:rPr>
              <a:t>0.10</a:t>
            </a:r>
            <a:endParaRPr lang="en-US" sz="2600" dirty="0"/>
          </a:p>
        </p:txBody>
      </p:sp>
      <p:sp>
        <p:nvSpPr>
          <p:cNvPr id="16" name="text-226"/>
          <p:cNvSpPr txBox="1"/>
          <p:nvPr/>
        </p:nvSpPr>
        <p:spPr>
          <a:xfrm>
            <a:off x="6437376" y="2926080"/>
            <a:ext cx="2103120" cy="411480"/>
          </a:xfrm>
          <a:prstGeom prst="rect">
            <a:avLst/>
          </a:prstGeom>
          <a:noFill/>
          <a:ln/>
        </p:spPr>
        <p:txBody>
          <a:bodyPr wrap="square" lIns="0" tIns="0" rIns="0" bIns="0" rtlCol="0" anchor="t"/>
          <a:lstStyle/>
          <a:p>
            <a:pPr indent="0" marL="0">
              <a:buNone/>
            </a:pPr>
            <a:r>
              <a:rPr lang="en-US" sz="1500" b="1" dirty="0">
                <a:solidFill>
                  <a:srgbClr val="14161A"/>
                </a:solidFill>
                <a:latin typeface="Calibri" pitchFamily="34" charset="0"/>
                <a:ea typeface="Calibri" pitchFamily="34" charset="-122"/>
                <a:cs typeface="Calibri" pitchFamily="34" charset="-120"/>
              </a:rPr>
              <a:t>slip</a:t>
            </a:r>
            <a:endParaRPr lang="en-US" sz="1500" dirty="0"/>
          </a:p>
        </p:txBody>
      </p:sp>
      <p:sp>
        <p:nvSpPr>
          <p:cNvPr id="17" name="text-227"/>
          <p:cNvSpPr txBox="1"/>
          <p:nvPr/>
        </p:nvSpPr>
        <p:spPr>
          <a:xfrm>
            <a:off x="6437376" y="3383280"/>
            <a:ext cx="2103120" cy="1463040"/>
          </a:xfrm>
          <a:prstGeom prst="rect">
            <a:avLst/>
          </a:prstGeom>
          <a:noFill/>
          <a:ln/>
        </p:spPr>
        <p:txBody>
          <a:bodyPr wrap="square" lIns="0" tIns="0" rIns="0" bIns="0" rtlCol="0" anchor="t"/>
          <a:lstStyle/>
          <a:p>
            <a:pPr indent="0" marL="0">
              <a:buNone/>
            </a:pPr>
            <a:r>
              <a:rPr lang="en-US" sz="1400" dirty="0">
                <a:solidFill>
                  <a:srgbClr val="14161A"/>
                </a:solidFill>
                <a:latin typeface="Calibri" pitchFamily="34" charset="0"/>
                <a:ea typeface="Calibri" pitchFamily="34" charset="-122"/>
                <a:cs typeface="Calibri" pitchFamily="34" charset="-120"/>
              </a:rPr>
              <a:t>wrong despite knowing</a:t>
            </a:r>
            <a:endParaRPr lang="en-US" sz="1400" dirty="0"/>
          </a:p>
        </p:txBody>
      </p:sp>
      <p:sp>
        <p:nvSpPr>
          <p:cNvPr id="18" name="card-228"/>
          <p:cNvSpPr/>
          <p:nvPr/>
        </p:nvSpPr>
        <p:spPr>
          <a:xfrm>
            <a:off x="8970264" y="1463040"/>
            <a:ext cx="2578608" cy="3566160"/>
          </a:xfrm>
          <a:prstGeom prst="roundRect">
            <a:avLst>
              <a:gd name="adj" fmla="val 4255"/>
            </a:avLst>
          </a:prstGeom>
          <a:solidFill>
            <a:srgbClr val="EFF4FE"/>
          </a:solidFill>
          <a:ln w="12700">
            <a:solidFill>
              <a:srgbClr val="EFF4FE"/>
            </a:solidFill>
            <a:prstDash val="solid"/>
          </a:ln>
        </p:spPr>
      </p:sp>
      <p:sp>
        <p:nvSpPr>
          <p:cNvPr id="19" name="text-229"/>
          <p:cNvSpPr txBox="1"/>
          <p:nvPr/>
        </p:nvSpPr>
        <p:spPr>
          <a:xfrm>
            <a:off x="9244584" y="1645920"/>
            <a:ext cx="2103120" cy="640080"/>
          </a:xfrm>
          <a:prstGeom prst="rect">
            <a:avLst/>
          </a:prstGeom>
          <a:noFill/>
          <a:ln/>
        </p:spPr>
        <p:txBody>
          <a:bodyPr wrap="square" lIns="0" tIns="0" rIns="0" bIns="0" rtlCol="0" anchor="t"/>
          <a:lstStyle/>
          <a:p>
            <a:pPr indent="0" marL="0">
              <a:buNone/>
            </a:pPr>
            <a:r>
              <a:rPr lang="en-US" sz="3600" b="1" dirty="0">
                <a:solidFill>
                  <a:srgbClr val="1D5FD6"/>
                </a:solidFill>
                <a:latin typeface="Cambria" pitchFamily="34" charset="0"/>
                <a:ea typeface="Cambria" pitchFamily="34" charset="-122"/>
                <a:cs typeface="Cambria" pitchFamily="34" charset="-120"/>
              </a:rPr>
              <a:t>T</a:t>
            </a:r>
            <a:endParaRPr lang="en-US" sz="3600" dirty="0"/>
          </a:p>
        </p:txBody>
      </p:sp>
      <p:sp>
        <p:nvSpPr>
          <p:cNvPr id="20" name="text-230"/>
          <p:cNvSpPr txBox="1"/>
          <p:nvPr/>
        </p:nvSpPr>
        <p:spPr>
          <a:xfrm>
            <a:off x="9244584" y="2331720"/>
            <a:ext cx="2103120" cy="548640"/>
          </a:xfrm>
          <a:prstGeom prst="rect">
            <a:avLst/>
          </a:prstGeom>
          <a:noFill/>
          <a:ln/>
        </p:spPr>
        <p:txBody>
          <a:bodyPr wrap="square" lIns="0" tIns="0" rIns="0" bIns="0" rtlCol="0" anchor="t"/>
          <a:lstStyle/>
          <a:p>
            <a:pPr indent="0" marL="0">
              <a:buNone/>
            </a:pPr>
            <a:r>
              <a:rPr lang="en-US" sz="2600" b="1" dirty="0">
                <a:solidFill>
                  <a:srgbClr val="0A1B3D"/>
                </a:solidFill>
                <a:latin typeface="Cambria" pitchFamily="34" charset="0"/>
                <a:ea typeface="Cambria" pitchFamily="34" charset="-122"/>
                <a:cs typeface="Cambria" pitchFamily="34" charset="-120"/>
              </a:rPr>
              <a:t>0.15</a:t>
            </a:r>
            <a:endParaRPr lang="en-US" sz="2600" dirty="0"/>
          </a:p>
        </p:txBody>
      </p:sp>
      <p:sp>
        <p:nvSpPr>
          <p:cNvPr id="21" name="text-231"/>
          <p:cNvSpPr txBox="1"/>
          <p:nvPr/>
        </p:nvSpPr>
        <p:spPr>
          <a:xfrm>
            <a:off x="9244584" y="2926080"/>
            <a:ext cx="2103120" cy="411480"/>
          </a:xfrm>
          <a:prstGeom prst="rect">
            <a:avLst/>
          </a:prstGeom>
          <a:noFill/>
          <a:ln/>
        </p:spPr>
        <p:txBody>
          <a:bodyPr wrap="square" lIns="0" tIns="0" rIns="0" bIns="0" rtlCol="0" anchor="t"/>
          <a:lstStyle/>
          <a:p>
            <a:pPr indent="0" marL="0">
              <a:buNone/>
            </a:pPr>
            <a:r>
              <a:rPr lang="en-US" sz="1500" b="1" dirty="0">
                <a:solidFill>
                  <a:srgbClr val="14161A"/>
                </a:solidFill>
                <a:latin typeface="Calibri" pitchFamily="34" charset="0"/>
                <a:ea typeface="Calibri" pitchFamily="34" charset="-122"/>
                <a:cs typeface="Calibri" pitchFamily="34" charset="-120"/>
              </a:rPr>
              <a:t>learn</a:t>
            </a:r>
            <a:endParaRPr lang="en-US" sz="1500" dirty="0"/>
          </a:p>
        </p:txBody>
      </p:sp>
      <p:sp>
        <p:nvSpPr>
          <p:cNvPr id="22" name="text-232"/>
          <p:cNvSpPr txBox="1"/>
          <p:nvPr/>
        </p:nvSpPr>
        <p:spPr>
          <a:xfrm>
            <a:off x="9244584" y="3383280"/>
            <a:ext cx="2103120" cy="1463040"/>
          </a:xfrm>
          <a:prstGeom prst="rect">
            <a:avLst/>
          </a:prstGeom>
          <a:noFill/>
          <a:ln/>
        </p:spPr>
        <p:txBody>
          <a:bodyPr wrap="square" lIns="0" tIns="0" rIns="0" bIns="0" rtlCol="0" anchor="t"/>
          <a:lstStyle/>
          <a:p>
            <a:pPr indent="0" marL="0">
              <a:buNone/>
            </a:pPr>
            <a:r>
              <a:rPr lang="en-US" sz="1400" dirty="0">
                <a:solidFill>
                  <a:srgbClr val="14161A"/>
                </a:solidFill>
                <a:latin typeface="Calibri" pitchFamily="34" charset="0"/>
                <a:ea typeface="Calibri" pitchFamily="34" charset="-122"/>
                <a:cs typeface="Calibri" pitchFamily="34" charset="-120"/>
              </a:rPr>
              <a:t>chance one attempt turns not-knowing into knowing</a:t>
            </a:r>
            <a:endParaRPr lang="en-US" sz="1400" dirty="0"/>
          </a:p>
        </p:txBody>
      </p:sp>
      <p:sp>
        <p:nvSpPr>
          <p:cNvPr id="23" name="text-233"/>
          <p:cNvSpPr txBox="1"/>
          <p:nvPr/>
        </p:nvSpPr>
        <p:spPr>
          <a:xfrm>
            <a:off x="548640" y="5303520"/>
            <a:ext cx="11064240" cy="685800"/>
          </a:xfrm>
          <a:prstGeom prst="rect">
            <a:avLst/>
          </a:prstGeom>
          <a:noFill/>
          <a:ln/>
        </p:spPr>
        <p:txBody>
          <a:bodyPr wrap="square" lIns="0" tIns="0" rIns="0" bIns="0" rtlCol="0" anchor="t"/>
          <a:lstStyle/>
          <a:p>
            <a:pPr indent="0" marL="0">
              <a:buNone/>
            </a:pPr>
            <a:r>
              <a:rPr lang="en-US" sz="1500" i="1" dirty="0">
                <a:solidFill>
                  <a:srgbClr val="1A47A8"/>
                </a:solidFill>
                <a:latin typeface="Calibri" pitchFamily="34" charset="0"/>
                <a:ea typeface="Calibri" pitchFamily="34" charset="-122"/>
                <a:cs typeface="Calibri" pitchFamily="34" charset="-120"/>
              </a:rPr>
              <a:t>Constraint: G + S &lt; 1 — otherwise a correct answer stops being evidence of knowing. All four live in AdaptiveConfig and are admin-tunable.</a:t>
            </a:r>
            <a:endParaRPr lang="en-US" sz="15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Each answer runs one step: predict, observe, transition</a:t>
            </a:r>
            <a:endParaRPr lang="en-US" sz="3000" dirty="0"/>
          </a:p>
        </p:txBody>
      </p:sp>
      <p:sp>
        <p:nvSpPr>
          <p:cNvPr id="3" name="text-234"/>
          <p:cNvSpPr txBox="1"/>
          <p:nvPr/>
        </p:nvSpPr>
        <p:spPr>
          <a:xfrm>
            <a:off x="548640" y="1508760"/>
            <a:ext cx="2011680" cy="457200"/>
          </a:xfrm>
          <a:prstGeom prst="rect">
            <a:avLst/>
          </a:prstGeom>
          <a:noFill/>
          <a:ln/>
        </p:spPr>
        <p:txBody>
          <a:bodyPr wrap="square" lIns="0" tIns="0" rIns="0" bIns="0" rtlCol="0" anchor="t"/>
          <a:lstStyle/>
          <a:p>
            <a:pPr indent="0" marL="0">
              <a:buNone/>
            </a:pPr>
            <a:r>
              <a:rPr lang="en-US" sz="1900" b="1" dirty="0">
                <a:solidFill>
                  <a:srgbClr val="0A1B3D"/>
                </a:solidFill>
                <a:latin typeface="Cambria" pitchFamily="34" charset="0"/>
                <a:ea typeface="Cambria" pitchFamily="34" charset="-122"/>
                <a:cs typeface="Cambria" pitchFamily="34" charset="-120"/>
              </a:rPr>
              <a:t>1 · Predict</a:t>
            </a:r>
            <a:endParaRPr lang="en-US" sz="1900" dirty="0"/>
          </a:p>
        </p:txBody>
      </p:sp>
      <p:sp>
        <p:nvSpPr>
          <p:cNvPr id="4" name="card-235"/>
          <p:cNvSpPr/>
          <p:nvPr/>
        </p:nvSpPr>
        <p:spPr>
          <a:xfrm>
            <a:off x="2606040" y="1417320"/>
            <a:ext cx="5120640" cy="1188720"/>
          </a:xfrm>
          <a:prstGeom prst="roundRect">
            <a:avLst>
              <a:gd name="adj" fmla="val 9231"/>
            </a:avLst>
          </a:prstGeom>
          <a:solidFill>
            <a:srgbClr val="0A1B3D"/>
          </a:solidFill>
          <a:ln w="12700">
            <a:solidFill>
              <a:srgbClr val="0A1B3D"/>
            </a:solidFill>
            <a:prstDash val="solid"/>
          </a:ln>
        </p:spPr>
      </p:sp>
      <p:sp>
        <p:nvSpPr>
          <p:cNvPr id="5" name="text-236"/>
          <p:cNvSpPr txBox="1"/>
          <p:nvPr/>
        </p:nvSpPr>
        <p:spPr>
          <a:xfrm>
            <a:off x="2834640" y="1527048"/>
            <a:ext cx="4663440" cy="969264"/>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P(correct) = L·(1−S) + (1−L)·G</a:t>
            </a:r>
            <a:endParaRPr lang="en-US" sz="1500" dirty="0"/>
          </a:p>
        </p:txBody>
      </p:sp>
      <p:sp>
        <p:nvSpPr>
          <p:cNvPr id="6" name="text-237"/>
          <p:cNvSpPr txBox="1"/>
          <p:nvPr/>
        </p:nvSpPr>
        <p:spPr>
          <a:xfrm>
            <a:off x="2606040" y="2624328"/>
            <a:ext cx="5120640" cy="274320"/>
          </a:xfrm>
          <a:prstGeom prst="rect">
            <a:avLst/>
          </a:prstGeom>
          <a:noFill/>
          <a:ln/>
        </p:spPr>
        <p:txBody>
          <a:bodyPr wrap="square" lIns="0" tIns="0" rIns="0" bIns="0" rtlCol="0" anchor="t"/>
          <a:lstStyle/>
          <a:p>
            <a:pPr indent="0" marL="0">
              <a:buNone/>
            </a:pPr>
            <a:r>
              <a:rPr lang="en-US" sz="1200" i="1" dirty="0">
                <a:solidFill>
                  <a:srgbClr val="5B6372"/>
                </a:solidFill>
                <a:latin typeface="Calibri" pitchFamily="34" charset="0"/>
                <a:ea typeface="Calibri" pitchFamily="34" charset="-122"/>
                <a:cs typeface="Calibri" pitchFamily="34" charset="-120"/>
              </a:rPr>
              <a:t>what we expect before the answer — logged as predicted_correct</a:t>
            </a:r>
            <a:endParaRPr lang="en-US" sz="1200" dirty="0"/>
          </a:p>
        </p:txBody>
      </p:sp>
      <p:sp>
        <p:nvSpPr>
          <p:cNvPr id="7" name="text-238"/>
          <p:cNvSpPr txBox="1"/>
          <p:nvPr/>
        </p:nvSpPr>
        <p:spPr>
          <a:xfrm>
            <a:off x="548640" y="2971800"/>
            <a:ext cx="2011680" cy="457200"/>
          </a:xfrm>
          <a:prstGeom prst="rect">
            <a:avLst/>
          </a:prstGeom>
          <a:noFill/>
          <a:ln/>
        </p:spPr>
        <p:txBody>
          <a:bodyPr wrap="square" lIns="0" tIns="0" rIns="0" bIns="0" rtlCol="0" anchor="t"/>
          <a:lstStyle/>
          <a:p>
            <a:pPr indent="0" marL="0">
              <a:buNone/>
            </a:pPr>
            <a:r>
              <a:rPr lang="en-US" sz="1900" b="1" dirty="0">
                <a:solidFill>
                  <a:srgbClr val="0A1B3D"/>
                </a:solidFill>
                <a:latin typeface="Cambria" pitchFamily="34" charset="0"/>
                <a:ea typeface="Cambria" pitchFamily="34" charset="-122"/>
                <a:cs typeface="Cambria" pitchFamily="34" charset="-120"/>
              </a:rPr>
              <a:t>2 · Observe</a:t>
            </a:r>
            <a:endParaRPr lang="en-US" sz="1900" dirty="0"/>
          </a:p>
        </p:txBody>
      </p:sp>
      <p:sp>
        <p:nvSpPr>
          <p:cNvPr id="8" name="card-239"/>
          <p:cNvSpPr/>
          <p:nvPr/>
        </p:nvSpPr>
        <p:spPr>
          <a:xfrm>
            <a:off x="2606040" y="2880360"/>
            <a:ext cx="5120640" cy="1188720"/>
          </a:xfrm>
          <a:prstGeom prst="roundRect">
            <a:avLst>
              <a:gd name="adj" fmla="val 9231"/>
            </a:avLst>
          </a:prstGeom>
          <a:solidFill>
            <a:srgbClr val="0A1B3D"/>
          </a:solidFill>
          <a:ln w="12700">
            <a:solidFill>
              <a:srgbClr val="0A1B3D"/>
            </a:solidFill>
            <a:prstDash val="solid"/>
          </a:ln>
        </p:spPr>
      </p:sp>
      <p:sp>
        <p:nvSpPr>
          <p:cNvPr id="9" name="text-240"/>
          <p:cNvSpPr txBox="1"/>
          <p:nvPr/>
        </p:nvSpPr>
        <p:spPr>
          <a:xfrm>
            <a:off x="2834640" y="2990088"/>
            <a:ext cx="4663440" cy="969264"/>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right:  L·(1−S) / P(correct)</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wrong:  L·S / (1 − P(correct))</a:t>
            </a:r>
            <a:endParaRPr lang="en-US" sz="1500" dirty="0"/>
          </a:p>
        </p:txBody>
      </p:sp>
      <p:sp>
        <p:nvSpPr>
          <p:cNvPr id="10" name="text-241"/>
          <p:cNvSpPr txBox="1"/>
          <p:nvPr/>
        </p:nvSpPr>
        <p:spPr>
          <a:xfrm>
            <a:off x="2606040" y="4087368"/>
            <a:ext cx="5120640" cy="274320"/>
          </a:xfrm>
          <a:prstGeom prst="rect">
            <a:avLst/>
          </a:prstGeom>
          <a:noFill/>
          <a:ln/>
        </p:spPr>
        <p:txBody>
          <a:bodyPr wrap="square" lIns="0" tIns="0" rIns="0" bIns="0" rtlCol="0" anchor="t"/>
          <a:lstStyle/>
          <a:p>
            <a:pPr indent="0" marL="0">
              <a:buNone/>
            </a:pPr>
            <a:r>
              <a:rPr lang="en-US" sz="1200" i="1" dirty="0">
                <a:solidFill>
                  <a:srgbClr val="5B6372"/>
                </a:solidFill>
                <a:latin typeface="Calibri" pitchFamily="34" charset="0"/>
                <a:ea typeface="Calibri" pitchFamily="34" charset="-122"/>
                <a:cs typeface="Calibri" pitchFamily="34" charset="-120"/>
              </a:rPr>
              <a:t>Bayes' rule with the actual answer</a:t>
            </a:r>
            <a:endParaRPr lang="en-US" sz="1200" dirty="0"/>
          </a:p>
        </p:txBody>
      </p:sp>
      <p:sp>
        <p:nvSpPr>
          <p:cNvPr id="11" name="text-242"/>
          <p:cNvSpPr txBox="1"/>
          <p:nvPr/>
        </p:nvSpPr>
        <p:spPr>
          <a:xfrm>
            <a:off x="548640" y="4434840"/>
            <a:ext cx="2011680" cy="457200"/>
          </a:xfrm>
          <a:prstGeom prst="rect">
            <a:avLst/>
          </a:prstGeom>
          <a:noFill/>
          <a:ln/>
        </p:spPr>
        <p:txBody>
          <a:bodyPr wrap="square" lIns="0" tIns="0" rIns="0" bIns="0" rtlCol="0" anchor="t"/>
          <a:lstStyle/>
          <a:p>
            <a:pPr indent="0" marL="0">
              <a:buNone/>
            </a:pPr>
            <a:r>
              <a:rPr lang="en-US" sz="1900" b="1" dirty="0">
                <a:solidFill>
                  <a:srgbClr val="0A1B3D"/>
                </a:solidFill>
                <a:latin typeface="Cambria" pitchFamily="34" charset="0"/>
                <a:ea typeface="Cambria" pitchFamily="34" charset="-122"/>
                <a:cs typeface="Cambria" pitchFamily="34" charset="-120"/>
              </a:rPr>
              <a:t>3 · Transition</a:t>
            </a:r>
            <a:endParaRPr lang="en-US" sz="1900" dirty="0"/>
          </a:p>
        </p:txBody>
      </p:sp>
      <p:sp>
        <p:nvSpPr>
          <p:cNvPr id="12" name="card-243"/>
          <p:cNvSpPr/>
          <p:nvPr/>
        </p:nvSpPr>
        <p:spPr>
          <a:xfrm>
            <a:off x="2606040" y="4343400"/>
            <a:ext cx="5120640" cy="1188720"/>
          </a:xfrm>
          <a:prstGeom prst="roundRect">
            <a:avLst>
              <a:gd name="adj" fmla="val 9231"/>
            </a:avLst>
          </a:prstGeom>
          <a:solidFill>
            <a:srgbClr val="0A1B3D"/>
          </a:solidFill>
          <a:ln w="12700">
            <a:solidFill>
              <a:srgbClr val="0A1B3D"/>
            </a:solidFill>
            <a:prstDash val="solid"/>
          </a:ln>
        </p:spPr>
      </p:sp>
      <p:sp>
        <p:nvSpPr>
          <p:cNvPr id="13" name="text-244"/>
          <p:cNvSpPr txBox="1"/>
          <p:nvPr/>
        </p:nvSpPr>
        <p:spPr>
          <a:xfrm>
            <a:off x="2834640" y="4453128"/>
            <a:ext cx="4663440" cy="969264"/>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L_next = L_obs + (1 − L_obs)·T</a:t>
            </a:r>
            <a:endParaRPr lang="en-US" sz="1500" dirty="0"/>
          </a:p>
        </p:txBody>
      </p:sp>
      <p:sp>
        <p:nvSpPr>
          <p:cNvPr id="14" name="text-245"/>
          <p:cNvSpPr txBox="1"/>
          <p:nvPr/>
        </p:nvSpPr>
        <p:spPr>
          <a:xfrm>
            <a:off x="2606040" y="5550408"/>
            <a:ext cx="5120640" cy="274320"/>
          </a:xfrm>
          <a:prstGeom prst="rect">
            <a:avLst/>
          </a:prstGeom>
          <a:noFill/>
          <a:ln/>
        </p:spPr>
        <p:txBody>
          <a:bodyPr wrap="square" lIns="0" tIns="0" rIns="0" bIns="0" rtlCol="0" anchor="t"/>
          <a:lstStyle/>
          <a:p>
            <a:pPr indent="0" marL="0">
              <a:buNone/>
            </a:pPr>
            <a:r>
              <a:rPr lang="en-US" sz="1200" i="1" dirty="0">
                <a:solidFill>
                  <a:srgbClr val="5B6372"/>
                </a:solidFill>
                <a:latin typeface="Calibri" pitchFamily="34" charset="0"/>
                <a:ea typeface="Calibri" pitchFamily="34" charset="-122"/>
                <a:cs typeface="Calibri" pitchFamily="34" charset="-120"/>
              </a:rPr>
              <a:t>the chance they learned from the attempt (capped at 0.99)</a:t>
            </a:r>
            <a:endParaRPr lang="en-US" sz="1200" dirty="0"/>
          </a:p>
        </p:txBody>
      </p:sp>
      <p:sp>
        <p:nvSpPr>
          <p:cNvPr id="15" name="card-246"/>
          <p:cNvSpPr/>
          <p:nvPr/>
        </p:nvSpPr>
        <p:spPr>
          <a:xfrm>
            <a:off x="8046720" y="1417320"/>
            <a:ext cx="3566160" cy="4389120"/>
          </a:xfrm>
          <a:prstGeom prst="roundRect">
            <a:avLst>
              <a:gd name="adj" fmla="val 3077"/>
            </a:avLst>
          </a:prstGeom>
          <a:solidFill>
            <a:srgbClr val="EFF4FE"/>
          </a:solidFill>
          <a:ln w="12700">
            <a:solidFill>
              <a:srgbClr val="EFF4FE"/>
            </a:solidFill>
            <a:prstDash val="solid"/>
          </a:ln>
        </p:spPr>
      </p:sp>
      <p:sp>
        <p:nvSpPr>
          <p:cNvPr id="16" name="text-247"/>
          <p:cNvSpPr txBox="1"/>
          <p:nvPr/>
        </p:nvSpPr>
        <p:spPr>
          <a:xfrm>
            <a:off x="8275320" y="1554480"/>
            <a:ext cx="3108960" cy="411480"/>
          </a:xfrm>
          <a:prstGeom prst="rect">
            <a:avLst/>
          </a:prstGeom>
          <a:noFill/>
          <a:ln/>
        </p:spPr>
        <p:txBody>
          <a:bodyPr wrap="square" lIns="0" tIns="0" rIns="0" bIns="0" rtlCol="0" anchor="t"/>
          <a:lstStyle/>
          <a:p>
            <a:pPr indent="0" marL="0">
              <a:buNone/>
            </a:pPr>
            <a:r>
              <a:rPr lang="en-US" sz="1700" b="1" dirty="0">
                <a:solidFill>
                  <a:srgbClr val="0A1B3D"/>
                </a:solidFill>
                <a:latin typeface="Cambria" pitchFamily="34" charset="0"/>
                <a:ea typeface="Cambria" pitchFamily="34" charset="-122"/>
                <a:cs typeface="Cambria" pitchFamily="34" charset="-120"/>
              </a:rPr>
              <a:t>The four possibilities</a:t>
            </a:r>
            <a:endParaRPr lang="en-US" sz="1700" dirty="0"/>
          </a:p>
        </p:txBody>
      </p:sp>
      <p:sp>
        <p:nvSpPr>
          <p:cNvPr id="17" name="dot-248"/>
          <p:cNvSpPr/>
          <p:nvPr/>
        </p:nvSpPr>
        <p:spPr>
          <a:xfrm>
            <a:off x="8275320" y="2212848"/>
            <a:ext cx="219456" cy="219456"/>
          </a:xfrm>
          <a:prstGeom prst="ellipse">
            <a:avLst/>
          </a:prstGeom>
          <a:solidFill>
            <a:srgbClr val="157A4F"/>
          </a:solidFill>
          <a:ln w="12700">
            <a:solidFill>
              <a:srgbClr val="157A4F"/>
            </a:solidFill>
            <a:prstDash val="solid"/>
          </a:ln>
        </p:spPr>
      </p:sp>
      <p:sp>
        <p:nvSpPr>
          <p:cNvPr id="18" name="text-249"/>
          <p:cNvSpPr txBox="1"/>
          <p:nvPr/>
        </p:nvSpPr>
        <p:spPr>
          <a:xfrm>
            <a:off x="8641080" y="2103120"/>
            <a:ext cx="2834640" cy="731520"/>
          </a:xfrm>
          <a:prstGeom prst="rect">
            <a:avLst/>
          </a:prstGeom>
          <a:noFill/>
          <a:ln/>
        </p:spPr>
        <p:txBody>
          <a:bodyPr wrap="square" lIns="0" tIns="0" rIns="0" bIns="0" rtlCol="0" anchor="t"/>
          <a:lstStyle/>
          <a:p>
            <a:pPr indent="0" marL="0">
              <a:buNone/>
            </a:pPr>
            <a:r>
              <a:rPr lang="en-US" sz="1400" b="1" dirty="0">
                <a:solidFill>
                  <a:srgbClr val="14161A"/>
                </a:solidFill>
                <a:latin typeface="Calibri" pitchFamily="34" charset="0"/>
                <a:ea typeface="Calibri" pitchFamily="34" charset="-122"/>
                <a:cs typeface="Calibri" pitchFamily="34" charset="-120"/>
              </a:rPr>
              <a:t>knew it, no slip</a:t>
            </a:r>
            <a:endParaRPr lang="en-US" sz="1400" dirty="0"/>
          </a:p>
          <a:p>
            <a:pPr indent="0" marL="0">
              <a:buNone/>
            </a:pPr>
            <a:r>
              <a:rPr lang="en-US" sz="1300" dirty="0">
                <a:solidFill>
                  <a:srgbClr val="1A47A8"/>
                </a:solidFill>
                <a:latin typeface="Courier New" pitchFamily="34" charset="0"/>
                <a:ea typeface="Courier New" pitchFamily="34" charset="-122"/>
                <a:cs typeface="Courier New" pitchFamily="34" charset="-120"/>
              </a:rPr>
              <a:t>L·(1−S)</a:t>
            </a:r>
            <a:endParaRPr lang="en-US" sz="1400" dirty="0"/>
          </a:p>
        </p:txBody>
      </p:sp>
      <p:sp>
        <p:nvSpPr>
          <p:cNvPr id="19" name="dot-250"/>
          <p:cNvSpPr/>
          <p:nvPr/>
        </p:nvSpPr>
        <p:spPr>
          <a:xfrm>
            <a:off x="8275320" y="3081528"/>
            <a:ext cx="219456" cy="219456"/>
          </a:xfrm>
          <a:prstGeom prst="ellipse">
            <a:avLst/>
          </a:prstGeom>
          <a:solidFill>
            <a:srgbClr val="E8833A"/>
          </a:solidFill>
          <a:ln w="12700">
            <a:solidFill>
              <a:srgbClr val="E8833A"/>
            </a:solidFill>
            <a:prstDash val="solid"/>
          </a:ln>
        </p:spPr>
      </p:sp>
      <p:sp>
        <p:nvSpPr>
          <p:cNvPr id="20" name="text-251"/>
          <p:cNvSpPr txBox="1"/>
          <p:nvPr/>
        </p:nvSpPr>
        <p:spPr>
          <a:xfrm>
            <a:off x="8641080" y="2971800"/>
            <a:ext cx="2834640" cy="731520"/>
          </a:xfrm>
          <a:prstGeom prst="rect">
            <a:avLst/>
          </a:prstGeom>
          <a:noFill/>
          <a:ln/>
        </p:spPr>
        <p:txBody>
          <a:bodyPr wrap="square" lIns="0" tIns="0" rIns="0" bIns="0" rtlCol="0" anchor="t"/>
          <a:lstStyle/>
          <a:p>
            <a:pPr indent="0" marL="0">
              <a:buNone/>
            </a:pPr>
            <a:r>
              <a:rPr lang="en-US" sz="1400" b="1" dirty="0">
                <a:solidFill>
                  <a:srgbClr val="14161A"/>
                </a:solidFill>
                <a:latin typeface="Calibri" pitchFamily="34" charset="0"/>
                <a:ea typeface="Calibri" pitchFamily="34" charset="-122"/>
                <a:cs typeface="Calibri" pitchFamily="34" charset="-120"/>
              </a:rPr>
              <a:t>lucky guess</a:t>
            </a:r>
            <a:endParaRPr lang="en-US" sz="1400" dirty="0"/>
          </a:p>
          <a:p>
            <a:pPr indent="0" marL="0">
              <a:buNone/>
            </a:pPr>
            <a:r>
              <a:rPr lang="en-US" sz="1300" dirty="0">
                <a:solidFill>
                  <a:srgbClr val="1A47A8"/>
                </a:solidFill>
                <a:latin typeface="Courier New" pitchFamily="34" charset="0"/>
                <a:ea typeface="Courier New" pitchFamily="34" charset="-122"/>
                <a:cs typeface="Courier New" pitchFamily="34" charset="-120"/>
              </a:rPr>
              <a:t>(1−L)·G</a:t>
            </a:r>
            <a:endParaRPr lang="en-US" sz="1400" dirty="0"/>
          </a:p>
        </p:txBody>
      </p:sp>
      <p:sp>
        <p:nvSpPr>
          <p:cNvPr id="21" name="dot-252"/>
          <p:cNvSpPr/>
          <p:nvPr/>
        </p:nvSpPr>
        <p:spPr>
          <a:xfrm>
            <a:off x="8275320" y="3950208"/>
            <a:ext cx="219456" cy="219456"/>
          </a:xfrm>
          <a:prstGeom prst="ellipse">
            <a:avLst/>
          </a:prstGeom>
          <a:solidFill>
            <a:srgbClr val="E8833A"/>
          </a:solidFill>
          <a:ln w="12700">
            <a:solidFill>
              <a:srgbClr val="E8833A"/>
            </a:solidFill>
            <a:prstDash val="solid"/>
          </a:ln>
        </p:spPr>
      </p:sp>
      <p:sp>
        <p:nvSpPr>
          <p:cNvPr id="22" name="text-253"/>
          <p:cNvSpPr txBox="1"/>
          <p:nvPr/>
        </p:nvSpPr>
        <p:spPr>
          <a:xfrm>
            <a:off x="8641080" y="3840480"/>
            <a:ext cx="2834640" cy="731520"/>
          </a:xfrm>
          <a:prstGeom prst="rect">
            <a:avLst/>
          </a:prstGeom>
          <a:noFill/>
          <a:ln/>
        </p:spPr>
        <p:txBody>
          <a:bodyPr wrap="square" lIns="0" tIns="0" rIns="0" bIns="0" rtlCol="0" anchor="t"/>
          <a:lstStyle/>
          <a:p>
            <a:pPr indent="0" marL="0">
              <a:buNone/>
            </a:pPr>
            <a:r>
              <a:rPr lang="en-US" sz="1400" b="1" dirty="0">
                <a:solidFill>
                  <a:srgbClr val="14161A"/>
                </a:solidFill>
                <a:latin typeface="Calibri" pitchFamily="34" charset="0"/>
                <a:ea typeface="Calibri" pitchFamily="34" charset="-122"/>
                <a:cs typeface="Calibri" pitchFamily="34" charset="-120"/>
              </a:rPr>
              <a:t>knew it, slipped</a:t>
            </a:r>
            <a:endParaRPr lang="en-US" sz="1400" dirty="0"/>
          </a:p>
          <a:p>
            <a:pPr indent="0" marL="0">
              <a:buNone/>
            </a:pPr>
            <a:r>
              <a:rPr lang="en-US" sz="1300" dirty="0">
                <a:solidFill>
                  <a:srgbClr val="1A47A8"/>
                </a:solidFill>
                <a:latin typeface="Courier New" pitchFamily="34" charset="0"/>
                <a:ea typeface="Courier New" pitchFamily="34" charset="-122"/>
                <a:cs typeface="Courier New" pitchFamily="34" charset="-120"/>
              </a:rPr>
              <a:t>L·S</a:t>
            </a:r>
            <a:endParaRPr lang="en-US" sz="1400" dirty="0"/>
          </a:p>
        </p:txBody>
      </p:sp>
      <p:sp>
        <p:nvSpPr>
          <p:cNvPr id="23" name="dot-254"/>
          <p:cNvSpPr/>
          <p:nvPr/>
        </p:nvSpPr>
        <p:spPr>
          <a:xfrm>
            <a:off x="8275320" y="4818888"/>
            <a:ext cx="219456" cy="219456"/>
          </a:xfrm>
          <a:prstGeom prst="ellipse">
            <a:avLst/>
          </a:prstGeom>
          <a:solidFill>
            <a:srgbClr val="B5271B"/>
          </a:solidFill>
          <a:ln w="12700">
            <a:solidFill>
              <a:srgbClr val="B5271B"/>
            </a:solidFill>
            <a:prstDash val="solid"/>
          </a:ln>
        </p:spPr>
      </p:sp>
      <p:sp>
        <p:nvSpPr>
          <p:cNvPr id="24" name="text-255"/>
          <p:cNvSpPr txBox="1"/>
          <p:nvPr/>
        </p:nvSpPr>
        <p:spPr>
          <a:xfrm>
            <a:off x="8641080" y="4709160"/>
            <a:ext cx="2834640" cy="731520"/>
          </a:xfrm>
          <a:prstGeom prst="rect">
            <a:avLst/>
          </a:prstGeom>
          <a:noFill/>
          <a:ln/>
        </p:spPr>
        <p:txBody>
          <a:bodyPr wrap="square" lIns="0" tIns="0" rIns="0" bIns="0" rtlCol="0" anchor="t"/>
          <a:lstStyle/>
          <a:p>
            <a:pPr indent="0" marL="0">
              <a:buNone/>
            </a:pPr>
            <a:r>
              <a:rPr lang="en-US" sz="1400" b="1" dirty="0">
                <a:solidFill>
                  <a:srgbClr val="14161A"/>
                </a:solidFill>
                <a:latin typeface="Calibri" pitchFamily="34" charset="0"/>
                <a:ea typeface="Calibri" pitchFamily="34" charset="-122"/>
                <a:cs typeface="Calibri" pitchFamily="34" charset="-120"/>
              </a:rPr>
              <a:t>didn't know, missed</a:t>
            </a:r>
            <a:endParaRPr lang="en-US" sz="1400" dirty="0"/>
          </a:p>
          <a:p>
            <a:pPr indent="0" marL="0">
              <a:buNone/>
            </a:pPr>
            <a:r>
              <a:rPr lang="en-US" sz="1300" dirty="0">
                <a:solidFill>
                  <a:srgbClr val="1A47A8"/>
                </a:solidFill>
                <a:latin typeface="Courier New" pitchFamily="34" charset="0"/>
                <a:ea typeface="Courier New" pitchFamily="34" charset="-122"/>
                <a:cs typeface="Courier New" pitchFamily="34" charset="-120"/>
              </a:rPr>
              <a:t>(1−L)·(1−G)</a:t>
            </a:r>
            <a:endParaRPr lang="en-US" sz="14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 worked example: one answer from the starting point</a:t>
            </a:r>
            <a:endParaRPr lang="en-US" sz="3000" dirty="0"/>
          </a:p>
        </p:txBody>
      </p:sp>
      <p:sp>
        <p:nvSpPr>
          <p:cNvPr id="3" name="text-256"/>
          <p:cNvSpPr txBox="1"/>
          <p:nvPr/>
        </p:nvSpPr>
        <p:spPr>
          <a:xfrm>
            <a:off x="548640" y="1371600"/>
            <a:ext cx="5486400" cy="365760"/>
          </a:xfrm>
          <a:prstGeom prst="rect">
            <a:avLst/>
          </a:prstGeom>
          <a:noFill/>
          <a:ln/>
        </p:spPr>
        <p:txBody>
          <a:bodyPr wrap="square" lIns="0" tIns="0" rIns="0" bIns="0" rtlCol="0" anchor="t"/>
          <a:lstStyle/>
          <a:p>
            <a:pPr indent="0" marL="0">
              <a:buNone/>
            </a:pPr>
            <a:r>
              <a:rPr lang="en-US" sz="1600" b="1" dirty="0">
                <a:solidFill>
                  <a:srgbClr val="0A1B3D"/>
                </a:solidFill>
                <a:latin typeface="Calibri" pitchFamily="34" charset="0"/>
                <a:ea typeface="Calibri" pitchFamily="34" charset="-122"/>
                <a:cs typeface="Calibri" pitchFamily="34" charset="-120"/>
              </a:rPr>
              <a:t>Prior L = 0.30 · S = 0.10 · T = 0.15</a:t>
            </a:r>
            <a:endParaRPr lang="en-US" sz="1600" dirty="0"/>
          </a:p>
        </p:txBody>
      </p:sp>
      <p:graphicFrame>
        <p:nvGraphicFramePr>
          <p:cNvPr id="4" name="chart-worked" descr=""/>
          <p:cNvGraphicFramePr/>
          <p:nvPr/>
        </p:nvGraphicFramePr>
        <p:xfrm>
          <a:off x="548640" y="1828800"/>
          <a:ext cx="6035040" cy="4114800"/>
        </p:xfrm>
        <a:graphic xmlns:a="http://schemas.openxmlformats.org/drawingml/2006/main">
          <a:graphicData uri="http://schemas.openxmlformats.org/drawingml/2006/chart">
            <c:chart xmlns:c="http://schemas.openxmlformats.org/drawingml/2006/chart" r:id="rId1"/>
          </a:graphicData>
        </a:graphic>
      </p:graphicFrame>
      <p:sp>
        <p:nvSpPr>
          <p:cNvPr id="5" name="card-257"/>
          <p:cNvSpPr/>
          <p:nvPr/>
        </p:nvSpPr>
        <p:spPr>
          <a:xfrm>
            <a:off x="6949440" y="1371600"/>
            <a:ext cx="4663440" cy="4572000"/>
          </a:xfrm>
          <a:prstGeom prst="roundRect">
            <a:avLst>
              <a:gd name="adj" fmla="val 2400"/>
            </a:avLst>
          </a:prstGeom>
          <a:solidFill>
            <a:srgbClr val="EFF4FE"/>
          </a:solidFill>
          <a:ln w="12700">
            <a:solidFill>
              <a:srgbClr val="EFF4FE"/>
            </a:solidFill>
            <a:prstDash val="solid"/>
          </a:ln>
        </p:spPr>
      </p:sp>
      <p:sp>
        <p:nvSpPr>
          <p:cNvPr id="6" name="text-258"/>
          <p:cNvSpPr txBox="1"/>
          <p:nvPr/>
        </p:nvSpPr>
        <p:spPr>
          <a:xfrm>
            <a:off x="7223760" y="1554480"/>
            <a:ext cx="4114800" cy="365760"/>
          </a:xfrm>
          <a:prstGeom prst="rect">
            <a:avLst/>
          </a:prstGeom>
          <a:noFill/>
          <a:ln/>
        </p:spPr>
        <p:txBody>
          <a:bodyPr wrap="square" lIns="0" tIns="0" rIns="0" bIns="0" rtlCol="0" anchor="t"/>
          <a:lstStyle/>
          <a:p>
            <a:pPr indent="0" marL="0">
              <a:buNone/>
            </a:pPr>
            <a:r>
              <a:rPr lang="en-US" sz="1600" b="1" dirty="0">
                <a:solidFill>
                  <a:srgbClr val="0A1B3D"/>
                </a:solidFill>
                <a:latin typeface="Calibri" pitchFamily="34" charset="0"/>
                <a:ea typeface="Calibri" pitchFamily="34" charset="-122"/>
                <a:cs typeface="Calibri" pitchFamily="34" charset="-120"/>
              </a:rPr>
              <a:t>MCQ answered right (G = 0.20)</a:t>
            </a:r>
            <a:endParaRPr lang="en-US" sz="1600" dirty="0"/>
          </a:p>
        </p:txBody>
      </p:sp>
      <p:sp>
        <p:nvSpPr>
          <p:cNvPr id="7" name="card-259"/>
          <p:cNvSpPr/>
          <p:nvPr/>
        </p:nvSpPr>
        <p:spPr>
          <a:xfrm>
            <a:off x="7223760" y="1965960"/>
            <a:ext cx="4114800" cy="1234440"/>
          </a:xfrm>
          <a:prstGeom prst="roundRect">
            <a:avLst>
              <a:gd name="adj" fmla="val 8889"/>
            </a:avLst>
          </a:prstGeom>
          <a:solidFill>
            <a:srgbClr val="0A1B3D"/>
          </a:solidFill>
          <a:ln w="12700">
            <a:solidFill>
              <a:srgbClr val="0A1B3D"/>
            </a:solidFill>
            <a:prstDash val="solid"/>
          </a:ln>
        </p:spPr>
      </p:sp>
      <p:sp>
        <p:nvSpPr>
          <p:cNvPr id="8" name="text-260"/>
          <p:cNvSpPr txBox="1"/>
          <p:nvPr/>
        </p:nvSpPr>
        <p:spPr>
          <a:xfrm>
            <a:off x="7452360" y="2075688"/>
            <a:ext cx="3657600" cy="1014984"/>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P(correct) = .27 + .14 = 0.41</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knew it    = .27 / .41  = 0.659</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learned    = .659 + .341·.15 = 0.71</a:t>
            </a:r>
            <a:endParaRPr lang="en-US" sz="1300" dirty="0"/>
          </a:p>
        </p:txBody>
      </p:sp>
      <p:sp>
        <p:nvSpPr>
          <p:cNvPr id="9" name="text-261"/>
          <p:cNvSpPr txBox="1"/>
          <p:nvPr/>
        </p:nvSpPr>
        <p:spPr>
          <a:xfrm>
            <a:off x="7223760" y="3383280"/>
            <a:ext cx="4114800" cy="365760"/>
          </a:xfrm>
          <a:prstGeom prst="rect">
            <a:avLst/>
          </a:prstGeom>
          <a:noFill/>
          <a:ln/>
        </p:spPr>
        <p:txBody>
          <a:bodyPr wrap="square" lIns="0" tIns="0" rIns="0" bIns="0" rtlCol="0" anchor="t"/>
          <a:lstStyle/>
          <a:p>
            <a:pPr indent="0" marL="0">
              <a:buNone/>
            </a:pPr>
            <a:r>
              <a:rPr lang="en-US" sz="1600" b="1" dirty="0">
                <a:solidFill>
                  <a:srgbClr val="0A1B3D"/>
                </a:solidFill>
                <a:latin typeface="Calibri" pitchFamily="34" charset="0"/>
                <a:ea typeface="Calibri" pitchFamily="34" charset="-122"/>
                <a:cs typeface="Calibri" pitchFamily="34" charset="-120"/>
              </a:rPr>
              <a:t>MCQ answered wrong</a:t>
            </a:r>
            <a:endParaRPr lang="en-US" sz="1600" dirty="0"/>
          </a:p>
        </p:txBody>
      </p:sp>
      <p:sp>
        <p:nvSpPr>
          <p:cNvPr id="10" name="card-262"/>
          <p:cNvSpPr/>
          <p:nvPr/>
        </p:nvSpPr>
        <p:spPr>
          <a:xfrm>
            <a:off x="7223760" y="3794760"/>
            <a:ext cx="4114800" cy="914400"/>
          </a:xfrm>
          <a:prstGeom prst="roundRect">
            <a:avLst>
              <a:gd name="adj" fmla="val 12000"/>
            </a:avLst>
          </a:prstGeom>
          <a:solidFill>
            <a:srgbClr val="0A1B3D"/>
          </a:solidFill>
          <a:ln w="12700">
            <a:solidFill>
              <a:srgbClr val="0A1B3D"/>
            </a:solidFill>
            <a:prstDash val="solid"/>
          </a:ln>
        </p:spPr>
      </p:sp>
      <p:sp>
        <p:nvSpPr>
          <p:cNvPr id="11" name="text-263"/>
          <p:cNvSpPr txBox="1"/>
          <p:nvPr/>
        </p:nvSpPr>
        <p:spPr>
          <a:xfrm>
            <a:off x="7452360" y="3904488"/>
            <a:ext cx="3657600" cy="694944"/>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knew, slipped = .03 / .59 = 0.051</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learned = .051 + .949·.15 = 0.19</a:t>
            </a:r>
            <a:endParaRPr lang="en-US" sz="1300" dirty="0"/>
          </a:p>
        </p:txBody>
      </p:sp>
      <p:sp>
        <p:nvSpPr>
          <p:cNvPr id="12" name="text-264"/>
          <p:cNvSpPr txBox="1"/>
          <p:nvPr/>
        </p:nvSpPr>
        <p:spPr>
          <a:xfrm>
            <a:off x="7223760" y="4892040"/>
            <a:ext cx="4114800" cy="822960"/>
          </a:xfrm>
          <a:prstGeom prst="rect">
            <a:avLst/>
          </a:prstGeom>
          <a:noFill/>
          <a:ln/>
        </p:spPr>
        <p:txBody>
          <a:bodyPr wrap="square" lIns="0" tIns="0" rIns="0" bIns="0" rtlCol="0" anchor="t"/>
          <a:lstStyle/>
          <a:p>
            <a:pPr indent="0" marL="0">
              <a:buNone/>
            </a:pPr>
            <a:r>
              <a:rPr lang="en-US" sz="1400" i="1" dirty="0">
                <a:solidFill>
                  <a:srgbClr val="1A47A8"/>
                </a:solidFill>
                <a:latin typeface="Calibri" pitchFamily="34" charset="0"/>
                <a:ea typeface="Calibri" pitchFamily="34" charset="-122"/>
                <a:cs typeface="Calibri" pitchFamily="34" charset="-120"/>
              </a:rPr>
              <a:t>A True/False right answer moves mastery less (0.54): a guess explains more of it.</a:t>
            </a:r>
            <a:endParaRPr lang="en-US" sz="14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Scoring is computed and logged — not yet acted on</a:t>
            </a:r>
            <a:endParaRPr lang="en-US" sz="3000" dirty="0"/>
          </a:p>
        </p:txBody>
      </p:sp>
      <p:sp>
        <p:nvSpPr>
          <p:cNvPr id="3" name="badge-265"/>
          <p:cNvSpPr/>
          <p:nvPr/>
        </p:nvSpPr>
        <p:spPr>
          <a:xfrm>
            <a:off x="548640" y="1463040"/>
            <a:ext cx="731520" cy="731520"/>
          </a:xfrm>
          <a:prstGeom prst="ellipse">
            <a:avLst/>
          </a:prstGeom>
          <a:solidFill>
            <a:srgbClr val="E8833A"/>
          </a:solidFill>
          <a:ln w="12700">
            <a:solidFill>
              <a:srgbClr val="E8833A"/>
            </a:solidFill>
            <a:prstDash val="solid"/>
          </a:ln>
        </p:spPr>
      </p:sp>
      <p:pic>
        <p:nvPicPr>
          <p:cNvPr id="4" name="icon-266" descr="preencoded.png">    </p:cNvPr>
          <p:cNvPicPr>
            <a:picLocks noChangeAspect="1"/>
          </p:cNvPicPr>
          <p:nvPr/>
        </p:nvPicPr>
        <p:blipFill>
          <a:blip r:embed="rId1"/>
          <a:stretch>
            <a:fillRect/>
          </a:stretch>
        </p:blipFill>
        <p:spPr>
          <a:xfrm>
            <a:off x="709574" y="1623974"/>
            <a:ext cx="409651" cy="409651"/>
          </a:xfrm>
          <a:prstGeom prst="rect">
            <a:avLst/>
          </a:prstGeom>
        </p:spPr>
      </p:pic>
      <p:sp>
        <p:nvSpPr>
          <p:cNvPr id="5" name="text-267"/>
          <p:cNvSpPr txBox="1"/>
          <p:nvPr/>
        </p:nvSpPr>
        <p:spPr>
          <a:xfrm>
            <a:off x="1463040" y="1417320"/>
            <a:ext cx="4480560" cy="2011680"/>
          </a:xfrm>
          <a:prstGeom prst="rect">
            <a:avLst/>
          </a:prstGeom>
          <a:noFill/>
          <a:ln/>
        </p:spPr>
        <p:txBody>
          <a:bodyPr wrap="square" lIns="0" tIns="0" rIns="0" bIns="0" rtlCol="0" anchor="t"/>
          <a:lstStyle/>
          <a:p>
            <a:pPr indent="0" marL="0">
              <a:buNone/>
            </a:pPr>
            <a:r>
              <a:rPr lang="en-US" sz="2000" b="1" dirty="0">
                <a:solidFill>
                  <a:srgbClr val="0A1B3D"/>
                </a:solidFill>
                <a:latin typeface="Calibri" pitchFamily="34" charset="0"/>
                <a:ea typeface="Calibri" pitchFamily="34" charset="-122"/>
                <a:cs typeface="Calibri" pitchFamily="34" charset="-120"/>
              </a:rPr>
              <a:t>Shadow mode</a:t>
            </a:r>
            <a:endParaRPr lang="en-US" sz="1400" dirty="0"/>
          </a:p>
          <a:p>
            <a:pPr indent="0" marL="0">
              <a:buNone/>
            </a:pPr>
            <a:r>
              <a:rPr lang="en-US" sz="1500" dirty="0">
                <a:solidFill>
                  <a:srgbClr val="14161A"/>
                </a:solidFill>
                <a:latin typeface="Calibri" pitchFamily="34" charset="0"/>
                <a:ea typeface="Calibri" pitchFamily="34" charset="-122"/>
                <a:cs typeface="Calibri" pitchFamily="34" charset="-120"/>
              </a:rPr>
              <a:t>During calibration no rule reads mastery. It is estimated on every answer and stored, so the data reflects the students, not the system's guesses about them.</a:t>
            </a:r>
            <a:endParaRPr lang="en-US" sz="1400" dirty="0"/>
          </a:p>
        </p:txBody>
      </p:sp>
      <p:sp>
        <p:nvSpPr>
          <p:cNvPr id="6" name="card-268"/>
          <p:cNvSpPr/>
          <p:nvPr/>
        </p:nvSpPr>
        <p:spPr>
          <a:xfrm>
            <a:off x="548640" y="3611880"/>
            <a:ext cx="5394960" cy="2194560"/>
          </a:xfrm>
          <a:prstGeom prst="roundRect">
            <a:avLst>
              <a:gd name="adj" fmla="val 5000"/>
            </a:avLst>
          </a:prstGeom>
          <a:solidFill>
            <a:srgbClr val="DCE8FD"/>
          </a:solidFill>
          <a:ln w="12700">
            <a:solidFill>
              <a:srgbClr val="DCE8FD"/>
            </a:solidFill>
            <a:prstDash val="solid"/>
          </a:ln>
        </p:spPr>
      </p:sp>
      <p:sp>
        <p:nvSpPr>
          <p:cNvPr id="7" name="text-269"/>
          <p:cNvSpPr txBox="1"/>
          <p:nvPr/>
        </p:nvSpPr>
        <p:spPr>
          <a:xfrm>
            <a:off x="822960" y="3794760"/>
            <a:ext cx="4846320" cy="1828800"/>
          </a:xfrm>
          <a:prstGeom prst="rect">
            <a:avLst/>
          </a:prstGeom>
          <a:noFill/>
          <a:ln/>
        </p:spPr>
        <p:txBody>
          <a:bodyPr wrap="square" lIns="0" tIns="0" rIns="0" bIns="0" rtlCol="0" anchor="t"/>
          <a:lstStyle/>
          <a:p>
            <a:pPr indent="0" marL="0">
              <a:buNone/>
            </a:pPr>
            <a:r>
              <a:rPr lang="en-US" sz="1600" b="1" dirty="0">
                <a:solidFill>
                  <a:srgbClr val="0A1B3D"/>
                </a:solidFill>
                <a:latin typeface="Calibri" pitchFamily="34" charset="0"/>
                <a:ea typeface="Calibri" pitchFamily="34" charset="-122"/>
                <a:cs typeface="Calibri" pitchFamily="34" charset="-120"/>
              </a:rPr>
              <a:t>How the estimate is validated later</a:t>
            </a:r>
            <a:endParaRPr lang="en-US" sz="1400" dirty="0"/>
          </a:p>
          <a:p>
            <a:pPr indent="0" marL="0">
              <a:buNone/>
            </a:pPr>
            <a:r>
              <a:rPr lang="en-US" sz="1400" dirty="0">
                <a:solidFill>
                  <a:srgbClr val="14161A"/>
                </a:solidFill>
                <a:latin typeface="Calibri" pitchFamily="34" charset="0"/>
                <a:ea typeface="Calibri" pitchFamily="34" charset="-122"/>
                <a:cs typeface="Calibri" pitchFamily="34" charset="-120"/>
              </a:rPr>
              <a:t>Every Decision pairs predicted_correct with what actually happened next — accuracy, AUC and calibration of the model can be measured from the logs alone.</a:t>
            </a:r>
            <a:endParaRPr lang="en-US" sz="1400" dirty="0"/>
          </a:p>
        </p:txBody>
      </p:sp>
      <p:sp>
        <p:nvSpPr>
          <p:cNvPr id="8" name="text-270"/>
          <p:cNvSpPr txBox="1"/>
          <p:nvPr/>
        </p:nvSpPr>
        <p:spPr>
          <a:xfrm>
            <a:off x="6355080" y="1417320"/>
            <a:ext cx="5212080" cy="411480"/>
          </a:xfrm>
          <a:prstGeom prst="rect">
            <a:avLst/>
          </a:prstGeom>
          <a:noFill/>
          <a:ln/>
        </p:spPr>
        <p:txBody>
          <a:bodyPr wrap="square" lIns="0" tIns="0" rIns="0" bIns="0" rtlCol="0" anchor="t"/>
          <a:lstStyle/>
          <a:p>
            <a:pPr indent="0" marL="0">
              <a:buNone/>
            </a:pPr>
            <a:r>
              <a:rPr lang="en-US" sz="1800" b="1" dirty="0">
                <a:solidFill>
                  <a:srgbClr val="0A1B3D"/>
                </a:solidFill>
                <a:latin typeface="Cambria" pitchFamily="34" charset="0"/>
                <a:ea typeface="Cambria" pitchFamily="34" charset="-122"/>
                <a:cs typeface="Cambria" pitchFamily="34" charset="-120"/>
              </a:rPr>
              <a:t>Decision — one row per answer</a:t>
            </a:r>
            <a:endParaRPr lang="en-US" sz="1800" dirty="0"/>
          </a:p>
        </p:txBody>
      </p:sp>
      <p:sp>
        <p:nvSpPr>
          <p:cNvPr id="9" name="card-271"/>
          <p:cNvSpPr/>
          <p:nvPr/>
        </p:nvSpPr>
        <p:spPr>
          <a:xfrm>
            <a:off x="6355080" y="1920240"/>
            <a:ext cx="5257800" cy="658368"/>
          </a:xfrm>
          <a:prstGeom prst="roundRect">
            <a:avLst>
              <a:gd name="adj" fmla="val 16667"/>
            </a:avLst>
          </a:prstGeom>
          <a:solidFill>
            <a:srgbClr val="EFF4FE"/>
          </a:solidFill>
          <a:ln w="12700">
            <a:solidFill>
              <a:srgbClr val="EFF4FE"/>
            </a:solidFill>
            <a:prstDash val="solid"/>
          </a:ln>
        </p:spPr>
      </p:sp>
      <p:sp>
        <p:nvSpPr>
          <p:cNvPr id="10" name="text-272"/>
          <p:cNvSpPr txBox="1"/>
          <p:nvPr/>
        </p:nvSpPr>
        <p:spPr>
          <a:xfrm>
            <a:off x="6537960" y="1975104"/>
            <a:ext cx="4937760" cy="566928"/>
          </a:xfrm>
          <a:prstGeom prst="rect">
            <a:avLst/>
          </a:prstGeom>
          <a:noFill/>
          <a:ln/>
        </p:spPr>
        <p:txBody>
          <a:bodyPr wrap="square" lIns="0" tIns="0" rIns="0" bIns="0" rtlCol="0" anchor="t"/>
          <a:lstStyle/>
          <a:p>
            <a:pPr indent="0" marL="0">
              <a:buNone/>
            </a:pPr>
            <a:r>
              <a:rPr lang="en-US" sz="1300" b="1" dirty="0">
                <a:solidFill>
                  <a:srgbClr val="1A47A8"/>
                </a:solidFill>
                <a:latin typeface="Courier New" pitchFamily="34" charset="0"/>
                <a:ea typeface="Courier New" pitchFamily="34" charset="-122"/>
                <a:cs typeface="Courier New" pitchFamily="34" charset="-120"/>
              </a:rPr>
              <a:t>predicted_correct</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BKT's P(correct) before the answer</a:t>
            </a:r>
            <a:endParaRPr lang="en-US" sz="1400" dirty="0"/>
          </a:p>
        </p:txBody>
      </p:sp>
      <p:sp>
        <p:nvSpPr>
          <p:cNvPr id="11" name="card-273"/>
          <p:cNvSpPr/>
          <p:nvPr/>
        </p:nvSpPr>
        <p:spPr>
          <a:xfrm>
            <a:off x="6355080" y="2697480"/>
            <a:ext cx="5257800" cy="658368"/>
          </a:xfrm>
          <a:prstGeom prst="roundRect">
            <a:avLst>
              <a:gd name="adj" fmla="val 16667"/>
            </a:avLst>
          </a:prstGeom>
          <a:solidFill>
            <a:srgbClr val="FFFFFF"/>
          </a:solidFill>
          <a:ln w="12700">
            <a:solidFill>
              <a:srgbClr val="FFFFFF"/>
            </a:solidFill>
            <a:prstDash val="solid"/>
          </a:ln>
        </p:spPr>
      </p:sp>
      <p:sp>
        <p:nvSpPr>
          <p:cNvPr id="12" name="text-274"/>
          <p:cNvSpPr txBox="1"/>
          <p:nvPr/>
        </p:nvSpPr>
        <p:spPr>
          <a:xfrm>
            <a:off x="6537960" y="2752344"/>
            <a:ext cx="4937760" cy="566928"/>
          </a:xfrm>
          <a:prstGeom prst="rect">
            <a:avLst/>
          </a:prstGeom>
          <a:noFill/>
          <a:ln/>
        </p:spPr>
        <p:txBody>
          <a:bodyPr wrap="square" lIns="0" tIns="0" rIns="0" bIns="0" rtlCol="0" anchor="t"/>
          <a:lstStyle/>
          <a:p>
            <a:pPr indent="0" marL="0">
              <a:buNone/>
            </a:pPr>
            <a:r>
              <a:rPr lang="en-US" sz="1300" b="1" dirty="0">
                <a:solidFill>
                  <a:srgbClr val="1A47A8"/>
                </a:solidFill>
                <a:latin typeface="Courier New" pitchFamily="34" charset="0"/>
                <a:ea typeface="Courier New" pitchFamily="34" charset="-122"/>
                <a:cs typeface="Courier New" pitchFamily="34" charset="-120"/>
              </a:rPr>
              <a:t>mastery_before → mastery_after</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the concept estimate either side</a:t>
            </a:r>
            <a:endParaRPr lang="en-US" sz="1400" dirty="0"/>
          </a:p>
        </p:txBody>
      </p:sp>
      <p:sp>
        <p:nvSpPr>
          <p:cNvPr id="13" name="card-275"/>
          <p:cNvSpPr/>
          <p:nvPr/>
        </p:nvSpPr>
        <p:spPr>
          <a:xfrm>
            <a:off x="6355080" y="3474720"/>
            <a:ext cx="5257800" cy="658368"/>
          </a:xfrm>
          <a:prstGeom prst="roundRect">
            <a:avLst>
              <a:gd name="adj" fmla="val 16667"/>
            </a:avLst>
          </a:prstGeom>
          <a:solidFill>
            <a:srgbClr val="EFF4FE"/>
          </a:solidFill>
          <a:ln w="12700">
            <a:solidFill>
              <a:srgbClr val="EFF4FE"/>
            </a:solidFill>
            <a:prstDash val="solid"/>
          </a:ln>
        </p:spPr>
      </p:sp>
      <p:sp>
        <p:nvSpPr>
          <p:cNvPr id="14" name="text-276"/>
          <p:cNvSpPr txBox="1"/>
          <p:nvPr/>
        </p:nvSpPr>
        <p:spPr>
          <a:xfrm>
            <a:off x="6537960" y="3529584"/>
            <a:ext cx="4937760" cy="566928"/>
          </a:xfrm>
          <a:prstGeom prst="rect">
            <a:avLst/>
          </a:prstGeom>
          <a:noFill/>
          <a:ln/>
        </p:spPr>
        <p:txBody>
          <a:bodyPr wrap="square" lIns="0" tIns="0" rIns="0" bIns="0" rtlCol="0" anchor="t"/>
          <a:lstStyle/>
          <a:p>
            <a:pPr indent="0" marL="0">
              <a:buNone/>
            </a:pPr>
            <a:r>
              <a:rPr lang="en-US" sz="1300" b="1" dirty="0">
                <a:solidFill>
                  <a:srgbClr val="1A47A8"/>
                </a:solidFill>
                <a:latin typeface="Courier New" pitchFamily="34" charset="0"/>
                <a:ea typeface="Courier New" pitchFamily="34" charset="-122"/>
                <a:cs typeface="Courier New" pitchFamily="34" charset="-120"/>
              </a:rPr>
              <a:t>p_guess_used</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0.20 or 0.45, by format</a:t>
            </a:r>
            <a:endParaRPr lang="en-US" sz="1400" dirty="0"/>
          </a:p>
        </p:txBody>
      </p:sp>
      <p:sp>
        <p:nvSpPr>
          <p:cNvPr id="15" name="card-277"/>
          <p:cNvSpPr/>
          <p:nvPr/>
        </p:nvSpPr>
        <p:spPr>
          <a:xfrm>
            <a:off x="6355080" y="4251960"/>
            <a:ext cx="5257800" cy="658368"/>
          </a:xfrm>
          <a:prstGeom prst="roundRect">
            <a:avLst>
              <a:gd name="adj" fmla="val 16667"/>
            </a:avLst>
          </a:prstGeom>
          <a:solidFill>
            <a:srgbClr val="FFFFFF"/>
          </a:solidFill>
          <a:ln w="12700">
            <a:solidFill>
              <a:srgbClr val="FFFFFF"/>
            </a:solidFill>
            <a:prstDash val="solid"/>
          </a:ln>
        </p:spPr>
      </p:sp>
      <p:sp>
        <p:nvSpPr>
          <p:cNvPr id="16" name="text-278"/>
          <p:cNvSpPr txBox="1"/>
          <p:nvPr/>
        </p:nvSpPr>
        <p:spPr>
          <a:xfrm>
            <a:off x="6537960" y="4306824"/>
            <a:ext cx="4937760" cy="566928"/>
          </a:xfrm>
          <a:prstGeom prst="rect">
            <a:avLst/>
          </a:prstGeom>
          <a:noFill/>
          <a:ln/>
        </p:spPr>
        <p:txBody>
          <a:bodyPr wrap="square" lIns="0" tIns="0" rIns="0" bIns="0" rtlCol="0" anchor="t"/>
          <a:lstStyle/>
          <a:p>
            <a:pPr indent="0" marL="0">
              <a:buNone/>
            </a:pPr>
            <a:r>
              <a:rPr lang="en-US" sz="1300" b="1" dirty="0">
                <a:solidFill>
                  <a:srgbClr val="1A47A8"/>
                </a:solidFill>
                <a:latin typeface="Courier New" pitchFamily="34" charset="0"/>
                <a:ea typeface="Courier New" pitchFamily="34" charset="-122"/>
                <a:cs typeface="Courier New" pitchFamily="34" charset="-120"/>
              </a:rPr>
              <a:t>baseline_ability · baseline_calibrated</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who the student was at that moment</a:t>
            </a:r>
            <a:endParaRPr lang="en-US" sz="1400" dirty="0"/>
          </a:p>
        </p:txBody>
      </p:sp>
      <p:sp>
        <p:nvSpPr>
          <p:cNvPr id="17" name="card-279"/>
          <p:cNvSpPr/>
          <p:nvPr/>
        </p:nvSpPr>
        <p:spPr>
          <a:xfrm>
            <a:off x="6355080" y="5029200"/>
            <a:ext cx="5257800" cy="658368"/>
          </a:xfrm>
          <a:prstGeom prst="roundRect">
            <a:avLst>
              <a:gd name="adj" fmla="val 16667"/>
            </a:avLst>
          </a:prstGeom>
          <a:solidFill>
            <a:srgbClr val="EFF4FE"/>
          </a:solidFill>
          <a:ln w="12700">
            <a:solidFill>
              <a:srgbClr val="EFF4FE"/>
            </a:solidFill>
            <a:prstDash val="solid"/>
          </a:ln>
        </p:spPr>
      </p:sp>
      <p:sp>
        <p:nvSpPr>
          <p:cNvPr id="18" name="text-280"/>
          <p:cNvSpPr txBox="1"/>
          <p:nvPr/>
        </p:nvSpPr>
        <p:spPr>
          <a:xfrm>
            <a:off x="6537960" y="5084064"/>
            <a:ext cx="4937760" cy="566928"/>
          </a:xfrm>
          <a:prstGeom prst="rect">
            <a:avLst/>
          </a:prstGeom>
          <a:noFill/>
          <a:ln/>
        </p:spPr>
        <p:txBody>
          <a:bodyPr wrap="square" lIns="0" tIns="0" rIns="0" bIns="0" rtlCol="0" anchor="t"/>
          <a:lstStyle/>
          <a:p>
            <a:pPr indent="0" marL="0">
              <a:buNone/>
            </a:pPr>
            <a:r>
              <a:rPr lang="en-US" sz="1300" b="1" dirty="0">
                <a:solidFill>
                  <a:srgbClr val="1A47A8"/>
                </a:solidFill>
                <a:latin typeface="Courier New" pitchFamily="34" charset="0"/>
                <a:ea typeface="Courier New" pitchFamily="34" charset="-122"/>
                <a:cs typeface="Courier New" pitchFamily="34" charset="-120"/>
              </a:rPr>
              <a:t>action · next_step_position · next_variant</a:t>
            </a:r>
            <a:endParaRPr lang="en-US" sz="1400" dirty="0"/>
          </a:p>
          <a:p>
            <a:pPr indent="0" marL="0">
              <a:buNone/>
            </a:pPr>
            <a:r>
              <a:rPr lang="en-US" sz="1300" dirty="0">
                <a:solidFill>
                  <a:srgbClr val="14161A"/>
                </a:solidFill>
                <a:latin typeface="Calibri" pitchFamily="34" charset="0"/>
                <a:ea typeface="Calibri" pitchFamily="34" charset="-122"/>
                <a:cs typeface="Calibri" pitchFamily="34" charset="-120"/>
              </a:rPr>
              <a:t>what the engine decided</a:t>
            </a:r>
            <a:endParaRPr lang="en-US" sz="14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3 · The cold start</a:t>
            </a: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Every student starts as a stranger — Input → Process → Output</a:t>
            </a:r>
            <a:endParaRPr lang="en-US" sz="18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A3F6"/>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cold start as Input → Process → Output</a:t>
            </a:r>
            <a:endParaRPr lang="en-US" sz="3000" dirty="0"/>
          </a:p>
        </p:txBody>
      </p:sp>
      <p:sp>
        <p:nvSpPr>
          <p:cNvPr id="3" name="card-281"/>
          <p:cNvSpPr/>
          <p:nvPr/>
        </p:nvSpPr>
        <p:spPr>
          <a:xfrm>
            <a:off x="548640" y="1417320"/>
            <a:ext cx="3429000" cy="4434840"/>
          </a:xfrm>
          <a:prstGeom prst="roundRect">
            <a:avLst>
              <a:gd name="adj" fmla="val 3200"/>
            </a:avLst>
          </a:prstGeom>
          <a:solidFill>
            <a:srgbClr val="EFF4FE"/>
          </a:solidFill>
          <a:ln w="12700">
            <a:solidFill>
              <a:srgbClr val="EFF4FE"/>
            </a:solidFill>
            <a:prstDash val="solid"/>
          </a:ln>
        </p:spPr>
      </p:sp>
      <p:sp>
        <p:nvSpPr>
          <p:cNvPr id="4" name="badge-282"/>
          <p:cNvSpPr/>
          <p:nvPr/>
        </p:nvSpPr>
        <p:spPr>
          <a:xfrm>
            <a:off x="822960" y="1645920"/>
            <a:ext cx="640080" cy="640080"/>
          </a:xfrm>
          <a:prstGeom prst="ellipse">
            <a:avLst/>
          </a:prstGeom>
          <a:solidFill>
            <a:srgbClr val="1D5FD6"/>
          </a:solidFill>
          <a:ln w="12700">
            <a:solidFill>
              <a:srgbClr val="1D5FD6"/>
            </a:solidFill>
            <a:prstDash val="solid"/>
          </a:ln>
        </p:spPr>
      </p:sp>
      <p:pic>
        <p:nvPicPr>
          <p:cNvPr id="5" name="icon-283" descr="preencoded.png">    </p:cNvPr>
          <p:cNvPicPr>
            <a:picLocks noChangeAspect="1"/>
          </p:cNvPicPr>
          <p:nvPr/>
        </p:nvPicPr>
        <p:blipFill>
          <a:blip r:embed="rId1"/>
          <a:stretch>
            <a:fillRect/>
          </a:stretch>
        </p:blipFill>
        <p:spPr>
          <a:xfrm>
            <a:off x="963778" y="1786738"/>
            <a:ext cx="358445" cy="358445"/>
          </a:xfrm>
          <a:prstGeom prst="rect">
            <a:avLst/>
          </a:prstGeom>
        </p:spPr>
      </p:pic>
      <p:sp>
        <p:nvSpPr>
          <p:cNvPr id="6" name="text-284"/>
          <p:cNvSpPr txBox="1"/>
          <p:nvPr/>
        </p:nvSpPr>
        <p:spPr>
          <a:xfrm>
            <a:off x="1600200" y="1691640"/>
            <a:ext cx="2194560" cy="548640"/>
          </a:xfrm>
          <a:prstGeom prst="rect">
            <a:avLst/>
          </a:prstGeom>
          <a:noFill/>
          <a:ln/>
        </p:spPr>
        <p:txBody>
          <a:bodyPr wrap="square" lIns="0" tIns="0" rIns="0" bIns="0" rtlCol="0" anchor="ctr"/>
          <a:lstStyle/>
          <a:p>
            <a:pPr indent="0" marL="0">
              <a:buNone/>
            </a:pPr>
            <a:r>
              <a:rPr lang="en-US" sz="2400" b="1" dirty="0">
                <a:solidFill>
                  <a:srgbClr val="0A1B3D"/>
                </a:solidFill>
                <a:latin typeface="Cambria" pitchFamily="34" charset="0"/>
                <a:ea typeface="Cambria" pitchFamily="34" charset="-122"/>
                <a:cs typeface="Cambria" pitchFamily="34" charset="-120"/>
              </a:rPr>
              <a:t>Input</a:t>
            </a:r>
            <a:endParaRPr lang="en-US" sz="2400" dirty="0"/>
          </a:p>
        </p:txBody>
      </p:sp>
      <p:sp>
        <p:nvSpPr>
          <p:cNvPr id="7" name="text-285"/>
          <p:cNvSpPr txBox="1"/>
          <p:nvPr/>
        </p:nvSpPr>
        <p:spPr>
          <a:xfrm>
            <a:off x="822960" y="2514600"/>
            <a:ext cx="292608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4161A"/>
                </a:solidFill>
                <a:latin typeface="Calibri" pitchFamily="34" charset="0"/>
                <a:ea typeface="Calibri" pitchFamily="34" charset="-122"/>
                <a:cs typeface="Calibri" pitchFamily="34" charset="-120"/>
              </a:rPr>
              <a:t>Population weights (AdaptiveConfig): L₀ 0.30, G, S, T</a:t>
            </a:r>
            <a:endParaRPr lang="en-US" sz="1400" dirty="0"/>
          </a:p>
          <a:p>
            <a:pPr marL="342900" indent="-342900">
              <a:spcAft>
                <a:spcPts val="800"/>
              </a:spcAft>
              <a:buSzPct val="100000"/>
              <a:buChar char="•"/>
            </a:pPr>
            <a:r>
              <a:rPr lang="en-US" sz="1400" dirty="0">
                <a:solidFill>
                  <a:srgbClr val="14161A"/>
                </a:solidFill>
                <a:latin typeface="Calibri" pitchFamily="34" charset="0"/>
                <a:ea typeface="Calibri" pitchFamily="34" charset="-122"/>
                <a:cs typeface="Calibri" pitchFamily="34" charset="-120"/>
              </a:rPr>
              <a:t>The student's answers: total and correct</a:t>
            </a:r>
            <a:endParaRPr lang="en-US" sz="1400" dirty="0"/>
          </a:p>
          <a:p>
            <a:pPr marL="342900" indent="-342900">
              <a:spcAft>
                <a:spcPts val="800"/>
              </a:spcAft>
              <a:buSzPct val="100000"/>
              <a:buChar char="•"/>
            </a:pPr>
            <a:r>
              <a:rPr lang="en-US" sz="1400" dirty="0">
                <a:solidFill>
                  <a:srgbClr val="14161A"/>
                </a:solidFill>
                <a:latin typeface="Calibri" pitchFamily="34" charset="0"/>
                <a:ea typeface="Calibri" pitchFamily="34" charset="-122"/>
                <a:cs typeface="Calibri" pitchFamily="34" charset="-120"/>
              </a:rPr>
              <a:t>First answers on each new concept</a:t>
            </a:r>
            <a:endParaRPr lang="en-US" sz="1400" dirty="0"/>
          </a:p>
          <a:p>
            <a:pPr marL="342900" indent="-342900">
              <a:spcAft>
                <a:spcPts val="800"/>
              </a:spcAft>
              <a:buSzPct val="100000"/>
              <a:buChar char="•"/>
            </a:pPr>
            <a:r>
              <a:rPr lang="en-US" sz="1400" dirty="0">
                <a:solidFill>
                  <a:srgbClr val="14161A"/>
                </a:solidFill>
                <a:latin typeface="Calibri" pitchFamily="34" charset="0"/>
                <a:ea typeface="Calibri" pitchFamily="34" charset="-122"/>
                <a:cs typeface="Calibri" pitchFamily="34" charset="-120"/>
              </a:rPr>
              <a:t>Mastery of the concept's prerequisites</a:t>
            </a:r>
            <a:endParaRPr lang="en-US" sz="1400" dirty="0"/>
          </a:p>
        </p:txBody>
      </p:sp>
      <p:sp>
        <p:nvSpPr>
          <p:cNvPr id="8" name="arrow-286"/>
          <p:cNvSpPr/>
          <p:nvPr/>
        </p:nvSpPr>
        <p:spPr>
          <a:xfrm>
            <a:off x="4005072" y="3611880"/>
            <a:ext cx="310896" cy="0"/>
          </a:xfrm>
          <a:prstGeom prst="line">
            <a:avLst/>
          </a:prstGeom>
          <a:noFill/>
          <a:ln w="25400">
            <a:solidFill>
              <a:srgbClr val="0A1B3D"/>
            </a:solidFill>
            <a:prstDash val="solid"/>
            <a:tailEnd type="triangle"/>
          </a:ln>
        </p:spPr>
      </p:sp>
      <p:sp>
        <p:nvSpPr>
          <p:cNvPr id="9" name="card-287"/>
          <p:cNvSpPr/>
          <p:nvPr/>
        </p:nvSpPr>
        <p:spPr>
          <a:xfrm>
            <a:off x="4343400" y="1417320"/>
            <a:ext cx="3429000" cy="4434840"/>
          </a:xfrm>
          <a:prstGeom prst="roundRect">
            <a:avLst>
              <a:gd name="adj" fmla="val 3200"/>
            </a:avLst>
          </a:prstGeom>
          <a:solidFill>
            <a:srgbClr val="DCE8FD"/>
          </a:solidFill>
          <a:ln w="12700">
            <a:solidFill>
              <a:srgbClr val="DCE8FD"/>
            </a:solidFill>
            <a:prstDash val="solid"/>
          </a:ln>
        </p:spPr>
      </p:sp>
      <p:sp>
        <p:nvSpPr>
          <p:cNvPr id="10" name="badge-288"/>
          <p:cNvSpPr/>
          <p:nvPr/>
        </p:nvSpPr>
        <p:spPr>
          <a:xfrm>
            <a:off x="4617720" y="1645920"/>
            <a:ext cx="640080" cy="640080"/>
          </a:xfrm>
          <a:prstGeom prst="ellipse">
            <a:avLst/>
          </a:prstGeom>
          <a:solidFill>
            <a:srgbClr val="E8833A"/>
          </a:solidFill>
          <a:ln w="12700">
            <a:solidFill>
              <a:srgbClr val="E8833A"/>
            </a:solidFill>
            <a:prstDash val="solid"/>
          </a:ln>
        </p:spPr>
      </p:sp>
      <p:pic>
        <p:nvPicPr>
          <p:cNvPr id="11" name="icon-289" descr="preencoded.png">    </p:cNvPr>
          <p:cNvPicPr>
            <a:picLocks noChangeAspect="1"/>
          </p:cNvPicPr>
          <p:nvPr/>
        </p:nvPicPr>
        <p:blipFill>
          <a:blip r:embed="rId2"/>
          <a:stretch>
            <a:fillRect/>
          </a:stretch>
        </p:blipFill>
        <p:spPr>
          <a:xfrm>
            <a:off x="4758538" y="1786738"/>
            <a:ext cx="358445" cy="358445"/>
          </a:xfrm>
          <a:prstGeom prst="rect">
            <a:avLst/>
          </a:prstGeom>
        </p:spPr>
      </p:pic>
      <p:sp>
        <p:nvSpPr>
          <p:cNvPr id="12" name="text-290"/>
          <p:cNvSpPr txBox="1"/>
          <p:nvPr/>
        </p:nvSpPr>
        <p:spPr>
          <a:xfrm>
            <a:off x="5394960" y="1691640"/>
            <a:ext cx="2194560" cy="548640"/>
          </a:xfrm>
          <a:prstGeom prst="rect">
            <a:avLst/>
          </a:prstGeom>
          <a:noFill/>
          <a:ln/>
        </p:spPr>
        <p:txBody>
          <a:bodyPr wrap="square" lIns="0" tIns="0" rIns="0" bIns="0" rtlCol="0" anchor="ctr"/>
          <a:lstStyle/>
          <a:p>
            <a:pPr indent="0" marL="0">
              <a:buNone/>
            </a:pPr>
            <a:r>
              <a:rPr lang="en-US" sz="2400" b="1" dirty="0">
                <a:solidFill>
                  <a:srgbClr val="0A1B3D"/>
                </a:solidFill>
                <a:latin typeface="Cambria" pitchFamily="34" charset="0"/>
                <a:ea typeface="Cambria" pitchFamily="34" charset="-122"/>
                <a:cs typeface="Cambria" pitchFamily="34" charset="-120"/>
              </a:rPr>
              <a:t>Process</a:t>
            </a:r>
            <a:endParaRPr lang="en-US" sz="2400" dirty="0"/>
          </a:p>
        </p:txBody>
      </p:sp>
      <p:sp>
        <p:nvSpPr>
          <p:cNvPr id="13" name="text-291"/>
          <p:cNvSpPr txBox="1"/>
          <p:nvPr/>
        </p:nvSpPr>
        <p:spPr>
          <a:xfrm>
            <a:off x="4617720" y="2514600"/>
            <a:ext cx="292608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4161A"/>
                </a:solidFill>
                <a:latin typeface="Calibri" pitchFamily="34" charset="0"/>
                <a:ea typeface="Calibri" pitchFamily="34" charset="-122"/>
                <a:cs typeface="Calibri" pitchFamily="34" charset="-120"/>
              </a:rPr>
              <a:t>Shrinkage: blend the population with the student, weighted by evidence</a:t>
            </a:r>
            <a:endParaRPr lang="en-US" sz="1400" dirty="0"/>
          </a:p>
          <a:p>
            <a:pPr marL="342900" indent="-342900">
              <a:spcAft>
                <a:spcPts val="800"/>
              </a:spcAft>
              <a:buSzPct val="100000"/>
              <a:buChar char="•"/>
            </a:pPr>
            <a:r>
              <a:rPr lang="en-US" sz="1400" dirty="0">
                <a:solidFill>
                  <a:srgbClr val="14161A"/>
                </a:solidFill>
                <a:latin typeface="Calibri" pitchFamily="34" charset="0"/>
                <a:ea typeface="Calibri" pitchFamily="34" charset="-122"/>
                <a:cs typeface="Calibri" pitchFamily="34" charset="-120"/>
              </a:rPr>
              <a:t>Invert first-try rate into the student's own L₀</a:t>
            </a:r>
            <a:endParaRPr lang="en-US" sz="1400" dirty="0"/>
          </a:p>
          <a:p>
            <a:pPr marL="342900" indent="-342900">
              <a:spcAft>
                <a:spcPts val="800"/>
              </a:spcAft>
              <a:buSzPct val="100000"/>
              <a:buChar char="•"/>
            </a:pPr>
            <a:r>
              <a:rPr lang="en-US" sz="1400" dirty="0">
                <a:solidFill>
                  <a:srgbClr val="14161A"/>
                </a:solidFill>
                <a:latin typeface="Calibri" pitchFamily="34" charset="0"/>
                <a:ea typeface="Calibri" pitchFamily="34" charset="-122"/>
                <a:cs typeface="Calibri" pitchFamily="34" charset="-120"/>
              </a:rPr>
              <a:t>Margin of error (95%) of the ability estimate</a:t>
            </a:r>
            <a:endParaRPr lang="en-US" sz="1400" dirty="0"/>
          </a:p>
          <a:p>
            <a:pPr marL="342900" indent="-342900">
              <a:spcAft>
                <a:spcPts val="800"/>
              </a:spcAft>
              <a:buSzPct val="100000"/>
              <a:buChar char="•"/>
            </a:pPr>
            <a:r>
              <a:rPr lang="en-US" sz="1400" dirty="0">
                <a:solidFill>
                  <a:srgbClr val="14161A"/>
                </a:solidFill>
                <a:latin typeface="Calibri" pitchFamily="34" charset="0"/>
                <a:ea typeface="Calibri" pitchFamily="34" charset="-122"/>
                <a:cs typeface="Calibri" pitchFamily="34" charset="-120"/>
              </a:rPr>
              <a:t>Calibrated once the margin ≤ ±0.15</a:t>
            </a:r>
            <a:endParaRPr lang="en-US" sz="1400" dirty="0"/>
          </a:p>
        </p:txBody>
      </p:sp>
      <p:sp>
        <p:nvSpPr>
          <p:cNvPr id="14" name="arrow-292"/>
          <p:cNvSpPr/>
          <p:nvPr/>
        </p:nvSpPr>
        <p:spPr>
          <a:xfrm>
            <a:off x="7799832" y="3611880"/>
            <a:ext cx="310896" cy="0"/>
          </a:xfrm>
          <a:prstGeom prst="line">
            <a:avLst/>
          </a:prstGeom>
          <a:noFill/>
          <a:ln w="25400">
            <a:solidFill>
              <a:srgbClr val="0A1B3D"/>
            </a:solidFill>
            <a:prstDash val="solid"/>
            <a:tailEnd type="triangle"/>
          </a:ln>
        </p:spPr>
      </p:sp>
      <p:sp>
        <p:nvSpPr>
          <p:cNvPr id="15" name="card-293"/>
          <p:cNvSpPr/>
          <p:nvPr/>
        </p:nvSpPr>
        <p:spPr>
          <a:xfrm>
            <a:off x="8138160" y="1417320"/>
            <a:ext cx="3429000" cy="4434840"/>
          </a:xfrm>
          <a:prstGeom prst="roundRect">
            <a:avLst>
              <a:gd name="adj" fmla="val 3200"/>
            </a:avLst>
          </a:prstGeom>
          <a:solidFill>
            <a:srgbClr val="EFF4FE"/>
          </a:solidFill>
          <a:ln w="12700">
            <a:solidFill>
              <a:srgbClr val="EFF4FE"/>
            </a:solidFill>
            <a:prstDash val="solid"/>
          </a:ln>
        </p:spPr>
      </p:sp>
      <p:sp>
        <p:nvSpPr>
          <p:cNvPr id="16" name="badge-294"/>
          <p:cNvSpPr/>
          <p:nvPr/>
        </p:nvSpPr>
        <p:spPr>
          <a:xfrm>
            <a:off x="8412480" y="1645920"/>
            <a:ext cx="640080" cy="640080"/>
          </a:xfrm>
          <a:prstGeom prst="ellipse">
            <a:avLst/>
          </a:prstGeom>
          <a:solidFill>
            <a:srgbClr val="1D5FD6"/>
          </a:solidFill>
          <a:ln w="12700">
            <a:solidFill>
              <a:srgbClr val="1D5FD6"/>
            </a:solidFill>
            <a:prstDash val="solid"/>
          </a:ln>
        </p:spPr>
      </p:sp>
      <p:pic>
        <p:nvPicPr>
          <p:cNvPr id="17" name="icon-295" descr="preencoded.png">    </p:cNvPr>
          <p:cNvPicPr>
            <a:picLocks noChangeAspect="1"/>
          </p:cNvPicPr>
          <p:nvPr/>
        </p:nvPicPr>
        <p:blipFill>
          <a:blip r:embed="rId3"/>
          <a:stretch>
            <a:fillRect/>
          </a:stretch>
        </p:blipFill>
        <p:spPr>
          <a:xfrm>
            <a:off x="8553298" y="1786738"/>
            <a:ext cx="358445" cy="358445"/>
          </a:xfrm>
          <a:prstGeom prst="rect">
            <a:avLst/>
          </a:prstGeom>
        </p:spPr>
      </p:pic>
      <p:sp>
        <p:nvSpPr>
          <p:cNvPr id="18" name="text-296"/>
          <p:cNvSpPr txBox="1"/>
          <p:nvPr/>
        </p:nvSpPr>
        <p:spPr>
          <a:xfrm>
            <a:off x="9189720" y="1691640"/>
            <a:ext cx="2194560" cy="548640"/>
          </a:xfrm>
          <a:prstGeom prst="rect">
            <a:avLst/>
          </a:prstGeom>
          <a:noFill/>
          <a:ln/>
        </p:spPr>
        <p:txBody>
          <a:bodyPr wrap="square" lIns="0" tIns="0" rIns="0" bIns="0" rtlCol="0" anchor="ctr"/>
          <a:lstStyle/>
          <a:p>
            <a:pPr indent="0" marL="0">
              <a:buNone/>
            </a:pPr>
            <a:r>
              <a:rPr lang="en-US" sz="2400" b="1" dirty="0">
                <a:solidFill>
                  <a:srgbClr val="0A1B3D"/>
                </a:solidFill>
                <a:latin typeface="Cambria" pitchFamily="34" charset="0"/>
                <a:ea typeface="Cambria" pitchFamily="34" charset="-122"/>
                <a:cs typeface="Cambria" pitchFamily="34" charset="-120"/>
              </a:rPr>
              <a:t>Output</a:t>
            </a:r>
            <a:endParaRPr lang="en-US" sz="2400" dirty="0"/>
          </a:p>
        </p:txBody>
      </p:sp>
      <p:sp>
        <p:nvSpPr>
          <p:cNvPr id="19" name="text-297"/>
          <p:cNvSpPr txBox="1"/>
          <p:nvPr/>
        </p:nvSpPr>
        <p:spPr>
          <a:xfrm>
            <a:off x="8412480" y="2514600"/>
            <a:ext cx="292608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4161A"/>
                </a:solidFill>
                <a:latin typeface="Calibri" pitchFamily="34" charset="0"/>
                <a:ea typeface="Calibri" pitchFamily="34" charset="-122"/>
                <a:cs typeface="Calibri" pitchFamily="34" charset="-120"/>
              </a:rPr>
              <a:t>StudentBaseline: estimated ability, estimated L₀, calibrated + when</a:t>
            </a:r>
            <a:endParaRPr lang="en-US" sz="1400" dirty="0"/>
          </a:p>
          <a:p>
            <a:pPr marL="342900" indent="-342900">
              <a:spcAft>
                <a:spcPts val="800"/>
              </a:spcAft>
              <a:buSzPct val="100000"/>
              <a:buChar char="•"/>
            </a:pPr>
            <a:r>
              <a:rPr lang="en-US" sz="1400" dirty="0">
                <a:solidFill>
                  <a:srgbClr val="14161A"/>
                </a:solidFill>
                <a:latin typeface="Calibri" pitchFamily="34" charset="0"/>
                <a:ea typeface="Calibri" pitchFamily="34" charset="-122"/>
                <a:cs typeface="Calibri" pitchFamily="34" charset="-120"/>
              </a:rPr>
              <a:t>A personalized starting mastery for every new concept</a:t>
            </a:r>
            <a:endParaRPr lang="en-US" sz="1400" dirty="0"/>
          </a:p>
          <a:p>
            <a:pPr marL="342900" indent="-342900">
              <a:spcAft>
                <a:spcPts val="800"/>
              </a:spcAft>
              <a:buSzPct val="100000"/>
              <a:buChar char="•"/>
            </a:pPr>
            <a:r>
              <a:rPr lang="en-US" sz="1400" dirty="0">
                <a:solidFill>
                  <a:srgbClr val="14161A"/>
                </a:solidFill>
                <a:latin typeface="Calibri" pitchFamily="34" charset="0"/>
                <a:ea typeface="Calibri" pitchFamily="34" charset="-122"/>
                <a:cs typeface="Calibri" pitchFamily="34" charset="-120"/>
              </a:rPr>
              <a:t>Decision rows: phase-2 training data</a:t>
            </a:r>
            <a:endParaRPr lang="en-US" sz="14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Shrinkage: trust in the student grows with evidence</a:t>
            </a:r>
            <a:endParaRPr lang="en-US" sz="3000" dirty="0"/>
          </a:p>
        </p:txBody>
      </p:sp>
      <p:sp>
        <p:nvSpPr>
          <p:cNvPr id="3" name="card-298"/>
          <p:cNvSpPr/>
          <p:nvPr/>
        </p:nvSpPr>
        <p:spPr>
          <a:xfrm>
            <a:off x="548640" y="1417320"/>
            <a:ext cx="5760720" cy="1097280"/>
          </a:xfrm>
          <a:prstGeom prst="roundRect">
            <a:avLst>
              <a:gd name="adj" fmla="val 10000"/>
            </a:avLst>
          </a:prstGeom>
          <a:solidFill>
            <a:srgbClr val="0A1B3D"/>
          </a:solidFill>
          <a:ln w="12700">
            <a:solidFill>
              <a:srgbClr val="0A1B3D"/>
            </a:solidFill>
            <a:prstDash val="solid"/>
          </a:ln>
        </p:spPr>
      </p:sp>
      <p:sp>
        <p:nvSpPr>
          <p:cNvPr id="4" name="text-299"/>
          <p:cNvSpPr txBox="1"/>
          <p:nvPr/>
        </p:nvSpPr>
        <p:spPr>
          <a:xfrm>
            <a:off x="777240" y="1527048"/>
            <a:ext cx="5303520" cy="877824"/>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estimate = (pop · k + correct) / (k + n)</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k = prior_weight = 10 answers</a:t>
            </a:r>
            <a:endParaRPr lang="en-US" sz="1500" dirty="0"/>
          </a:p>
        </p:txBody>
      </p:sp>
      <p:sp>
        <p:nvSpPr>
          <p:cNvPr id="5" name="text-300"/>
          <p:cNvSpPr txBox="1"/>
          <p:nvPr/>
        </p:nvSpPr>
        <p:spPr>
          <a:xfrm>
            <a:off x="548640" y="2743200"/>
            <a:ext cx="5760720" cy="2926080"/>
          </a:xfrm>
          <a:prstGeom prst="rect">
            <a:avLst/>
          </a:prstGeom>
          <a:noFill/>
          <a:ln/>
        </p:spPr>
        <p:txBody>
          <a:bodyPr wrap="square" lIns="0" tIns="0" rIns="0" bIns="0" rtlCol="0" anchor="t"/>
          <a:lstStyle/>
          <a:p>
            <a:pPr indent="0" marL="0">
              <a:spcAft>
                <a:spcPts val="1000"/>
              </a:spcAft>
              <a:buNone/>
            </a:pPr>
            <a:r>
              <a:rPr lang="en-US" sz="1500" dirty="0">
                <a:solidFill>
                  <a:srgbClr val="14161A"/>
                </a:solidFill>
                <a:latin typeface="Calibri" pitchFamily="34" charset="0"/>
                <a:ea typeface="Calibri" pitchFamily="34" charset="-122"/>
                <a:cs typeface="Calibri" pitchFamily="34" charset="-120"/>
              </a:rPr>
              <a:t>The population average counts as 10 imaginary answers.</a:t>
            </a:r>
            <a:endParaRPr lang="en-US" sz="1500" dirty="0"/>
          </a:p>
          <a:p>
            <a:pPr indent="0" marL="0">
              <a:spcAft>
                <a:spcPts val="1000"/>
              </a:spcAft>
              <a:buNone/>
            </a:pPr>
            <a:r>
              <a:rPr lang="en-US" sz="1500" dirty="0">
                <a:solidFill>
                  <a:srgbClr val="14161A"/>
                </a:solidFill>
                <a:latin typeface="Calibri" pitchFamily="34" charset="0"/>
                <a:ea typeface="Calibri" pitchFamily="34" charset="-122"/>
                <a:cs typeface="Calibri" pitchFamily="34" charset="-120"/>
              </a:rPr>
              <a:t>Early on it dominates, so a lucky or unlucky start cannot define a student — it pulls a 90% start down and a 10% start up, toward the middle.</a:t>
            </a:r>
            <a:endParaRPr lang="en-US" sz="1500" dirty="0"/>
          </a:p>
          <a:p>
            <a:pPr indent="0" marL="0">
              <a:spcAft>
                <a:spcPts val="1000"/>
              </a:spcAft>
              <a:buNone/>
            </a:pPr>
            <a:r>
              <a:rPr lang="en-US" sz="1500" b="1" dirty="0">
                <a:solidFill>
                  <a:srgbClr val="1A47A8"/>
                </a:solidFill>
                <a:latin typeface="Calibri" pitchFamily="34" charset="0"/>
                <a:ea typeface="Calibri" pitchFamily="34" charset="-122"/>
                <a:cs typeface="Calibri" pitchFamily="34" charset="-120"/>
              </a:rPr>
              <a:t>Example: 9 of 10 right → 0.66, not 0.90.</a:t>
            </a:r>
            <a:endParaRPr lang="en-US" sz="1500" dirty="0"/>
          </a:p>
        </p:txBody>
      </p:sp>
      <p:graphicFrame>
        <p:nvGraphicFramePr>
          <p:cNvPr id="6" name="chart-shrink" descr=""/>
          <p:cNvGraphicFramePr/>
          <p:nvPr/>
        </p:nvGraphicFramePr>
        <p:xfrm>
          <a:off x="6583680" y="1371600"/>
          <a:ext cx="5029200" cy="4480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Starting knowledge and calibration</a:t>
            </a:r>
            <a:endParaRPr lang="en-US" sz="3000" dirty="0"/>
          </a:p>
        </p:txBody>
      </p:sp>
      <p:sp>
        <p:nvSpPr>
          <p:cNvPr id="3" name="text-301"/>
          <p:cNvSpPr txBox="1"/>
          <p:nvPr/>
        </p:nvSpPr>
        <p:spPr>
          <a:xfrm>
            <a:off x="548640" y="1371600"/>
            <a:ext cx="5486400" cy="411480"/>
          </a:xfrm>
          <a:prstGeom prst="rect">
            <a:avLst/>
          </a:prstGeom>
          <a:noFill/>
          <a:ln/>
        </p:spPr>
        <p:txBody>
          <a:bodyPr wrap="square" lIns="0" tIns="0" rIns="0" bIns="0" rtlCol="0" anchor="t"/>
          <a:lstStyle/>
          <a:p>
            <a:pPr indent="0" marL="0">
              <a:buNone/>
            </a:pPr>
            <a:r>
              <a:rPr lang="en-US" sz="1900" b="1" dirty="0">
                <a:solidFill>
                  <a:srgbClr val="0A1B3D"/>
                </a:solidFill>
                <a:latin typeface="Cambria" pitchFamily="34" charset="0"/>
                <a:ea typeface="Cambria" pitchFamily="34" charset="-122"/>
                <a:cs typeface="Cambria" pitchFamily="34" charset="-120"/>
              </a:rPr>
              <a:t>The student's own L₀</a:t>
            </a:r>
            <a:endParaRPr lang="en-US" sz="1900" dirty="0"/>
          </a:p>
        </p:txBody>
      </p:sp>
      <p:sp>
        <p:nvSpPr>
          <p:cNvPr id="4" name="card-302"/>
          <p:cNvSpPr/>
          <p:nvPr/>
        </p:nvSpPr>
        <p:spPr>
          <a:xfrm>
            <a:off x="548640" y="1828800"/>
            <a:ext cx="5486400" cy="1051560"/>
          </a:xfrm>
          <a:prstGeom prst="roundRect">
            <a:avLst>
              <a:gd name="adj" fmla="val 10435"/>
            </a:avLst>
          </a:prstGeom>
          <a:solidFill>
            <a:srgbClr val="0A1B3D"/>
          </a:solidFill>
          <a:ln w="12700">
            <a:solidFill>
              <a:srgbClr val="0A1B3D"/>
            </a:solidFill>
            <a:prstDash val="solid"/>
          </a:ln>
        </p:spPr>
      </p:sp>
      <p:sp>
        <p:nvSpPr>
          <p:cNvPr id="5" name="text-303"/>
          <p:cNvSpPr txBox="1"/>
          <p:nvPr/>
        </p:nvSpPr>
        <p:spPr>
          <a:xfrm>
            <a:off x="777240" y="1938528"/>
            <a:ext cx="5029200" cy="83210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first-try rate = L₀·(1−S) + (1−L₀)·G</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L₀ = (rate − G) / (1 − S − G)</a:t>
            </a:r>
            <a:endParaRPr lang="en-US" sz="1400" dirty="0"/>
          </a:p>
        </p:txBody>
      </p:sp>
      <p:sp>
        <p:nvSpPr>
          <p:cNvPr id="6" name="text-304"/>
          <p:cNvSpPr txBox="1"/>
          <p:nvPr/>
        </p:nvSpPr>
        <p:spPr>
          <a:xfrm>
            <a:off x="548640" y="3017520"/>
            <a:ext cx="5486400" cy="1280160"/>
          </a:xfrm>
          <a:prstGeom prst="rect">
            <a:avLst/>
          </a:prstGeom>
          <a:noFill/>
          <a:ln/>
        </p:spPr>
        <p:txBody>
          <a:bodyPr wrap="square" lIns="0" tIns="0" rIns="0" bIns="0" rtlCol="0" anchor="t"/>
          <a:lstStyle/>
          <a:p>
            <a:pPr indent="0" marL="0">
              <a:spcAft>
                <a:spcPts val="800"/>
              </a:spcAft>
              <a:buNone/>
            </a:pPr>
            <a:r>
              <a:rPr lang="en-US" sz="1400" dirty="0">
                <a:solidFill>
                  <a:srgbClr val="14161A"/>
                </a:solidFill>
                <a:latin typeface="Calibri" pitchFamily="34" charset="0"/>
                <a:ea typeface="Calibri" pitchFamily="34" charset="-122"/>
                <a:cs typeface="Calibri" pitchFamily="34" charset="-120"/>
              </a:rPr>
              <a:t>Only the first answer on each new concept counts — retries and re-teaches would inflate it.</a:t>
            </a:r>
            <a:endParaRPr lang="en-US" sz="1400" dirty="0"/>
          </a:p>
          <a:p>
            <a:pPr indent="0" marL="0">
              <a:spcAft>
                <a:spcPts val="800"/>
              </a:spcAft>
              <a:buNone/>
            </a:pPr>
            <a:r>
              <a:rPr lang="en-US" sz="1400" dirty="0">
                <a:solidFill>
                  <a:srgbClr val="14161A"/>
                </a:solidFill>
                <a:latin typeface="Calibri" pitchFamily="34" charset="0"/>
                <a:ea typeface="Calibri" pitchFamily="34" charset="-122"/>
                <a:cs typeface="Calibri" pitchFamily="34" charset="-120"/>
              </a:rPr>
              <a:t>A new concept starts at the mean of the student's L₀ and their prerequisites' mastery.</a:t>
            </a:r>
            <a:endParaRPr lang="en-US" sz="1400" dirty="0"/>
          </a:p>
        </p:txBody>
      </p:sp>
      <p:sp>
        <p:nvSpPr>
          <p:cNvPr id="7" name="text-305"/>
          <p:cNvSpPr txBox="1"/>
          <p:nvPr/>
        </p:nvSpPr>
        <p:spPr>
          <a:xfrm>
            <a:off x="548640" y="4434840"/>
            <a:ext cx="5486400" cy="457200"/>
          </a:xfrm>
          <a:prstGeom prst="rect">
            <a:avLst/>
          </a:prstGeom>
          <a:noFill/>
          <a:ln/>
        </p:spPr>
        <p:txBody>
          <a:bodyPr wrap="square" lIns="0" tIns="0" rIns="0" bIns="0" rtlCol="0" anchor="t"/>
          <a:lstStyle/>
          <a:p>
            <a:pPr indent="0" marL="0">
              <a:buNone/>
            </a:pPr>
            <a:r>
              <a:rPr lang="en-US" sz="1500" b="1" dirty="0">
                <a:solidFill>
                  <a:srgbClr val="1A47A8"/>
                </a:solidFill>
                <a:latin typeface="Calibri" pitchFamily="34" charset="0"/>
                <a:ea typeface="Calibri" pitchFamily="34" charset="-122"/>
                <a:cs typeface="Calibri" pitchFamily="34" charset="-120"/>
              </a:rPr>
              <a:t>Calibrated when we are 95% sure the estimate is within ±0.15</a:t>
            </a:r>
            <a:endParaRPr lang="en-US" sz="1500" dirty="0"/>
          </a:p>
        </p:txBody>
      </p:sp>
      <p:sp>
        <p:nvSpPr>
          <p:cNvPr id="8" name="card-306"/>
          <p:cNvSpPr/>
          <p:nvPr/>
        </p:nvSpPr>
        <p:spPr>
          <a:xfrm>
            <a:off x="548640" y="4937760"/>
            <a:ext cx="5486400" cy="640080"/>
          </a:xfrm>
          <a:prstGeom prst="roundRect">
            <a:avLst>
              <a:gd name="adj" fmla="val 17143"/>
            </a:avLst>
          </a:prstGeom>
          <a:solidFill>
            <a:srgbClr val="0A1B3D"/>
          </a:solidFill>
          <a:ln w="12700">
            <a:solidFill>
              <a:srgbClr val="0A1B3D"/>
            </a:solidFill>
            <a:prstDash val="solid"/>
          </a:ln>
        </p:spPr>
      </p:sp>
      <p:sp>
        <p:nvSpPr>
          <p:cNvPr id="9" name="text-307"/>
          <p:cNvSpPr txBox="1"/>
          <p:nvPr/>
        </p:nvSpPr>
        <p:spPr>
          <a:xfrm>
            <a:off x="777240" y="5047488"/>
            <a:ext cx="502920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margin = 1.96 · √( p(1−p) / n )  ≤  0.15</a:t>
            </a:r>
            <a:endParaRPr lang="en-US" sz="1400" dirty="0"/>
          </a:p>
        </p:txBody>
      </p:sp>
      <p:graphicFrame>
        <p:nvGraphicFramePr>
          <p:cNvPr id="10" name="chart-margin" descr=""/>
          <p:cNvGraphicFramePr/>
          <p:nvPr/>
        </p:nvGraphicFramePr>
        <p:xfrm>
          <a:off x="6400800" y="1371600"/>
          <a:ext cx="5212080" cy="4480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4 · Rule gating</a:t>
            </a: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A fixed ladder for every student during calibration</a:t>
            </a:r>
            <a:endParaRPr lang="en-US" sz="18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A3F6"/>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Calibration phase: rules gate the walk, scores do not</a:t>
            </a:r>
            <a:endParaRPr lang="en-US" sz="3000" dirty="0"/>
          </a:p>
        </p:txBody>
      </p:sp>
      <p:sp>
        <p:nvSpPr>
          <p:cNvPr id="3" name="card-308"/>
          <p:cNvSpPr/>
          <p:nvPr/>
        </p:nvSpPr>
        <p:spPr>
          <a:xfrm>
            <a:off x="548640" y="1463040"/>
            <a:ext cx="3474720" cy="4023360"/>
          </a:xfrm>
          <a:prstGeom prst="roundRect">
            <a:avLst>
              <a:gd name="adj" fmla="val 3158"/>
            </a:avLst>
          </a:prstGeom>
          <a:solidFill>
            <a:srgbClr val="EFF4FE"/>
          </a:solidFill>
          <a:ln w="12700">
            <a:solidFill>
              <a:srgbClr val="EFF4FE"/>
            </a:solidFill>
            <a:prstDash val="solid"/>
          </a:ln>
        </p:spPr>
      </p:sp>
      <p:sp>
        <p:nvSpPr>
          <p:cNvPr id="4" name="badge-309"/>
          <p:cNvSpPr/>
          <p:nvPr/>
        </p:nvSpPr>
        <p:spPr>
          <a:xfrm>
            <a:off x="822960" y="1737360"/>
            <a:ext cx="685800" cy="685800"/>
          </a:xfrm>
          <a:prstGeom prst="ellipse">
            <a:avLst/>
          </a:prstGeom>
          <a:solidFill>
            <a:srgbClr val="1D5FD6"/>
          </a:solidFill>
          <a:ln w="12700">
            <a:solidFill>
              <a:srgbClr val="1D5FD6"/>
            </a:solidFill>
            <a:prstDash val="solid"/>
          </a:ln>
        </p:spPr>
      </p:sp>
      <p:pic>
        <p:nvPicPr>
          <p:cNvPr id="5" name="icon-310" descr="preencoded.png">    </p:cNvPr>
          <p:cNvPicPr>
            <a:picLocks noChangeAspect="1"/>
          </p:cNvPicPr>
          <p:nvPr/>
        </p:nvPicPr>
        <p:blipFill>
          <a:blip r:embed="rId1"/>
          <a:stretch>
            <a:fillRect/>
          </a:stretch>
        </p:blipFill>
        <p:spPr>
          <a:xfrm>
            <a:off x="973836" y="1888236"/>
            <a:ext cx="384048" cy="384048"/>
          </a:xfrm>
          <a:prstGeom prst="rect">
            <a:avLst/>
          </a:prstGeom>
        </p:spPr>
      </p:pic>
      <p:sp>
        <p:nvSpPr>
          <p:cNvPr id="6" name="text-311"/>
          <p:cNvSpPr txBox="1"/>
          <p:nvPr/>
        </p:nvSpPr>
        <p:spPr>
          <a:xfrm>
            <a:off x="822960" y="2606040"/>
            <a:ext cx="2926080" cy="731520"/>
          </a:xfrm>
          <a:prstGeom prst="rect">
            <a:avLst/>
          </a:prstGeom>
          <a:noFill/>
          <a:ln/>
        </p:spPr>
        <p:txBody>
          <a:bodyPr wrap="square" lIns="0" tIns="0" rIns="0" bIns="0" rtlCol="0" anchor="t"/>
          <a:lstStyle/>
          <a:p>
            <a:pPr indent="0" marL="0">
              <a:buNone/>
            </a:pPr>
            <a:r>
              <a:rPr lang="en-US" sz="1800" b="1" dirty="0">
                <a:solidFill>
                  <a:srgbClr val="0A1B3D"/>
                </a:solidFill>
                <a:latin typeface="Cambria" pitchFamily="34" charset="0"/>
                <a:ea typeface="Cambria" pitchFamily="34" charset="-122"/>
                <a:cs typeface="Cambria" pitchFamily="34" charset="-120"/>
              </a:rPr>
              <a:t>Estimates aren't trusted yet</a:t>
            </a:r>
            <a:endParaRPr lang="en-US" sz="1800" dirty="0"/>
          </a:p>
        </p:txBody>
      </p:sp>
      <p:sp>
        <p:nvSpPr>
          <p:cNvPr id="7" name="text-312"/>
          <p:cNvSpPr txBox="1"/>
          <p:nvPr/>
        </p:nvSpPr>
        <p:spPr>
          <a:xfrm>
            <a:off x="822960" y="3383280"/>
            <a:ext cx="2926080" cy="2011680"/>
          </a:xfrm>
          <a:prstGeom prst="rect">
            <a:avLst/>
          </a:prstGeom>
          <a:noFill/>
          <a:ln/>
        </p:spPr>
        <p:txBody>
          <a:bodyPr wrap="square" lIns="0" tIns="0" rIns="0" bIns="0" rtlCol="0" anchor="t"/>
          <a:lstStyle/>
          <a:p>
            <a:pPr indent="0" marL="0">
              <a:buNone/>
            </a:pPr>
            <a:r>
              <a:rPr lang="en-US" sz="1400" dirty="0">
                <a:solidFill>
                  <a:srgbClr val="14161A"/>
                </a:solidFill>
                <a:latin typeface="Calibri" pitchFamily="34" charset="0"/>
                <a:ea typeface="Calibri" pitchFamily="34" charset="-122"/>
                <a:cs typeface="Calibri" pitchFamily="34" charset="-120"/>
              </a:rPr>
              <a:t>A stranger's mastery is mostly the population default — gating on it would move students on numbers the system admits it doesn't know.</a:t>
            </a:r>
            <a:endParaRPr lang="en-US" sz="1400" dirty="0"/>
          </a:p>
        </p:txBody>
      </p:sp>
      <p:sp>
        <p:nvSpPr>
          <p:cNvPr id="8" name="card-313"/>
          <p:cNvSpPr/>
          <p:nvPr/>
        </p:nvSpPr>
        <p:spPr>
          <a:xfrm>
            <a:off x="4297680" y="1463040"/>
            <a:ext cx="3474720" cy="4023360"/>
          </a:xfrm>
          <a:prstGeom prst="roundRect">
            <a:avLst>
              <a:gd name="adj" fmla="val 3158"/>
            </a:avLst>
          </a:prstGeom>
          <a:solidFill>
            <a:srgbClr val="DCE8FD"/>
          </a:solidFill>
          <a:ln w="12700">
            <a:solidFill>
              <a:srgbClr val="DCE8FD"/>
            </a:solidFill>
            <a:prstDash val="solid"/>
          </a:ln>
        </p:spPr>
      </p:sp>
      <p:sp>
        <p:nvSpPr>
          <p:cNvPr id="9" name="badge-314"/>
          <p:cNvSpPr/>
          <p:nvPr/>
        </p:nvSpPr>
        <p:spPr>
          <a:xfrm>
            <a:off x="4572000" y="1737360"/>
            <a:ext cx="685800" cy="685800"/>
          </a:xfrm>
          <a:prstGeom prst="ellipse">
            <a:avLst/>
          </a:prstGeom>
          <a:solidFill>
            <a:srgbClr val="1D5FD6"/>
          </a:solidFill>
          <a:ln w="12700">
            <a:solidFill>
              <a:srgbClr val="1D5FD6"/>
            </a:solidFill>
            <a:prstDash val="solid"/>
          </a:ln>
        </p:spPr>
      </p:sp>
      <p:pic>
        <p:nvPicPr>
          <p:cNvPr id="10" name="icon-315" descr="preencoded.png">    </p:cNvPr>
          <p:cNvPicPr>
            <a:picLocks noChangeAspect="1"/>
          </p:cNvPicPr>
          <p:nvPr/>
        </p:nvPicPr>
        <p:blipFill>
          <a:blip r:embed="rId2"/>
          <a:stretch>
            <a:fillRect/>
          </a:stretch>
        </p:blipFill>
        <p:spPr>
          <a:xfrm>
            <a:off x="4722876" y="1888236"/>
            <a:ext cx="384048" cy="384048"/>
          </a:xfrm>
          <a:prstGeom prst="rect">
            <a:avLst/>
          </a:prstGeom>
        </p:spPr>
      </p:pic>
      <p:sp>
        <p:nvSpPr>
          <p:cNvPr id="11" name="text-316"/>
          <p:cNvSpPr txBox="1"/>
          <p:nvPr/>
        </p:nvSpPr>
        <p:spPr>
          <a:xfrm>
            <a:off x="4572000" y="2606040"/>
            <a:ext cx="2926080" cy="731520"/>
          </a:xfrm>
          <a:prstGeom prst="rect">
            <a:avLst/>
          </a:prstGeom>
          <a:noFill/>
          <a:ln/>
        </p:spPr>
        <p:txBody>
          <a:bodyPr wrap="square" lIns="0" tIns="0" rIns="0" bIns="0" rtlCol="0" anchor="t"/>
          <a:lstStyle/>
          <a:p>
            <a:pPr indent="0" marL="0">
              <a:buNone/>
            </a:pPr>
            <a:r>
              <a:rPr lang="en-US" sz="1800" b="1" dirty="0">
                <a:solidFill>
                  <a:srgbClr val="0A1B3D"/>
                </a:solidFill>
                <a:latin typeface="Cambria" pitchFamily="34" charset="0"/>
                <a:ea typeface="Cambria" pitchFamily="34" charset="-122"/>
                <a:cs typeface="Cambria" pitchFamily="34" charset="-120"/>
              </a:rPr>
              <a:t>A fixed policy gives clean data</a:t>
            </a:r>
            <a:endParaRPr lang="en-US" sz="1800" dirty="0"/>
          </a:p>
        </p:txBody>
      </p:sp>
      <p:sp>
        <p:nvSpPr>
          <p:cNvPr id="12" name="text-317"/>
          <p:cNvSpPr txBox="1"/>
          <p:nvPr/>
        </p:nvSpPr>
        <p:spPr>
          <a:xfrm>
            <a:off x="4572000" y="3383280"/>
            <a:ext cx="2926080" cy="2011680"/>
          </a:xfrm>
          <a:prstGeom prst="rect">
            <a:avLst/>
          </a:prstGeom>
          <a:noFill/>
          <a:ln/>
        </p:spPr>
        <p:txBody>
          <a:bodyPr wrap="square" lIns="0" tIns="0" rIns="0" bIns="0" rtlCol="0" anchor="t"/>
          <a:lstStyle/>
          <a:p>
            <a:pPr indent="0" marL="0">
              <a:buNone/>
            </a:pPr>
            <a:r>
              <a:rPr lang="en-US" sz="1400" dirty="0">
                <a:solidFill>
                  <a:srgbClr val="14161A"/>
                </a:solidFill>
                <a:latin typeface="Calibri" pitchFamily="34" charset="0"/>
                <a:ea typeface="Calibri" pitchFamily="34" charset="-122"/>
                <a:cs typeface="Calibri" pitchFamily="34" charset="-120"/>
              </a:rPr>
              <a:t>Every student meets the same ladder, so differences in the logs come from the students. Offline RL needs exactly this: a known, consistent logging policy.</a:t>
            </a:r>
            <a:endParaRPr lang="en-US" sz="1400" dirty="0"/>
          </a:p>
        </p:txBody>
      </p:sp>
      <p:sp>
        <p:nvSpPr>
          <p:cNvPr id="13" name="card-318"/>
          <p:cNvSpPr/>
          <p:nvPr/>
        </p:nvSpPr>
        <p:spPr>
          <a:xfrm>
            <a:off x="8046720" y="1463040"/>
            <a:ext cx="3474720" cy="4023360"/>
          </a:xfrm>
          <a:prstGeom prst="roundRect">
            <a:avLst>
              <a:gd name="adj" fmla="val 3158"/>
            </a:avLst>
          </a:prstGeom>
          <a:solidFill>
            <a:srgbClr val="EFF4FE"/>
          </a:solidFill>
          <a:ln w="12700">
            <a:solidFill>
              <a:srgbClr val="EFF4FE"/>
            </a:solidFill>
            <a:prstDash val="solid"/>
          </a:ln>
        </p:spPr>
      </p:sp>
      <p:sp>
        <p:nvSpPr>
          <p:cNvPr id="14" name="badge-319"/>
          <p:cNvSpPr/>
          <p:nvPr/>
        </p:nvSpPr>
        <p:spPr>
          <a:xfrm>
            <a:off x="8321040" y="1737360"/>
            <a:ext cx="685800" cy="685800"/>
          </a:xfrm>
          <a:prstGeom prst="ellipse">
            <a:avLst/>
          </a:prstGeom>
          <a:solidFill>
            <a:srgbClr val="1D5FD6"/>
          </a:solidFill>
          <a:ln w="12700">
            <a:solidFill>
              <a:srgbClr val="1D5FD6"/>
            </a:solidFill>
            <a:prstDash val="solid"/>
          </a:ln>
        </p:spPr>
      </p:sp>
      <p:pic>
        <p:nvPicPr>
          <p:cNvPr id="15" name="icon-320" descr="preencoded.png">    </p:cNvPr>
          <p:cNvPicPr>
            <a:picLocks noChangeAspect="1"/>
          </p:cNvPicPr>
          <p:nvPr/>
        </p:nvPicPr>
        <p:blipFill>
          <a:blip r:embed="rId3"/>
          <a:stretch>
            <a:fillRect/>
          </a:stretch>
        </p:blipFill>
        <p:spPr>
          <a:xfrm>
            <a:off x="8471916" y="1888236"/>
            <a:ext cx="384048" cy="384048"/>
          </a:xfrm>
          <a:prstGeom prst="rect">
            <a:avLst/>
          </a:prstGeom>
        </p:spPr>
      </p:pic>
      <p:sp>
        <p:nvSpPr>
          <p:cNvPr id="16" name="text-321"/>
          <p:cNvSpPr txBox="1"/>
          <p:nvPr/>
        </p:nvSpPr>
        <p:spPr>
          <a:xfrm>
            <a:off x="8321040" y="2606040"/>
            <a:ext cx="2926080" cy="731520"/>
          </a:xfrm>
          <a:prstGeom prst="rect">
            <a:avLst/>
          </a:prstGeom>
          <a:noFill/>
          <a:ln/>
        </p:spPr>
        <p:txBody>
          <a:bodyPr wrap="square" lIns="0" tIns="0" rIns="0" bIns="0" rtlCol="0" anchor="t"/>
          <a:lstStyle/>
          <a:p>
            <a:pPr indent="0" marL="0">
              <a:buNone/>
            </a:pPr>
            <a:r>
              <a:rPr lang="en-US" sz="1800" b="1" dirty="0">
                <a:solidFill>
                  <a:srgbClr val="0A1B3D"/>
                </a:solidFill>
                <a:latin typeface="Cambria" pitchFamily="34" charset="0"/>
                <a:ea typeface="Cambria" pitchFamily="34" charset="-122"/>
                <a:cs typeface="Cambria" pitchFamily="34" charset="-120"/>
              </a:rPr>
              <a:t>Mastery runs in shadow mode</a:t>
            </a:r>
            <a:endParaRPr lang="en-US" sz="1800" dirty="0"/>
          </a:p>
        </p:txBody>
      </p:sp>
      <p:sp>
        <p:nvSpPr>
          <p:cNvPr id="17" name="text-322"/>
          <p:cNvSpPr txBox="1"/>
          <p:nvPr/>
        </p:nvSpPr>
        <p:spPr>
          <a:xfrm>
            <a:off x="8321040" y="3383280"/>
            <a:ext cx="2926080" cy="2011680"/>
          </a:xfrm>
          <a:prstGeom prst="rect">
            <a:avLst/>
          </a:prstGeom>
          <a:noFill/>
          <a:ln/>
        </p:spPr>
        <p:txBody>
          <a:bodyPr wrap="square" lIns="0" tIns="0" rIns="0" bIns="0" rtlCol="0" anchor="t"/>
          <a:lstStyle/>
          <a:p>
            <a:pPr indent="0" marL="0">
              <a:buNone/>
            </a:pPr>
            <a:r>
              <a:rPr lang="en-US" sz="1400" dirty="0">
                <a:solidFill>
                  <a:srgbClr val="14161A"/>
                </a:solidFill>
                <a:latin typeface="Calibri" pitchFamily="34" charset="0"/>
                <a:ea typeface="Calibri" pitchFamily="34" charset="-122"/>
                <a:cs typeface="Calibri" pitchFamily="34" charset="-120"/>
              </a:rPr>
              <a:t>BKT is still computed and logged on every answer, so its accuracy can be checked before it is ever allowed to decide anything.</a:t>
            </a:r>
            <a:endParaRPr lang="en-US" sz="1400" dirty="0"/>
          </a:p>
        </p:txBody>
      </p:sp>
      <p:sp>
        <p:nvSpPr>
          <p:cNvPr id="18" name="text-323"/>
          <p:cNvSpPr txBox="1"/>
          <p:nvPr/>
        </p:nvSpPr>
        <p:spPr>
          <a:xfrm>
            <a:off x="548640" y="5715000"/>
            <a:ext cx="11064240" cy="411480"/>
          </a:xfrm>
          <a:prstGeom prst="rect">
            <a:avLst/>
          </a:prstGeom>
          <a:noFill/>
          <a:ln/>
        </p:spPr>
        <p:txBody>
          <a:bodyPr wrap="square" lIns="0" tIns="0" rIns="0" bIns="0" rtlCol="0" anchor="t"/>
          <a:lstStyle/>
          <a:p>
            <a:pPr indent="0" marL="0">
              <a:buNone/>
            </a:pPr>
            <a:r>
              <a:rPr lang="en-US" sz="1500" i="1" dirty="0">
                <a:solidFill>
                  <a:srgbClr val="1A47A8"/>
                </a:solidFill>
                <a:latin typeface="Calibri" pitchFamily="34" charset="0"/>
                <a:ea typeface="Calibri" pitchFamily="34" charset="-122"/>
                <a:cs typeface="Calibri" pitchFamily="34" charset="-120"/>
              </a:rPr>
              <a:t>Score gating and the RL policy come in phase 2, trained on the Decision logs.</a:t>
            </a:r>
            <a:endParaRPr lang="en-US" sz="15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ladder: re-teach before re-asking</a:t>
            </a:r>
            <a:endParaRPr lang="en-US" sz="3000" dirty="0"/>
          </a:p>
        </p:txBody>
      </p:sp>
      <p:sp>
        <p:nvSpPr>
          <p:cNvPr id="3" name="node-324"/>
          <p:cNvSpPr/>
          <p:nvPr/>
        </p:nvSpPr>
        <p:spPr>
          <a:xfrm>
            <a:off x="548640" y="1828800"/>
            <a:ext cx="2377440" cy="685800"/>
          </a:xfrm>
          <a:prstGeom prst="roundRect">
            <a:avLst>
              <a:gd name="adj" fmla="val 16000"/>
            </a:avLst>
          </a:prstGeom>
          <a:solidFill>
            <a:srgbClr val="0A1B3D"/>
          </a:solidFill>
          <a:ln w="12700">
            <a:solidFill>
              <a:srgbClr val="0A1B3D"/>
            </a:solidFill>
            <a:prstDash val="solid"/>
          </a:ln>
        </p:spPr>
      </p:sp>
      <p:sp>
        <p:nvSpPr>
          <p:cNvPr id="4" name="text-325"/>
          <p:cNvSpPr txBox="1"/>
          <p:nvPr/>
        </p:nvSpPr>
        <p:spPr>
          <a:xfrm>
            <a:off x="658368" y="1828800"/>
            <a:ext cx="2157984"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 graded</a:t>
            </a:r>
            <a:endParaRPr lang="en-US" sz="1400" dirty="0"/>
          </a:p>
        </p:txBody>
      </p:sp>
      <p:sp>
        <p:nvSpPr>
          <p:cNvPr id="5" name="node-326"/>
          <p:cNvSpPr/>
          <p:nvPr/>
        </p:nvSpPr>
        <p:spPr>
          <a:xfrm>
            <a:off x="3429000" y="1371600"/>
            <a:ext cx="1554480" cy="594360"/>
          </a:xfrm>
          <a:prstGeom prst="roundRect">
            <a:avLst>
              <a:gd name="adj" fmla="val 18462"/>
            </a:avLst>
          </a:prstGeom>
          <a:solidFill>
            <a:srgbClr val="157A4F"/>
          </a:solidFill>
          <a:ln w="12700">
            <a:solidFill>
              <a:srgbClr val="157A4F"/>
            </a:solidFill>
            <a:prstDash val="solid"/>
          </a:ln>
        </p:spPr>
      </p:sp>
      <p:sp>
        <p:nvSpPr>
          <p:cNvPr id="6" name="text-327"/>
          <p:cNvSpPr txBox="1"/>
          <p:nvPr/>
        </p:nvSpPr>
        <p:spPr>
          <a:xfrm>
            <a:off x="3538728" y="1371600"/>
            <a:ext cx="1335024"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Right</a:t>
            </a:r>
            <a:endParaRPr lang="en-US" sz="1400" dirty="0"/>
          </a:p>
        </p:txBody>
      </p:sp>
      <p:sp>
        <p:nvSpPr>
          <p:cNvPr id="7" name="node-328"/>
          <p:cNvSpPr/>
          <p:nvPr/>
        </p:nvSpPr>
        <p:spPr>
          <a:xfrm>
            <a:off x="3429000" y="2331720"/>
            <a:ext cx="1554480" cy="594360"/>
          </a:xfrm>
          <a:prstGeom prst="roundRect">
            <a:avLst>
              <a:gd name="adj" fmla="val 18462"/>
            </a:avLst>
          </a:prstGeom>
          <a:solidFill>
            <a:srgbClr val="B5271B"/>
          </a:solidFill>
          <a:ln w="12700">
            <a:solidFill>
              <a:srgbClr val="B5271B"/>
            </a:solidFill>
            <a:prstDash val="solid"/>
          </a:ln>
        </p:spPr>
      </p:sp>
      <p:sp>
        <p:nvSpPr>
          <p:cNvPr id="8" name="text-329"/>
          <p:cNvSpPr txBox="1"/>
          <p:nvPr/>
        </p:nvSpPr>
        <p:spPr>
          <a:xfrm>
            <a:off x="3538728" y="2331720"/>
            <a:ext cx="1335024"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Wrong</a:t>
            </a:r>
            <a:endParaRPr lang="en-US" sz="1400" dirty="0"/>
          </a:p>
        </p:txBody>
      </p:sp>
      <p:sp>
        <p:nvSpPr>
          <p:cNvPr id="9" name="arrow-330"/>
          <p:cNvSpPr/>
          <p:nvPr/>
        </p:nvSpPr>
        <p:spPr>
          <a:xfrm flipV="1">
            <a:off x="2926080" y="1673352"/>
            <a:ext cx="502920" cy="493776"/>
          </a:xfrm>
          <a:prstGeom prst="line">
            <a:avLst/>
          </a:prstGeom>
          <a:noFill/>
          <a:ln w="25400">
            <a:solidFill>
              <a:srgbClr val="0A1B3D"/>
            </a:solidFill>
            <a:prstDash val="solid"/>
            <a:tailEnd type="triangle"/>
          </a:ln>
        </p:spPr>
      </p:sp>
      <p:sp>
        <p:nvSpPr>
          <p:cNvPr id="10" name="arrow-331"/>
          <p:cNvSpPr/>
          <p:nvPr/>
        </p:nvSpPr>
        <p:spPr>
          <a:xfrm>
            <a:off x="2926080" y="2167128"/>
            <a:ext cx="502920" cy="466344"/>
          </a:xfrm>
          <a:prstGeom prst="line">
            <a:avLst/>
          </a:prstGeom>
          <a:noFill/>
          <a:ln w="25400">
            <a:solidFill>
              <a:srgbClr val="0A1B3D"/>
            </a:solidFill>
            <a:prstDash val="solid"/>
            <a:tailEnd type="triangle"/>
          </a:ln>
        </p:spPr>
      </p:sp>
      <p:sp>
        <p:nvSpPr>
          <p:cNvPr id="11" name="node-332"/>
          <p:cNvSpPr/>
          <p:nvPr/>
        </p:nvSpPr>
        <p:spPr>
          <a:xfrm>
            <a:off x="5486400" y="1325880"/>
            <a:ext cx="3108960" cy="685800"/>
          </a:xfrm>
          <a:prstGeom prst="roundRect">
            <a:avLst>
              <a:gd name="adj" fmla="val 16000"/>
            </a:avLst>
          </a:prstGeom>
          <a:solidFill>
            <a:srgbClr val="DCE8FD"/>
          </a:solidFill>
          <a:ln w="12700">
            <a:solidFill>
              <a:srgbClr val="DCE8FD"/>
            </a:solidFill>
            <a:prstDash val="solid"/>
          </a:ln>
        </p:spPr>
      </p:sp>
      <p:sp>
        <p:nvSpPr>
          <p:cNvPr id="12" name="text-333"/>
          <p:cNvSpPr txBox="1"/>
          <p:nvPr/>
        </p:nvSpPr>
        <p:spPr>
          <a:xfrm>
            <a:off x="5596128" y="1325880"/>
            <a:ext cx="2889504" cy="68580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Next open question in the concept</a:t>
            </a:r>
            <a:endParaRPr lang="en-US" sz="1400" dirty="0"/>
          </a:p>
        </p:txBody>
      </p:sp>
      <p:sp>
        <p:nvSpPr>
          <p:cNvPr id="13" name="node-334"/>
          <p:cNvSpPr/>
          <p:nvPr/>
        </p:nvSpPr>
        <p:spPr>
          <a:xfrm>
            <a:off x="8915400" y="1325880"/>
            <a:ext cx="2697480" cy="685800"/>
          </a:xfrm>
          <a:prstGeom prst="roundRect">
            <a:avLst>
              <a:gd name="adj" fmla="val 16000"/>
            </a:avLst>
          </a:prstGeom>
          <a:solidFill>
            <a:srgbClr val="DCE8FD"/>
          </a:solidFill>
          <a:ln w="12700">
            <a:solidFill>
              <a:srgbClr val="DCE8FD"/>
            </a:solidFill>
            <a:prstDash val="solid"/>
          </a:ln>
        </p:spPr>
      </p:sp>
      <p:sp>
        <p:nvSpPr>
          <p:cNvPr id="14" name="text-335"/>
          <p:cNvSpPr txBox="1"/>
          <p:nvPr/>
        </p:nvSpPr>
        <p:spPr>
          <a:xfrm>
            <a:off x="9025128" y="1325880"/>
            <a:ext cx="2478024" cy="68580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Concept done → advance (or resume)</a:t>
            </a:r>
            <a:endParaRPr lang="en-US" sz="1400" dirty="0"/>
          </a:p>
        </p:txBody>
      </p:sp>
      <p:sp>
        <p:nvSpPr>
          <p:cNvPr id="15" name="arrow-336"/>
          <p:cNvSpPr/>
          <p:nvPr/>
        </p:nvSpPr>
        <p:spPr>
          <a:xfrm>
            <a:off x="4983480" y="1673352"/>
            <a:ext cx="502920" cy="0"/>
          </a:xfrm>
          <a:prstGeom prst="line">
            <a:avLst/>
          </a:prstGeom>
          <a:noFill/>
          <a:ln w="25400">
            <a:solidFill>
              <a:srgbClr val="1D5FD6"/>
            </a:solidFill>
            <a:prstDash val="solid"/>
            <a:tailEnd type="triangle"/>
          </a:ln>
        </p:spPr>
      </p:sp>
      <p:sp>
        <p:nvSpPr>
          <p:cNvPr id="16" name="arrow-337"/>
          <p:cNvSpPr/>
          <p:nvPr/>
        </p:nvSpPr>
        <p:spPr>
          <a:xfrm>
            <a:off x="8595360" y="1673352"/>
            <a:ext cx="320040" cy="0"/>
          </a:xfrm>
          <a:prstGeom prst="line">
            <a:avLst/>
          </a:prstGeom>
          <a:noFill/>
          <a:ln w="25400">
            <a:solidFill>
              <a:srgbClr val="1D5FD6"/>
            </a:solidFill>
            <a:prstDash val="solid"/>
            <a:tailEnd type="triangle"/>
          </a:ln>
        </p:spPr>
      </p:sp>
      <p:sp>
        <p:nvSpPr>
          <p:cNvPr id="17" name="rung-338"/>
          <p:cNvSpPr/>
          <p:nvPr/>
        </p:nvSpPr>
        <p:spPr>
          <a:xfrm>
            <a:off x="3520440" y="3273552"/>
            <a:ext cx="438912" cy="438912"/>
          </a:xfrm>
          <a:prstGeom prst="ellipse">
            <a:avLst/>
          </a:prstGeom>
          <a:solidFill>
            <a:srgbClr val="E8833A"/>
          </a:solidFill>
          <a:ln w="12700">
            <a:solidFill>
              <a:srgbClr val="E8833A"/>
            </a:solidFill>
            <a:prstDash val="solid"/>
          </a:ln>
        </p:spPr>
      </p:sp>
      <p:sp>
        <p:nvSpPr>
          <p:cNvPr id="18" name="text-339"/>
          <p:cNvSpPr txBox="1"/>
          <p:nvPr/>
        </p:nvSpPr>
        <p:spPr>
          <a:xfrm>
            <a:off x="3520440" y="327355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9" name="card-340"/>
          <p:cNvSpPr/>
          <p:nvPr/>
        </p:nvSpPr>
        <p:spPr>
          <a:xfrm>
            <a:off x="4160520" y="3200400"/>
            <a:ext cx="7452360" cy="585216"/>
          </a:xfrm>
          <a:prstGeom prst="roundRect">
            <a:avLst>
              <a:gd name="adj" fmla="val 18750"/>
            </a:avLst>
          </a:prstGeom>
          <a:solidFill>
            <a:srgbClr val="EFF4FE"/>
          </a:solidFill>
          <a:ln w="12700">
            <a:solidFill>
              <a:srgbClr val="EFF4FE"/>
            </a:solidFill>
            <a:prstDash val="solid"/>
          </a:ln>
        </p:spPr>
      </p:sp>
      <p:sp>
        <p:nvSpPr>
          <p:cNvPr id="20" name="text-341"/>
          <p:cNvSpPr txBox="1"/>
          <p:nvPr/>
        </p:nvSpPr>
        <p:spPr>
          <a:xfrm>
            <a:off x="4389120" y="3200400"/>
            <a:ext cx="7132320" cy="585216"/>
          </a:xfrm>
          <a:prstGeom prst="rect">
            <a:avLst/>
          </a:prstGeom>
          <a:noFill/>
          <a:ln/>
        </p:spPr>
        <p:txBody>
          <a:bodyPr wrap="square" lIns="0" tIns="0" rIns="0" bIns="0" rtlCol="0" anchor="ctr"/>
          <a:lstStyle/>
          <a:p>
            <a:pPr indent="0" marL="0">
              <a:buNone/>
            </a:pPr>
            <a:r>
              <a:rPr lang="en-US" sz="1500" b="1" dirty="0">
                <a:solidFill>
                  <a:srgbClr val="0A1B3D"/>
                </a:solidFill>
                <a:latin typeface="Calibri" pitchFamily="34" charset="0"/>
                <a:ea typeface="Calibri" pitchFamily="34" charset="-122"/>
                <a:cs typeface="Calibri" pitchFamily="34" charset="-120"/>
              </a:rPr>
              <a:t>Escalate: Standard → Simplified</a:t>
            </a:r>
            <a:pPr indent="0" marL="0">
              <a:buNone/>
            </a:pPr>
            <a:r>
              <a:rPr lang="en-US" sz="1500" dirty="0">
                <a:solidFill>
                  <a:srgbClr val="14161A"/>
                </a:solidFill>
                <a:latin typeface="Calibri" pitchFamily="34" charset="0"/>
                <a:ea typeface="Calibri" pitchFamily="34" charset="-122"/>
                <a:cs typeface="Calibri" pitchFamily="34" charset="-120"/>
              </a:rPr>
              <a:t>  —  re-teach, then ask again</a:t>
            </a:r>
            <a:endParaRPr lang="en-US" sz="1500" dirty="0"/>
          </a:p>
        </p:txBody>
      </p:sp>
      <p:sp>
        <p:nvSpPr>
          <p:cNvPr id="21" name="rung-342"/>
          <p:cNvSpPr/>
          <p:nvPr/>
        </p:nvSpPr>
        <p:spPr>
          <a:xfrm>
            <a:off x="3520440" y="3959352"/>
            <a:ext cx="438912" cy="438912"/>
          </a:xfrm>
          <a:prstGeom prst="ellipse">
            <a:avLst/>
          </a:prstGeom>
          <a:solidFill>
            <a:srgbClr val="E8833A"/>
          </a:solidFill>
          <a:ln w="12700">
            <a:solidFill>
              <a:srgbClr val="E8833A"/>
            </a:solidFill>
            <a:prstDash val="solid"/>
          </a:ln>
        </p:spPr>
      </p:sp>
      <p:sp>
        <p:nvSpPr>
          <p:cNvPr id="22" name="text-343"/>
          <p:cNvSpPr txBox="1"/>
          <p:nvPr/>
        </p:nvSpPr>
        <p:spPr>
          <a:xfrm>
            <a:off x="3520440" y="395935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3" name="card-344"/>
          <p:cNvSpPr/>
          <p:nvPr/>
        </p:nvSpPr>
        <p:spPr>
          <a:xfrm>
            <a:off x="4160520" y="3886200"/>
            <a:ext cx="7452360" cy="585216"/>
          </a:xfrm>
          <a:prstGeom prst="roundRect">
            <a:avLst>
              <a:gd name="adj" fmla="val 18750"/>
            </a:avLst>
          </a:prstGeom>
          <a:solidFill>
            <a:srgbClr val="EFF4FE"/>
          </a:solidFill>
          <a:ln w="12700">
            <a:solidFill>
              <a:srgbClr val="EFF4FE"/>
            </a:solidFill>
            <a:prstDash val="solid"/>
          </a:ln>
        </p:spPr>
      </p:sp>
      <p:sp>
        <p:nvSpPr>
          <p:cNvPr id="24" name="text-345"/>
          <p:cNvSpPr txBox="1"/>
          <p:nvPr/>
        </p:nvSpPr>
        <p:spPr>
          <a:xfrm>
            <a:off x="4389120" y="3886200"/>
            <a:ext cx="7132320" cy="585216"/>
          </a:xfrm>
          <a:prstGeom prst="rect">
            <a:avLst/>
          </a:prstGeom>
          <a:noFill/>
          <a:ln/>
        </p:spPr>
        <p:txBody>
          <a:bodyPr wrap="square" lIns="0" tIns="0" rIns="0" bIns="0" rtlCol="0" anchor="ctr"/>
          <a:lstStyle/>
          <a:p>
            <a:pPr indent="0" marL="0">
              <a:buNone/>
            </a:pPr>
            <a:r>
              <a:rPr lang="en-US" sz="1500" b="1" dirty="0">
                <a:solidFill>
                  <a:srgbClr val="0A1B3D"/>
                </a:solidFill>
                <a:latin typeface="Calibri" pitchFamily="34" charset="0"/>
                <a:ea typeface="Calibri" pitchFamily="34" charset="-122"/>
                <a:cs typeface="Calibri" pitchFamily="34" charset="-120"/>
              </a:rPr>
              <a:t>Escalate: Simplified → Elaborated</a:t>
            </a:r>
            <a:pPr indent="0" marL="0">
              <a:buNone/>
            </a:pPr>
            <a:r>
              <a:rPr lang="en-US" sz="1500" dirty="0">
                <a:solidFill>
                  <a:srgbClr val="14161A"/>
                </a:solidFill>
                <a:latin typeface="Calibri" pitchFamily="34" charset="0"/>
                <a:ea typeface="Calibri" pitchFamily="34" charset="-122"/>
                <a:cs typeface="Calibri" pitchFamily="34" charset="-120"/>
              </a:rPr>
              <a:t>  —  re-teach, then ask again</a:t>
            </a:r>
            <a:endParaRPr lang="en-US" sz="1500" dirty="0"/>
          </a:p>
        </p:txBody>
      </p:sp>
      <p:sp>
        <p:nvSpPr>
          <p:cNvPr id="25" name="rung-346"/>
          <p:cNvSpPr/>
          <p:nvPr/>
        </p:nvSpPr>
        <p:spPr>
          <a:xfrm>
            <a:off x="3520440" y="4645152"/>
            <a:ext cx="438912" cy="438912"/>
          </a:xfrm>
          <a:prstGeom prst="ellipse">
            <a:avLst/>
          </a:prstGeom>
          <a:solidFill>
            <a:srgbClr val="E8833A"/>
          </a:solidFill>
          <a:ln w="12700">
            <a:solidFill>
              <a:srgbClr val="E8833A"/>
            </a:solidFill>
            <a:prstDash val="solid"/>
          </a:ln>
        </p:spPr>
      </p:sp>
      <p:sp>
        <p:nvSpPr>
          <p:cNvPr id="26" name="text-347"/>
          <p:cNvSpPr txBox="1"/>
          <p:nvPr/>
        </p:nvSpPr>
        <p:spPr>
          <a:xfrm>
            <a:off x="3520440" y="464515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7" name="card-348"/>
          <p:cNvSpPr/>
          <p:nvPr/>
        </p:nvSpPr>
        <p:spPr>
          <a:xfrm>
            <a:off x="4160520" y="4572000"/>
            <a:ext cx="7452360" cy="585216"/>
          </a:xfrm>
          <a:prstGeom prst="roundRect">
            <a:avLst>
              <a:gd name="adj" fmla="val 18750"/>
            </a:avLst>
          </a:prstGeom>
          <a:solidFill>
            <a:srgbClr val="EFF4FE"/>
          </a:solidFill>
          <a:ln w="12700">
            <a:solidFill>
              <a:srgbClr val="EFF4FE"/>
            </a:solidFill>
            <a:prstDash val="solid"/>
          </a:ln>
        </p:spPr>
      </p:sp>
      <p:sp>
        <p:nvSpPr>
          <p:cNvPr id="28" name="text-349"/>
          <p:cNvSpPr txBox="1"/>
          <p:nvPr/>
        </p:nvSpPr>
        <p:spPr>
          <a:xfrm>
            <a:off x="4389120" y="4572000"/>
            <a:ext cx="7132320" cy="585216"/>
          </a:xfrm>
          <a:prstGeom prst="rect">
            <a:avLst/>
          </a:prstGeom>
          <a:noFill/>
          <a:ln/>
        </p:spPr>
        <p:txBody>
          <a:bodyPr wrap="square" lIns="0" tIns="0" rIns="0" bIns="0" rtlCol="0" anchor="ctr"/>
          <a:lstStyle/>
          <a:p>
            <a:pPr indent="0" marL="0">
              <a:buNone/>
            </a:pPr>
            <a:r>
              <a:rPr lang="en-US" sz="1500" b="1" dirty="0">
                <a:solidFill>
                  <a:srgbClr val="0A1B3D"/>
                </a:solidFill>
                <a:latin typeface="Calibri" pitchFamily="34" charset="0"/>
                <a:ea typeface="Calibri" pitchFamily="34" charset="-122"/>
                <a:cs typeface="Calibri" pitchFamily="34" charset="-120"/>
              </a:rPr>
              <a:t>Regress to the nearest prerequisite</a:t>
            </a:r>
            <a:pPr indent="0" marL="0">
              <a:buNone/>
            </a:pPr>
            <a:r>
              <a:rPr lang="en-US" sz="1500" dirty="0">
                <a:solidFill>
                  <a:srgbClr val="14161A"/>
                </a:solidFill>
                <a:latin typeface="Calibri" pitchFamily="34" charset="0"/>
                <a:ea typeface="Calibri" pitchFamily="34" charset="-122"/>
                <a:cs typeface="Calibri" pitchFamily="34" charset="-120"/>
              </a:rPr>
              <a:t>  —  once per step; a detour, then resume</a:t>
            </a:r>
            <a:endParaRPr lang="en-US" sz="1500" dirty="0"/>
          </a:p>
        </p:txBody>
      </p:sp>
      <p:sp>
        <p:nvSpPr>
          <p:cNvPr id="29" name="rung-350"/>
          <p:cNvSpPr/>
          <p:nvPr/>
        </p:nvSpPr>
        <p:spPr>
          <a:xfrm>
            <a:off x="3520440" y="5330952"/>
            <a:ext cx="438912" cy="438912"/>
          </a:xfrm>
          <a:prstGeom prst="ellipse">
            <a:avLst/>
          </a:prstGeom>
          <a:solidFill>
            <a:srgbClr val="E8833A"/>
          </a:solidFill>
          <a:ln w="12700">
            <a:solidFill>
              <a:srgbClr val="E8833A"/>
            </a:solidFill>
            <a:prstDash val="solid"/>
          </a:ln>
        </p:spPr>
      </p:sp>
      <p:sp>
        <p:nvSpPr>
          <p:cNvPr id="30" name="text-351"/>
          <p:cNvSpPr txBox="1"/>
          <p:nvPr/>
        </p:nvSpPr>
        <p:spPr>
          <a:xfrm>
            <a:off x="3520440" y="533095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1" name="card-352"/>
          <p:cNvSpPr/>
          <p:nvPr/>
        </p:nvSpPr>
        <p:spPr>
          <a:xfrm>
            <a:off x="4160520" y="5257800"/>
            <a:ext cx="7452360" cy="585216"/>
          </a:xfrm>
          <a:prstGeom prst="roundRect">
            <a:avLst>
              <a:gd name="adj" fmla="val 18750"/>
            </a:avLst>
          </a:prstGeom>
          <a:solidFill>
            <a:srgbClr val="EFF4FE"/>
          </a:solidFill>
          <a:ln w="12700">
            <a:solidFill>
              <a:srgbClr val="EFF4FE"/>
            </a:solidFill>
            <a:prstDash val="solid"/>
          </a:ln>
        </p:spPr>
      </p:sp>
      <p:sp>
        <p:nvSpPr>
          <p:cNvPr id="32" name="text-353"/>
          <p:cNvSpPr txBox="1"/>
          <p:nvPr/>
        </p:nvSpPr>
        <p:spPr>
          <a:xfrm>
            <a:off x="4389120" y="5257800"/>
            <a:ext cx="7132320" cy="585216"/>
          </a:xfrm>
          <a:prstGeom prst="rect">
            <a:avLst/>
          </a:prstGeom>
          <a:noFill/>
          <a:ln/>
        </p:spPr>
        <p:txBody>
          <a:bodyPr wrap="square" lIns="0" tIns="0" rIns="0" bIns="0" rtlCol="0" anchor="ctr"/>
          <a:lstStyle/>
          <a:p>
            <a:pPr indent="0" marL="0">
              <a:buNone/>
            </a:pPr>
            <a:r>
              <a:rPr lang="en-US" sz="1500" b="1" dirty="0">
                <a:solidFill>
                  <a:srgbClr val="0A1B3D"/>
                </a:solidFill>
                <a:latin typeface="Calibri" pitchFamily="34" charset="0"/>
                <a:ea typeface="Calibri" pitchFamily="34" charset="-122"/>
                <a:cs typeface="Calibri" pitchFamily="34" charset="-120"/>
              </a:rPr>
              <a:t>Move on</a:t>
            </a:r>
            <a:pPr indent="0" marL="0">
              <a:buNone/>
            </a:pPr>
            <a:r>
              <a:rPr lang="en-US" sz="1500" dirty="0">
                <a:solidFill>
                  <a:srgbClr val="14161A"/>
                </a:solidFill>
                <a:latin typeface="Calibri" pitchFamily="34" charset="0"/>
                <a:ea typeface="Calibri" pitchFamily="34" charset="-122"/>
                <a:cs typeface="Calibri" pitchFamily="34" charset="-120"/>
              </a:rPr>
              <a:t>  —  every option tried — never strand the student</a:t>
            </a:r>
            <a:endParaRPr lang="en-US" sz="1500" dirty="0"/>
          </a:p>
        </p:txBody>
      </p:sp>
      <p:sp>
        <p:nvSpPr>
          <p:cNvPr id="33" name="arrow-354"/>
          <p:cNvSpPr/>
          <p:nvPr/>
        </p:nvSpPr>
        <p:spPr>
          <a:xfrm>
            <a:off x="4206240" y="2926080"/>
            <a:ext cx="0" cy="274320"/>
          </a:xfrm>
          <a:prstGeom prst="line">
            <a:avLst/>
          </a:prstGeom>
          <a:noFill/>
          <a:ln w="25400">
            <a:solidFill>
              <a:srgbClr val="B5271B"/>
            </a:solidFill>
            <a:prstDash val="solid"/>
            <a:tailEnd type="triangle"/>
          </a:ln>
        </p:spPr>
      </p:sp>
      <p:sp>
        <p:nvSpPr>
          <p:cNvPr id="34" name="text-355"/>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400" i="1" dirty="0">
                <a:solidFill>
                  <a:srgbClr val="1A47A8"/>
                </a:solidFill>
                <a:latin typeface="Calibri" pitchFamily="34" charset="0"/>
                <a:ea typeface="Calibri" pitchFamily="34" charset="-122"/>
                <a:cs typeface="Calibri" pitchFamily="34" charset="-120"/>
              </a:rPr>
              <a:t>No immediate retry: asking straight after a miss lets the student eliminate their pick.</a:t>
            </a:r>
            <a:endParaRPr lang="en-US" sz="14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True/False fairness: a missed True/False is never asked again</a:t>
            </a:r>
            <a:endParaRPr lang="en-US" sz="3000" dirty="0"/>
          </a:p>
        </p:txBody>
      </p:sp>
      <p:graphicFrame>
        <p:nvGraphicFramePr>
          <p:cNvPr id="26" name="odds-table"/>
          <p:cNvGraphicFramePr>
            <a:graphicFrameLocks noGrp="1"/>
          </p:cNvGraphicFramePr>
          <p:nvPr>
            <p:extLst>
              <p:ext uri="{D42A27DB-BD31-4B8C-83A1-F6EECF244321}">
                <p14:modId xmlns:p14="http://schemas.microsoft.com/office/powerpoint/2010/main" val="1579011935"/>
              </p:ext>
            </p:extLst>
          </p:nvPr>
        </p:nvGraphicFramePr>
        <p:xfrm>
          <a:off x="548640" y="1463040"/>
          <a:ext cx="5760720" cy="914400"/>
        </p:xfrm>
        <a:graphic>
          <a:graphicData uri="http://schemas.openxmlformats.org/drawingml/2006/table">
            <a:tbl>
              <a:tblPr/>
              <a:tblGrid>
                <a:gridCol w="1920240"/>
                <a:gridCol w="1188720"/>
                <a:gridCol w="1463040"/>
                <a:gridCol w="1188720"/>
              </a:tblGrid>
              <a:tr h="50292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Format</a:t>
                      </a:r>
                      <a:endParaRPr lang="en-US" sz="1500" dirty="0">
                        <a:latin typeface="Calibri" charset="0"/>
                        <a:ea typeface="Calibri" charset="0"/>
                        <a:cs typeface="Calibri" charset="0"/>
                      </a:endParaRPr>
                    </a:p>
                  </a:txBody>
                  <a:tcPr marL="127000" marR="1270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1st attempt</a:t>
                      </a:r>
                      <a:endParaRPr lang="en-US" sz="1500" dirty="0">
                        <a:latin typeface="Calibri" charset="0"/>
                        <a:ea typeface="Calibri" charset="0"/>
                        <a:cs typeface="Calibri" charset="0"/>
                      </a:endParaRPr>
                    </a:p>
                  </a:txBody>
                  <a:tcPr marL="127000" marR="1270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Re-ask after a miss</a:t>
                      </a:r>
                      <a:endParaRPr lang="en-US" sz="1500" dirty="0">
                        <a:latin typeface="Calibri" charset="0"/>
                        <a:ea typeface="Calibri" charset="0"/>
                        <a:cs typeface="Calibri" charset="0"/>
                      </a:endParaRPr>
                    </a:p>
                  </a:txBody>
                  <a:tcPr marL="127000" marR="1270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3rd ask</a:t>
                      </a:r>
                      <a:endParaRPr lang="en-US" sz="1500" dirty="0">
                        <a:latin typeface="Calibri" charset="0"/>
                        <a:ea typeface="Calibri" charset="0"/>
                        <a:cs typeface="Calibri" charset="0"/>
                      </a:endParaRPr>
                    </a:p>
                  </a:txBody>
                  <a:tcPr marL="127000" marR="1270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r>
              <a:tr h="548640">
                <a:tc>
                  <a:txBody>
                    <a:bodyPr/>
                    <a:lstStyle/>
                    <a:p>
                      <a:pPr algn="l" indent="0" marL="0">
                        <a:buNone/>
                      </a:pPr>
                      <a:r>
                        <a:rPr lang="en-US" sz="1500" b="1" dirty="0">
                          <a:solidFill>
                            <a:srgbClr val="0A1B3D"/>
                          </a:solidFill>
                          <a:latin typeface="Calibri" pitchFamily="34" charset="0"/>
                          <a:ea typeface="Calibri" pitchFamily="34" charset="-122"/>
                          <a:cs typeface="Calibri" pitchFamily="34" charset="-120"/>
                        </a:rPr>
                        <a:t>MCQ (4 choices)</a:t>
                      </a:r>
                      <a:endParaRPr lang="en-US" sz="1500" dirty="0">
                        <a:latin typeface="Calibri" charset="0"/>
                        <a:ea typeface="Calibri" charset="0"/>
                        <a:cs typeface="Calibri" charset="0"/>
                      </a:endParaRPr>
                    </a:p>
                  </a:txBody>
                  <a:tcPr marL="127000" marR="1270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ctr" indent="0" marL="0">
                        <a:buNone/>
                      </a:pPr>
                      <a:r>
                        <a:rPr lang="en-US" sz="1500" dirty="0">
                          <a:solidFill>
                            <a:srgbClr val="14161A"/>
                          </a:solidFill>
                          <a:latin typeface="Calibri" pitchFamily="34" charset="0"/>
                          <a:ea typeface="Calibri" pitchFamily="34" charset="-122"/>
                          <a:cs typeface="Calibri" pitchFamily="34" charset="-120"/>
                        </a:rPr>
                        <a:t>1 in 4</a:t>
                      </a:r>
                      <a:endParaRPr lang="en-US" sz="1500" dirty="0">
                        <a:latin typeface="Calibri" charset="0"/>
                        <a:ea typeface="Calibri" charset="0"/>
                        <a:cs typeface="Calibri" charset="0"/>
                      </a:endParaRPr>
                    </a:p>
                  </a:txBody>
                  <a:tcPr marL="127000" marR="1270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ctr" indent="0" marL="0">
                        <a:buNone/>
                      </a:pPr>
                      <a:r>
                        <a:rPr lang="en-US" sz="1500" dirty="0">
                          <a:solidFill>
                            <a:srgbClr val="14161A"/>
                          </a:solidFill>
                          <a:latin typeface="Calibri" pitchFamily="34" charset="0"/>
                          <a:ea typeface="Calibri" pitchFamily="34" charset="-122"/>
                          <a:cs typeface="Calibri" pitchFamily="34" charset="-120"/>
                        </a:rPr>
                        <a:t>1 in 3</a:t>
                      </a:r>
                      <a:endParaRPr lang="en-US" sz="1500" dirty="0">
                        <a:latin typeface="Calibri" charset="0"/>
                        <a:ea typeface="Calibri" charset="0"/>
                        <a:cs typeface="Calibri" charset="0"/>
                      </a:endParaRPr>
                    </a:p>
                  </a:txBody>
                  <a:tcPr marL="127000" marR="1270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ctr" indent="0" marL="0">
                        <a:buNone/>
                      </a:pPr>
                      <a:r>
                        <a:rPr lang="en-US" sz="1500" dirty="0">
                          <a:solidFill>
                            <a:srgbClr val="14161A"/>
                          </a:solidFill>
                          <a:latin typeface="Calibri" pitchFamily="34" charset="0"/>
                          <a:ea typeface="Calibri" pitchFamily="34" charset="-122"/>
                          <a:cs typeface="Calibri" pitchFamily="34" charset="-120"/>
                        </a:rPr>
                        <a:t>1 in 2</a:t>
                      </a:r>
                      <a:endParaRPr lang="en-US" sz="1500" dirty="0">
                        <a:latin typeface="Calibri" charset="0"/>
                        <a:ea typeface="Calibri" charset="0"/>
                        <a:cs typeface="Calibri" charset="0"/>
                      </a:endParaRPr>
                    </a:p>
                  </a:txBody>
                  <a:tcPr marL="127000" marR="1270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r>
              <a:tr h="548640">
                <a:tc>
                  <a:txBody>
                    <a:bodyPr/>
                    <a:lstStyle/>
                    <a:p>
                      <a:pPr algn="l" indent="0" marL="0">
                        <a:buNone/>
                      </a:pPr>
                      <a:r>
                        <a:rPr lang="en-US" sz="1500" b="1" dirty="0">
                          <a:solidFill>
                            <a:srgbClr val="0A1B3D"/>
                          </a:solidFill>
                          <a:latin typeface="Calibri" pitchFamily="34" charset="0"/>
                          <a:ea typeface="Calibri" pitchFamily="34" charset="-122"/>
                          <a:cs typeface="Calibri" pitchFamily="34" charset="-120"/>
                        </a:rPr>
                        <a:t>True/False</a:t>
                      </a:r>
                      <a:endParaRPr lang="en-US" sz="1500" dirty="0">
                        <a:latin typeface="Calibri" charset="0"/>
                        <a:ea typeface="Calibri" charset="0"/>
                        <a:cs typeface="Calibri" charset="0"/>
                      </a:endParaRPr>
                    </a:p>
                  </a:txBody>
                  <a:tcPr marL="127000" marR="1270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ctr" indent="0" marL="0">
                        <a:buNone/>
                      </a:pPr>
                      <a:r>
                        <a:rPr lang="en-US" sz="1500" dirty="0">
                          <a:solidFill>
                            <a:srgbClr val="14161A"/>
                          </a:solidFill>
                          <a:latin typeface="Calibri" pitchFamily="34" charset="0"/>
                          <a:ea typeface="Calibri" pitchFamily="34" charset="-122"/>
                          <a:cs typeface="Calibri" pitchFamily="34" charset="-120"/>
                        </a:rPr>
                        <a:t>1 in 2</a:t>
                      </a:r>
                      <a:endParaRPr lang="en-US" sz="1500" dirty="0">
                        <a:latin typeface="Calibri" charset="0"/>
                        <a:ea typeface="Calibri" charset="0"/>
                        <a:cs typeface="Calibri" charset="0"/>
                      </a:endParaRPr>
                    </a:p>
                  </a:txBody>
                  <a:tcPr marL="127000" marR="1270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ctr" indent="0" marL="0">
                        <a:buNone/>
                      </a:pPr>
                      <a:r>
                        <a:rPr lang="en-US" sz="1500" dirty="0">
                          <a:solidFill>
                            <a:srgbClr val="B5271B"/>
                          </a:solidFill>
                          <a:latin typeface="Calibri" pitchFamily="34" charset="0"/>
                          <a:ea typeface="Calibri" pitchFamily="34" charset="-122"/>
                          <a:cs typeface="Calibri" pitchFamily="34" charset="-120"/>
                        </a:rPr>
                        <a:t>certain</a:t>
                      </a:r>
                      <a:endParaRPr lang="en-US" sz="1500" dirty="0">
                        <a:latin typeface="Calibri" charset="0"/>
                        <a:ea typeface="Calibri" charset="0"/>
                        <a:cs typeface="Calibri" charset="0"/>
                      </a:endParaRPr>
                    </a:p>
                  </a:txBody>
                  <a:tcPr marL="127000" marR="1270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ctr" indent="0" marL="0">
                        <a:buNone/>
                      </a:pPr>
                      <a:r>
                        <a:rPr lang="en-US" sz="1500" dirty="0">
                          <a:solidFill>
                            <a:srgbClr val="14161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27000" marR="127000" marT="50800" marB="508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r>
            </a:tbl>
          </a:graphicData>
        </a:graphic>
      </p:graphicFrame>
      <p:sp>
        <p:nvSpPr>
          <p:cNvPr id="4" name="text-356"/>
          <p:cNvSpPr txBox="1"/>
          <p:nvPr/>
        </p:nvSpPr>
        <p:spPr>
          <a:xfrm>
            <a:off x="548640" y="3154680"/>
            <a:ext cx="5760720" cy="320040"/>
          </a:xfrm>
          <a:prstGeom prst="rect">
            <a:avLst/>
          </a:prstGeom>
          <a:noFill/>
          <a:ln/>
        </p:spPr>
        <p:txBody>
          <a:bodyPr wrap="square" lIns="0" tIns="0" rIns="0" bIns="0" rtlCol="0" anchor="t"/>
          <a:lstStyle/>
          <a:p>
            <a:pPr indent="0" marL="0">
              <a:buNone/>
            </a:pPr>
            <a:r>
              <a:rPr lang="en-US" sz="1200" i="1" dirty="0">
                <a:solidFill>
                  <a:srgbClr val="5B6372"/>
                </a:solidFill>
                <a:latin typeface="Calibri" pitchFamily="34" charset="0"/>
                <a:ea typeface="Calibri" pitchFamily="34" charset="-122"/>
                <a:cs typeface="Calibri" pitchFamily="34" charset="-120"/>
              </a:rPr>
              <a:t>Chance of a correct guess when the same question is asked again</a:t>
            </a:r>
            <a:endParaRPr lang="en-US" sz="1200" dirty="0"/>
          </a:p>
        </p:txBody>
      </p:sp>
      <p:sp>
        <p:nvSpPr>
          <p:cNvPr id="5" name="badge-357"/>
          <p:cNvSpPr/>
          <p:nvPr/>
        </p:nvSpPr>
        <p:spPr>
          <a:xfrm>
            <a:off x="6675120" y="1536192"/>
            <a:ext cx="502920" cy="502920"/>
          </a:xfrm>
          <a:prstGeom prst="ellipse">
            <a:avLst/>
          </a:prstGeom>
          <a:solidFill>
            <a:srgbClr val="157A4F"/>
          </a:solidFill>
          <a:ln w="12700">
            <a:solidFill>
              <a:srgbClr val="157A4F"/>
            </a:solidFill>
            <a:prstDash val="solid"/>
          </a:ln>
        </p:spPr>
      </p:sp>
      <p:pic>
        <p:nvPicPr>
          <p:cNvPr id="6" name="icon-358" descr="preencoded.png">    </p:cNvPr>
          <p:cNvPicPr>
            <a:picLocks noChangeAspect="1"/>
          </p:cNvPicPr>
          <p:nvPr/>
        </p:nvPicPr>
        <p:blipFill>
          <a:blip r:embed="rId1"/>
          <a:stretch>
            <a:fillRect/>
          </a:stretch>
        </p:blipFill>
        <p:spPr>
          <a:xfrm>
            <a:off x="6785762" y="1646834"/>
            <a:ext cx="281635" cy="281635"/>
          </a:xfrm>
          <a:prstGeom prst="rect">
            <a:avLst/>
          </a:prstGeom>
        </p:spPr>
      </p:pic>
      <p:sp>
        <p:nvSpPr>
          <p:cNvPr id="7" name="text-359"/>
          <p:cNvSpPr txBox="1"/>
          <p:nvPr/>
        </p:nvSpPr>
        <p:spPr>
          <a:xfrm>
            <a:off x="7360920" y="1463040"/>
            <a:ext cx="4251960" cy="914400"/>
          </a:xfrm>
          <a:prstGeom prst="rect">
            <a:avLst/>
          </a:prstGeom>
          <a:noFill/>
          <a:ln/>
        </p:spPr>
        <p:txBody>
          <a:bodyPr wrap="square" lIns="0" tIns="0" rIns="0" bIns="0" rtlCol="0" anchor="t"/>
          <a:lstStyle/>
          <a:p>
            <a:pPr indent="0" marL="0">
              <a:buNone/>
            </a:pPr>
            <a:r>
              <a:rPr lang="en-US" sz="1600" b="1" dirty="0">
                <a:solidFill>
                  <a:srgbClr val="0A1B3D"/>
                </a:solidFill>
                <a:latin typeface="Calibri" pitchFamily="34" charset="0"/>
                <a:ea typeface="Calibri" pitchFamily="34" charset="-122"/>
                <a:cs typeface="Calibri" pitchFamily="34" charset="-120"/>
              </a:rPr>
              <a:t>A missed T/F is spent</a:t>
            </a:r>
            <a:endParaRPr lang="en-US" sz="1400" dirty="0"/>
          </a:p>
          <a:p>
            <a:pPr indent="0" marL="0">
              <a:buNone/>
            </a:pPr>
            <a:r>
              <a:rPr lang="en-US" sz="1400" dirty="0">
                <a:solidFill>
                  <a:srgbClr val="14161A"/>
                </a:solidFill>
                <a:latin typeface="Calibri" pitchFamily="34" charset="0"/>
                <a:ea typeface="Calibri" pitchFamily="34" charset="-122"/>
                <a:cs typeface="Calibri" pitchFamily="34" charset="-120"/>
              </a:rPr>
              <a:t>never served again for that student</a:t>
            </a:r>
            <a:endParaRPr lang="en-US" sz="1400" dirty="0"/>
          </a:p>
        </p:txBody>
      </p:sp>
      <p:sp>
        <p:nvSpPr>
          <p:cNvPr id="8" name="badge-360"/>
          <p:cNvSpPr/>
          <p:nvPr/>
        </p:nvSpPr>
        <p:spPr>
          <a:xfrm>
            <a:off x="6675120" y="2560320"/>
            <a:ext cx="502920" cy="502920"/>
          </a:xfrm>
          <a:prstGeom prst="ellipse">
            <a:avLst/>
          </a:prstGeom>
          <a:solidFill>
            <a:srgbClr val="157A4F"/>
          </a:solidFill>
          <a:ln w="12700">
            <a:solidFill>
              <a:srgbClr val="157A4F"/>
            </a:solidFill>
            <a:prstDash val="solid"/>
          </a:ln>
        </p:spPr>
      </p:sp>
      <p:pic>
        <p:nvPicPr>
          <p:cNvPr id="9" name="icon-361" descr="preencoded.png">    </p:cNvPr>
          <p:cNvPicPr>
            <a:picLocks noChangeAspect="1"/>
          </p:cNvPicPr>
          <p:nvPr/>
        </p:nvPicPr>
        <p:blipFill>
          <a:blip r:embed="rId2"/>
          <a:stretch>
            <a:fillRect/>
          </a:stretch>
        </p:blipFill>
        <p:spPr>
          <a:xfrm>
            <a:off x="6785762" y="2670962"/>
            <a:ext cx="281635" cy="281635"/>
          </a:xfrm>
          <a:prstGeom prst="rect">
            <a:avLst/>
          </a:prstGeom>
        </p:spPr>
      </p:pic>
      <p:sp>
        <p:nvSpPr>
          <p:cNvPr id="10" name="text-362"/>
          <p:cNvSpPr txBox="1"/>
          <p:nvPr/>
        </p:nvSpPr>
        <p:spPr>
          <a:xfrm>
            <a:off x="7360920" y="2487168"/>
            <a:ext cx="4251960" cy="914400"/>
          </a:xfrm>
          <a:prstGeom prst="rect">
            <a:avLst/>
          </a:prstGeom>
          <a:noFill/>
          <a:ln/>
        </p:spPr>
        <p:txBody>
          <a:bodyPr wrap="square" lIns="0" tIns="0" rIns="0" bIns="0" rtlCol="0" anchor="t"/>
          <a:lstStyle/>
          <a:p>
            <a:pPr indent="0" marL="0">
              <a:buNone/>
            </a:pPr>
            <a:r>
              <a:rPr lang="en-US" sz="1600" b="1" dirty="0">
                <a:solidFill>
                  <a:srgbClr val="0A1B3D"/>
                </a:solidFill>
                <a:latin typeface="Calibri" pitchFamily="34" charset="0"/>
                <a:ea typeface="Calibri" pitchFamily="34" charset="-122"/>
                <a:cs typeface="Calibri" pitchFamily="34" charset="-120"/>
              </a:rPr>
              <a:t>Re-teach, then a different question</a:t>
            </a:r>
            <a:endParaRPr lang="en-US" sz="1400" dirty="0"/>
          </a:p>
          <a:p>
            <a:pPr indent="0" marL="0">
              <a:buNone/>
            </a:pPr>
            <a:r>
              <a:rPr lang="en-US" sz="1400" dirty="0">
                <a:solidFill>
                  <a:srgbClr val="14161A"/>
                </a:solidFill>
                <a:latin typeface="Calibri" pitchFamily="34" charset="0"/>
                <a:ea typeface="Calibri" pitchFamily="34" charset="-122"/>
                <a:cs typeface="Calibri" pitchFamily="34" charset="-120"/>
              </a:rPr>
              <a:t>the concept's next open question, then its reserve from the bank</a:t>
            </a:r>
            <a:endParaRPr lang="en-US" sz="1400" dirty="0"/>
          </a:p>
        </p:txBody>
      </p:sp>
      <p:sp>
        <p:nvSpPr>
          <p:cNvPr id="11" name="badge-363"/>
          <p:cNvSpPr/>
          <p:nvPr/>
        </p:nvSpPr>
        <p:spPr>
          <a:xfrm>
            <a:off x="6675120" y="3584448"/>
            <a:ext cx="502920" cy="502920"/>
          </a:xfrm>
          <a:prstGeom prst="ellipse">
            <a:avLst/>
          </a:prstGeom>
          <a:solidFill>
            <a:srgbClr val="157A4F"/>
          </a:solidFill>
          <a:ln w="12700">
            <a:solidFill>
              <a:srgbClr val="157A4F"/>
            </a:solidFill>
            <a:prstDash val="solid"/>
          </a:ln>
        </p:spPr>
      </p:sp>
      <p:pic>
        <p:nvPicPr>
          <p:cNvPr id="12" name="icon-364" descr="preencoded.png">    </p:cNvPr>
          <p:cNvPicPr>
            <a:picLocks noChangeAspect="1"/>
          </p:cNvPicPr>
          <p:nvPr/>
        </p:nvPicPr>
        <p:blipFill>
          <a:blip r:embed="rId3"/>
          <a:stretch>
            <a:fillRect/>
          </a:stretch>
        </p:blipFill>
        <p:spPr>
          <a:xfrm>
            <a:off x="6785762" y="3695090"/>
            <a:ext cx="281635" cy="281635"/>
          </a:xfrm>
          <a:prstGeom prst="rect">
            <a:avLst/>
          </a:prstGeom>
        </p:spPr>
      </p:pic>
      <p:sp>
        <p:nvSpPr>
          <p:cNvPr id="13" name="text-365"/>
          <p:cNvSpPr txBox="1"/>
          <p:nvPr/>
        </p:nvSpPr>
        <p:spPr>
          <a:xfrm>
            <a:off x="7360920" y="3511296"/>
            <a:ext cx="4251960" cy="914400"/>
          </a:xfrm>
          <a:prstGeom prst="rect">
            <a:avLst/>
          </a:prstGeom>
          <a:noFill/>
          <a:ln/>
        </p:spPr>
        <p:txBody>
          <a:bodyPr wrap="square" lIns="0" tIns="0" rIns="0" bIns="0" rtlCol="0" anchor="t"/>
          <a:lstStyle/>
          <a:p>
            <a:pPr indent="0" marL="0">
              <a:buNone/>
            </a:pPr>
            <a:r>
              <a:rPr lang="en-US" sz="1600" b="1" dirty="0">
                <a:solidFill>
                  <a:srgbClr val="0A1B3D"/>
                </a:solidFill>
                <a:latin typeface="Calibri" pitchFamily="34" charset="0"/>
                <a:ea typeface="Calibri" pitchFamily="34" charset="-122"/>
                <a:cs typeface="Calibri" pitchFamily="34" charset="-120"/>
              </a:rPr>
              <a:t>Nothing fair left?</a:t>
            </a:r>
            <a:endParaRPr lang="en-US" sz="1400" dirty="0"/>
          </a:p>
          <a:p>
            <a:pPr indent="0" marL="0">
              <a:buNone/>
            </a:pPr>
            <a:r>
              <a:rPr lang="en-US" sz="1400" dirty="0">
                <a:solidFill>
                  <a:srgbClr val="14161A"/>
                </a:solidFill>
                <a:latin typeface="Calibri" pitchFamily="34" charset="0"/>
                <a:ea typeface="Calibri" pitchFamily="34" charset="-122"/>
                <a:cs typeface="Calibri" pitchFamily="34" charset="-120"/>
              </a:rPr>
              <a:t>re-teach anyway, then move on — no re-ask</a:t>
            </a:r>
            <a:endParaRPr lang="en-US" sz="1400" dirty="0"/>
          </a:p>
        </p:txBody>
      </p:sp>
      <p:sp>
        <p:nvSpPr>
          <p:cNvPr id="14" name="badge-366"/>
          <p:cNvSpPr/>
          <p:nvPr/>
        </p:nvSpPr>
        <p:spPr>
          <a:xfrm>
            <a:off x="6675120" y="4608576"/>
            <a:ext cx="502920" cy="502920"/>
          </a:xfrm>
          <a:prstGeom prst="ellipse">
            <a:avLst/>
          </a:prstGeom>
          <a:solidFill>
            <a:srgbClr val="1A47A8"/>
          </a:solidFill>
          <a:ln w="12700">
            <a:solidFill>
              <a:srgbClr val="1A47A8"/>
            </a:solidFill>
            <a:prstDash val="solid"/>
          </a:ln>
        </p:spPr>
      </p:sp>
      <p:pic>
        <p:nvPicPr>
          <p:cNvPr id="15" name="icon-367" descr="preencoded.png">    </p:cNvPr>
          <p:cNvPicPr>
            <a:picLocks noChangeAspect="1"/>
          </p:cNvPicPr>
          <p:nvPr/>
        </p:nvPicPr>
        <p:blipFill>
          <a:blip r:embed="rId4"/>
          <a:stretch>
            <a:fillRect/>
          </a:stretch>
        </p:blipFill>
        <p:spPr>
          <a:xfrm>
            <a:off x="6785762" y="4719218"/>
            <a:ext cx="281635" cy="281635"/>
          </a:xfrm>
          <a:prstGeom prst="rect">
            <a:avLst/>
          </a:prstGeom>
        </p:spPr>
      </p:pic>
      <p:sp>
        <p:nvSpPr>
          <p:cNvPr id="16" name="text-368"/>
          <p:cNvSpPr txBox="1"/>
          <p:nvPr/>
        </p:nvSpPr>
        <p:spPr>
          <a:xfrm>
            <a:off x="7360920" y="4535424"/>
            <a:ext cx="4251960" cy="914400"/>
          </a:xfrm>
          <a:prstGeom prst="rect">
            <a:avLst/>
          </a:prstGeom>
          <a:noFill/>
          <a:ln/>
        </p:spPr>
        <p:txBody>
          <a:bodyPr wrap="square" lIns="0" tIns="0" rIns="0" bIns="0" rtlCol="0" anchor="t"/>
          <a:lstStyle/>
          <a:p>
            <a:pPr indent="0" marL="0">
              <a:buNone/>
            </a:pPr>
            <a:r>
              <a:rPr lang="en-US" sz="1600" b="1" dirty="0">
                <a:solidFill>
                  <a:srgbClr val="0A1B3D"/>
                </a:solidFill>
                <a:latin typeface="Calibri" pitchFamily="34" charset="0"/>
                <a:ea typeface="Calibri" pitchFamily="34" charset="-122"/>
                <a:cs typeface="Calibri" pitchFamily="34" charset="-120"/>
              </a:rPr>
              <a:t>MCQ</a:t>
            </a:r>
            <a:endParaRPr lang="en-US" sz="1400" dirty="0"/>
          </a:p>
          <a:p>
            <a:pPr indent="0" marL="0">
              <a:buNone/>
            </a:pPr>
            <a:r>
              <a:rPr lang="en-US" sz="1400" dirty="0">
                <a:solidFill>
                  <a:srgbClr val="14161A"/>
                </a:solidFill>
                <a:latin typeface="Calibri" pitchFamily="34" charset="0"/>
                <a:ea typeface="Calibri" pitchFamily="34" charset="-122"/>
                <a:cs typeface="Calibri" pitchFamily="34" charset="-120"/>
              </a:rPr>
              <a:t>re-teach, then the same question</a:t>
            </a:r>
            <a:endParaRPr lang="en-US" sz="1400" dirty="0"/>
          </a:p>
        </p:txBody>
      </p:sp>
      <p:sp>
        <p:nvSpPr>
          <p:cNvPr id="17" name="card-369"/>
          <p:cNvSpPr/>
          <p:nvPr/>
        </p:nvSpPr>
        <p:spPr>
          <a:xfrm>
            <a:off x="548640" y="3749040"/>
            <a:ext cx="5760720" cy="2011680"/>
          </a:xfrm>
          <a:prstGeom prst="roundRect">
            <a:avLst>
              <a:gd name="adj" fmla="val 5455"/>
            </a:avLst>
          </a:prstGeom>
          <a:solidFill>
            <a:srgbClr val="DCE8FD"/>
          </a:solidFill>
          <a:ln w="12700">
            <a:solidFill>
              <a:srgbClr val="DCE8FD"/>
            </a:solidFill>
            <a:prstDash val="solid"/>
          </a:ln>
        </p:spPr>
      </p:sp>
      <p:sp>
        <p:nvSpPr>
          <p:cNvPr id="18" name="text-370"/>
          <p:cNvSpPr txBox="1"/>
          <p:nvPr/>
        </p:nvSpPr>
        <p:spPr>
          <a:xfrm>
            <a:off x="822960" y="3931920"/>
            <a:ext cx="5212080" cy="1691640"/>
          </a:xfrm>
          <a:prstGeom prst="rect">
            <a:avLst/>
          </a:prstGeom>
          <a:noFill/>
          <a:ln/>
        </p:spPr>
        <p:txBody>
          <a:bodyPr wrap="square" lIns="0" tIns="0" rIns="0" bIns="0" rtlCol="0" anchor="t"/>
          <a:lstStyle/>
          <a:p>
            <a:pPr indent="0" marL="0">
              <a:buNone/>
            </a:pPr>
            <a:r>
              <a:rPr lang="en-US" sz="1600" b="1" dirty="0">
                <a:solidFill>
                  <a:srgbClr val="0A1B3D"/>
                </a:solidFill>
                <a:latin typeface="Calibri" pitchFamily="34" charset="0"/>
                <a:ea typeface="Calibri" pitchFamily="34" charset="-122"/>
                <a:cs typeface="Calibri" pitchFamily="34" charset="-120"/>
              </a:rPr>
              <a:t>Why it matters for scoring</a:t>
            </a:r>
            <a:endParaRPr lang="en-US" sz="1400" dirty="0"/>
          </a:p>
          <a:p>
            <a:pPr indent="0" marL="0">
              <a:buNone/>
            </a:pPr>
            <a:r>
              <a:rPr lang="en-US" sz="1400" dirty="0">
                <a:solidFill>
                  <a:srgbClr val="14161A"/>
                </a:solidFill>
                <a:latin typeface="Calibri" pitchFamily="34" charset="0"/>
                <a:ea typeface="Calibri" pitchFamily="34" charset="-122"/>
                <a:cs typeface="Calibri" pitchFamily="34" charset="-120"/>
              </a:rPr>
              <a:t>A second answer to the same T/F measures elimination, not knowledge. Spending the question keeps every logged answer meaningful — and keeps the mastery estimate honest.</a:t>
            </a:r>
            <a:endParaRPr lang="en-US" sz="14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Verified end to end, on a real topic</a:t>
            </a:r>
            <a:endParaRPr lang="en-US" sz="3000" dirty="0"/>
          </a:p>
        </p:txBody>
      </p:sp>
      <p:sp>
        <p:nvSpPr>
          <p:cNvPr id="3" name="card-371"/>
          <p:cNvSpPr/>
          <p:nvPr/>
        </p:nvSpPr>
        <p:spPr>
          <a:xfrm>
            <a:off x="548640" y="1417320"/>
            <a:ext cx="3474720" cy="2103120"/>
          </a:xfrm>
          <a:prstGeom prst="roundRect">
            <a:avLst>
              <a:gd name="adj" fmla="val 5217"/>
            </a:avLst>
          </a:prstGeom>
          <a:solidFill>
            <a:srgbClr val="EFF4FE"/>
          </a:solidFill>
          <a:ln w="12700">
            <a:solidFill>
              <a:srgbClr val="EFF4FE"/>
            </a:solidFill>
            <a:prstDash val="solid"/>
          </a:ln>
        </p:spPr>
      </p:sp>
      <p:sp>
        <p:nvSpPr>
          <p:cNvPr id="4" name="text-372"/>
          <p:cNvSpPr txBox="1"/>
          <p:nvPr/>
        </p:nvSpPr>
        <p:spPr>
          <a:xfrm>
            <a:off x="822960" y="1554480"/>
            <a:ext cx="2926080" cy="914400"/>
          </a:xfrm>
          <a:prstGeom prst="rect">
            <a:avLst/>
          </a:prstGeom>
          <a:noFill/>
          <a:ln/>
        </p:spPr>
        <p:txBody>
          <a:bodyPr wrap="square" lIns="0" tIns="0" rIns="0" bIns="0" rtlCol="0" anchor="t"/>
          <a:lstStyle/>
          <a:p>
            <a:pPr indent="0" marL="0">
              <a:buNone/>
            </a:pPr>
            <a:r>
              <a:rPr lang="en-US" sz="5000" b="1" dirty="0">
                <a:solidFill>
                  <a:srgbClr val="1D5FD6"/>
                </a:solidFill>
                <a:latin typeface="Cambria" pitchFamily="34" charset="0"/>
                <a:ea typeface="Cambria" pitchFamily="34" charset="-122"/>
                <a:cs typeface="Cambria" pitchFamily="34" charset="-120"/>
              </a:rPr>
              <a:t>28</a:t>
            </a:r>
            <a:endParaRPr lang="en-US" sz="5000" dirty="0"/>
          </a:p>
        </p:txBody>
      </p:sp>
      <p:sp>
        <p:nvSpPr>
          <p:cNvPr id="5" name="text-373"/>
          <p:cNvSpPr txBox="1"/>
          <p:nvPr/>
        </p:nvSpPr>
        <p:spPr>
          <a:xfrm>
            <a:off x="822960" y="2514600"/>
            <a:ext cx="2926080" cy="914400"/>
          </a:xfrm>
          <a:prstGeom prst="rect">
            <a:avLst/>
          </a:prstGeom>
          <a:noFill/>
          <a:ln/>
        </p:spPr>
        <p:txBody>
          <a:bodyPr wrap="square" lIns="0" tIns="0" rIns="0" bIns="0" rtlCol="0" anchor="t"/>
          <a:lstStyle/>
          <a:p>
            <a:pPr indent="0" marL="0">
              <a:buNone/>
            </a:pPr>
            <a:r>
              <a:rPr lang="en-US" sz="1400" dirty="0">
                <a:solidFill>
                  <a:srgbClr val="14161A"/>
                </a:solidFill>
                <a:latin typeface="Calibri" pitchFamily="34" charset="0"/>
                <a:ea typeface="Calibri" pitchFamily="34" charset="-122"/>
                <a:cs typeface="Calibri" pitchFamily="34" charset="-120"/>
              </a:rPr>
              <a:t>backend tests for the package, engine, cold start and ladder</a:t>
            </a:r>
            <a:endParaRPr lang="en-US" sz="1400" dirty="0"/>
          </a:p>
        </p:txBody>
      </p:sp>
      <p:sp>
        <p:nvSpPr>
          <p:cNvPr id="6" name="card-374"/>
          <p:cNvSpPr/>
          <p:nvPr/>
        </p:nvSpPr>
        <p:spPr>
          <a:xfrm>
            <a:off x="4297680" y="1417320"/>
            <a:ext cx="3474720" cy="2103120"/>
          </a:xfrm>
          <a:prstGeom prst="roundRect">
            <a:avLst>
              <a:gd name="adj" fmla="val 5217"/>
            </a:avLst>
          </a:prstGeom>
          <a:solidFill>
            <a:srgbClr val="EFF4FE"/>
          </a:solidFill>
          <a:ln w="12700">
            <a:solidFill>
              <a:srgbClr val="EFF4FE"/>
            </a:solidFill>
            <a:prstDash val="solid"/>
          </a:ln>
        </p:spPr>
      </p:sp>
      <p:sp>
        <p:nvSpPr>
          <p:cNvPr id="7" name="text-375"/>
          <p:cNvSpPr txBox="1"/>
          <p:nvPr/>
        </p:nvSpPr>
        <p:spPr>
          <a:xfrm>
            <a:off x="4572000" y="1554480"/>
            <a:ext cx="2926080" cy="914400"/>
          </a:xfrm>
          <a:prstGeom prst="rect">
            <a:avLst/>
          </a:prstGeom>
          <a:noFill/>
          <a:ln/>
        </p:spPr>
        <p:txBody>
          <a:bodyPr wrap="square" lIns="0" tIns="0" rIns="0" bIns="0" rtlCol="0" anchor="t"/>
          <a:lstStyle/>
          <a:p>
            <a:pPr indent="0" marL="0">
              <a:buNone/>
            </a:pPr>
            <a:r>
              <a:rPr lang="en-US" sz="5000" b="1" dirty="0">
                <a:solidFill>
                  <a:srgbClr val="1D5FD6"/>
                </a:solidFill>
                <a:latin typeface="Cambria" pitchFamily="34" charset="0"/>
                <a:ea typeface="Cambria" pitchFamily="34" charset="-122"/>
                <a:cs typeface="Cambria" pitchFamily="34" charset="-120"/>
              </a:rPr>
              <a:t>1,479</a:t>
            </a:r>
            <a:endParaRPr lang="en-US" sz="5000" dirty="0"/>
          </a:p>
        </p:txBody>
      </p:sp>
      <p:sp>
        <p:nvSpPr>
          <p:cNvPr id="8" name="text-376"/>
          <p:cNvSpPr txBox="1"/>
          <p:nvPr/>
        </p:nvSpPr>
        <p:spPr>
          <a:xfrm>
            <a:off x="4572000" y="2514600"/>
            <a:ext cx="2926080" cy="914400"/>
          </a:xfrm>
          <a:prstGeom prst="rect">
            <a:avLst/>
          </a:prstGeom>
          <a:noFill/>
          <a:ln/>
        </p:spPr>
        <p:txBody>
          <a:bodyPr wrap="square" lIns="0" tIns="0" rIns="0" bIns="0" rtlCol="0" anchor="t"/>
          <a:lstStyle/>
          <a:p>
            <a:pPr indent="0" marL="0">
              <a:buNone/>
            </a:pPr>
            <a:r>
              <a:rPr lang="en-US" sz="1400" dirty="0">
                <a:solidFill>
                  <a:srgbClr val="14161A"/>
                </a:solidFill>
                <a:latin typeface="Calibri" pitchFamily="34" charset="0"/>
                <a:ea typeface="Calibri" pitchFamily="34" charset="-122"/>
                <a:cs typeface="Calibri" pitchFamily="34" charset="-120"/>
              </a:rPr>
              <a:t>tests in the full backend suite after merging the team's content changes</a:t>
            </a:r>
            <a:endParaRPr lang="en-US" sz="1400" dirty="0"/>
          </a:p>
        </p:txBody>
      </p:sp>
      <p:sp>
        <p:nvSpPr>
          <p:cNvPr id="9" name="card-377"/>
          <p:cNvSpPr/>
          <p:nvPr/>
        </p:nvSpPr>
        <p:spPr>
          <a:xfrm>
            <a:off x="8046720" y="1417320"/>
            <a:ext cx="3474720" cy="2103120"/>
          </a:xfrm>
          <a:prstGeom prst="roundRect">
            <a:avLst>
              <a:gd name="adj" fmla="val 5217"/>
            </a:avLst>
          </a:prstGeom>
          <a:solidFill>
            <a:srgbClr val="DCE8FD"/>
          </a:solidFill>
          <a:ln w="12700">
            <a:solidFill>
              <a:srgbClr val="DCE8FD"/>
            </a:solidFill>
            <a:prstDash val="solid"/>
          </a:ln>
        </p:spPr>
      </p:sp>
      <p:sp>
        <p:nvSpPr>
          <p:cNvPr id="10" name="text-378"/>
          <p:cNvSpPr txBox="1"/>
          <p:nvPr/>
        </p:nvSpPr>
        <p:spPr>
          <a:xfrm>
            <a:off x="8321040" y="1554480"/>
            <a:ext cx="2926080" cy="914400"/>
          </a:xfrm>
          <a:prstGeom prst="rect">
            <a:avLst/>
          </a:prstGeom>
          <a:noFill/>
          <a:ln/>
        </p:spPr>
        <p:txBody>
          <a:bodyPr wrap="square" lIns="0" tIns="0" rIns="0" bIns="0" rtlCol="0" anchor="t"/>
          <a:lstStyle/>
          <a:p>
            <a:pPr indent="0" marL="0">
              <a:buNone/>
            </a:pPr>
            <a:r>
              <a:rPr lang="en-US" sz="5000" b="1" dirty="0">
                <a:solidFill>
                  <a:srgbClr val="157A4F"/>
                </a:solidFill>
                <a:latin typeface="Cambria" pitchFamily="34" charset="0"/>
                <a:ea typeface="Cambria" pitchFamily="34" charset="-122"/>
                <a:cs typeface="Cambria" pitchFamily="34" charset="-120"/>
              </a:rPr>
              <a:t>3 / 3</a:t>
            </a:r>
            <a:endParaRPr lang="en-US" sz="5000" dirty="0"/>
          </a:p>
        </p:txBody>
      </p:sp>
      <p:sp>
        <p:nvSpPr>
          <p:cNvPr id="11" name="text-379"/>
          <p:cNvSpPr txBox="1"/>
          <p:nvPr/>
        </p:nvSpPr>
        <p:spPr>
          <a:xfrm>
            <a:off x="8321040" y="2514600"/>
            <a:ext cx="2926080" cy="914400"/>
          </a:xfrm>
          <a:prstGeom prst="rect">
            <a:avLst/>
          </a:prstGeom>
          <a:noFill/>
          <a:ln/>
        </p:spPr>
        <p:txBody>
          <a:bodyPr wrap="square" lIns="0" tIns="0" rIns="0" bIns="0" rtlCol="0" anchor="t"/>
          <a:lstStyle/>
          <a:p>
            <a:pPr indent="0" marL="0">
              <a:buNone/>
            </a:pPr>
            <a:r>
              <a:rPr lang="en-US" sz="1400" dirty="0">
                <a:solidFill>
                  <a:srgbClr val="14161A"/>
                </a:solidFill>
                <a:latin typeface="Calibri" pitchFamily="34" charset="0"/>
                <a:ea typeface="Calibri" pitchFamily="34" charset="-122"/>
                <a:cs typeface="Calibri" pitchFamily="34" charset="-120"/>
              </a:rPr>
              <a:t>simulated students walk Solid, Liquid and Gas to completion</a:t>
            </a:r>
            <a:endParaRPr lang="en-US" sz="1400" dirty="0"/>
          </a:p>
        </p:txBody>
      </p:sp>
      <p:graphicFrame>
        <p:nvGraphicFramePr>
          <p:cNvPr id="12" name="chart-walks" descr=""/>
          <p:cNvGraphicFramePr/>
          <p:nvPr/>
        </p:nvGraphicFramePr>
        <p:xfrm>
          <a:off x="548640" y="3703320"/>
          <a:ext cx="6400800" cy="2514600"/>
        </p:xfrm>
        <a:graphic xmlns:a="http://schemas.openxmlformats.org/drawingml/2006/main">
          <a:graphicData uri="http://schemas.openxmlformats.org/drawingml/2006/chart">
            <c:chart xmlns:c="http://schemas.openxmlformats.org/drawingml/2006/chart" r:id="rId1"/>
          </a:graphicData>
        </a:graphic>
      </p:graphicFrame>
      <p:sp>
        <p:nvSpPr>
          <p:cNvPr id="13" name="text-380"/>
          <p:cNvSpPr txBox="1"/>
          <p:nvPr/>
        </p:nvSpPr>
        <p:spPr>
          <a:xfrm>
            <a:off x="7315200" y="3749040"/>
            <a:ext cx="4297680" cy="2377440"/>
          </a:xfrm>
          <a:prstGeom prst="rect">
            <a:avLst/>
          </a:prstGeom>
          <a:noFill/>
          <a:ln/>
        </p:spPr>
        <p:txBody>
          <a:bodyPr wrap="square" lIns="0" tIns="0" rIns="0" bIns="0" rtlCol="0" anchor="t"/>
          <a:lstStyle/>
          <a:p>
            <a:pPr indent="0" marL="0">
              <a:spcAft>
                <a:spcPts val="800"/>
              </a:spcAft>
              <a:buNone/>
            </a:pPr>
            <a:r>
              <a:rPr lang="en-US" sz="1400" dirty="0">
                <a:solidFill>
                  <a:srgbClr val="14161A"/>
                </a:solidFill>
                <a:latin typeface="Calibri" pitchFamily="34" charset="0"/>
                <a:ea typeface="Calibri" pitchFamily="34" charset="-122"/>
                <a:cs typeface="Calibri" pitchFamily="34" charset="-120"/>
              </a:rPr>
              <a:t>The harness drives the phone's real traversal code against a live server on a copy of the database.</a:t>
            </a:r>
            <a:endParaRPr lang="en-US" sz="1400" dirty="0"/>
          </a:p>
          <a:p>
            <a:pPr indent="0" marL="0">
              <a:spcAft>
                <a:spcPts val="800"/>
              </a:spcAft>
              <a:buNone/>
            </a:pPr>
            <a:r>
              <a:rPr lang="en-US" sz="1400" dirty="0">
                <a:solidFill>
                  <a:srgbClr val="14161A"/>
                </a:solidFill>
                <a:latin typeface="Calibri" pitchFamily="34" charset="0"/>
                <a:ea typeface="Calibri" pitchFamily="34" charset="-122"/>
                <a:cs typeface="Calibri" pitchFamily="34" charset="-120"/>
              </a:rPr>
              <a:t>It checks every audio clip downloads, the app and server always agree on step and explanation type, and a missed T/F is never asked again.</a:t>
            </a:r>
            <a:endParaRPr lang="en-US" sz="14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Limitations and phase 2</a:t>
            </a:r>
            <a:endParaRPr lang="en-US" sz="3000" dirty="0"/>
          </a:p>
        </p:txBody>
      </p:sp>
      <p:sp>
        <p:nvSpPr>
          <p:cNvPr id="3" name="card-381"/>
          <p:cNvSpPr/>
          <p:nvPr/>
        </p:nvSpPr>
        <p:spPr>
          <a:xfrm>
            <a:off x="548640" y="1417320"/>
            <a:ext cx="5440680" cy="4480560"/>
          </a:xfrm>
          <a:prstGeom prst="roundRect">
            <a:avLst>
              <a:gd name="adj" fmla="val 2449"/>
            </a:avLst>
          </a:prstGeom>
          <a:solidFill>
            <a:srgbClr val="EFF4FE"/>
          </a:solidFill>
          <a:ln w="12700">
            <a:solidFill>
              <a:srgbClr val="EFF4FE"/>
            </a:solidFill>
            <a:prstDash val="solid"/>
          </a:ln>
        </p:spPr>
      </p:sp>
      <p:sp>
        <p:nvSpPr>
          <p:cNvPr id="4" name="badge-382"/>
          <p:cNvSpPr/>
          <p:nvPr/>
        </p:nvSpPr>
        <p:spPr>
          <a:xfrm>
            <a:off x="868680" y="1645920"/>
            <a:ext cx="640080" cy="640080"/>
          </a:xfrm>
          <a:prstGeom prst="ellipse">
            <a:avLst/>
          </a:prstGeom>
          <a:solidFill>
            <a:srgbClr val="E8833A"/>
          </a:solidFill>
          <a:ln w="12700">
            <a:solidFill>
              <a:srgbClr val="E8833A"/>
            </a:solidFill>
            <a:prstDash val="solid"/>
          </a:ln>
        </p:spPr>
      </p:sp>
      <p:pic>
        <p:nvPicPr>
          <p:cNvPr id="5" name="icon-383" descr="preencoded.png">    </p:cNvPr>
          <p:cNvPicPr>
            <a:picLocks noChangeAspect="1"/>
          </p:cNvPicPr>
          <p:nvPr/>
        </p:nvPicPr>
        <p:blipFill>
          <a:blip r:embed="rId1"/>
          <a:stretch>
            <a:fillRect/>
          </a:stretch>
        </p:blipFill>
        <p:spPr>
          <a:xfrm>
            <a:off x="1009498" y="1786738"/>
            <a:ext cx="358445" cy="358445"/>
          </a:xfrm>
          <a:prstGeom prst="rect">
            <a:avLst/>
          </a:prstGeom>
        </p:spPr>
      </p:pic>
      <p:sp>
        <p:nvSpPr>
          <p:cNvPr id="6" name="text-384"/>
          <p:cNvSpPr txBox="1"/>
          <p:nvPr/>
        </p:nvSpPr>
        <p:spPr>
          <a:xfrm>
            <a:off x="1691640" y="1691640"/>
            <a:ext cx="4023360" cy="548640"/>
          </a:xfrm>
          <a:prstGeom prst="rect">
            <a:avLst/>
          </a:prstGeom>
          <a:noFill/>
          <a:ln/>
        </p:spPr>
        <p:txBody>
          <a:bodyPr wrap="square" lIns="0" tIns="0" rIns="0" bIns="0" rtlCol="0" anchor="ctr"/>
          <a:lstStyle/>
          <a:p>
            <a:pPr indent="0" marL="0">
              <a:buNone/>
            </a:pPr>
            <a:r>
              <a:rPr lang="en-US" sz="2200" b="1" dirty="0">
                <a:solidFill>
                  <a:srgbClr val="0A1B3D"/>
                </a:solidFill>
                <a:latin typeface="Cambria" pitchFamily="34" charset="0"/>
                <a:ea typeface="Cambria" pitchFamily="34" charset="-122"/>
                <a:cs typeface="Cambria" pitchFamily="34" charset="-120"/>
              </a:rPr>
              <a:t>Limitations</a:t>
            </a:r>
            <a:endParaRPr lang="en-US" sz="2200" dirty="0"/>
          </a:p>
        </p:txBody>
      </p:sp>
      <p:sp>
        <p:nvSpPr>
          <p:cNvPr id="7" name="text-385"/>
          <p:cNvSpPr txBox="1"/>
          <p:nvPr/>
        </p:nvSpPr>
        <p:spPr>
          <a:xfrm>
            <a:off x="868680" y="2560320"/>
            <a:ext cx="484632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4161A"/>
                </a:solidFill>
                <a:latin typeface="Calibri" pitchFamily="34" charset="0"/>
                <a:ea typeface="Calibri" pitchFamily="34" charset="-122"/>
                <a:cs typeface="Calibri" pitchFamily="34" charset="-120"/>
              </a:rPr>
              <a:t>Parameters are informed defaults, not yet fitted to our students</a:t>
            </a:r>
            <a:endParaRPr lang="en-US" sz="1600" dirty="0"/>
          </a:p>
          <a:p>
            <a:pPr marL="342900" indent="-342900">
              <a:spcAft>
                <a:spcPts val="1200"/>
              </a:spcAft>
              <a:buSzPct val="100000"/>
              <a:buChar char="•"/>
            </a:pPr>
            <a:r>
              <a:rPr lang="en-US" sz="1600" dirty="0">
                <a:solidFill>
                  <a:srgbClr val="14161A"/>
                </a:solidFill>
                <a:latin typeface="Calibri" pitchFamily="34" charset="0"/>
                <a:ea typeface="Calibri" pitchFamily="34" charset="-122"/>
                <a:cs typeface="Calibri" pitchFamily="34" charset="-120"/>
              </a:rPr>
              <a:t>BKT treats concepts as independent, apart from the prerequisite-informed start</a:t>
            </a:r>
            <a:endParaRPr lang="en-US" sz="1600" dirty="0"/>
          </a:p>
          <a:p>
            <a:pPr marL="342900" indent="-342900">
              <a:spcAft>
                <a:spcPts val="1200"/>
              </a:spcAft>
              <a:buSzPct val="100000"/>
              <a:buChar char="•"/>
            </a:pPr>
            <a:r>
              <a:rPr lang="en-US" sz="1600" dirty="0">
                <a:solidFill>
                  <a:srgbClr val="14161A"/>
                </a:solidFill>
                <a:latin typeface="Calibri" pitchFamily="34" charset="0"/>
                <a:ea typeface="Calibri" pitchFamily="34" charset="-122"/>
                <a:cs typeface="Calibri" pitchFamily="34" charset="-120"/>
              </a:rPr>
              <a:t>The DQN agent has only seen simulated learners</a:t>
            </a:r>
            <a:endParaRPr lang="en-US" sz="1600" dirty="0"/>
          </a:p>
        </p:txBody>
      </p:sp>
      <p:sp>
        <p:nvSpPr>
          <p:cNvPr id="8" name="card-386"/>
          <p:cNvSpPr/>
          <p:nvPr/>
        </p:nvSpPr>
        <p:spPr>
          <a:xfrm>
            <a:off x="6172200" y="1417320"/>
            <a:ext cx="5440680" cy="4480560"/>
          </a:xfrm>
          <a:prstGeom prst="roundRect">
            <a:avLst>
              <a:gd name="adj" fmla="val 2449"/>
            </a:avLst>
          </a:prstGeom>
          <a:solidFill>
            <a:srgbClr val="DCE8FD"/>
          </a:solidFill>
          <a:ln w="12700">
            <a:solidFill>
              <a:srgbClr val="DCE8FD"/>
            </a:solidFill>
            <a:prstDash val="solid"/>
          </a:ln>
        </p:spPr>
      </p:sp>
      <p:sp>
        <p:nvSpPr>
          <p:cNvPr id="9" name="badge-387"/>
          <p:cNvSpPr/>
          <p:nvPr/>
        </p:nvSpPr>
        <p:spPr>
          <a:xfrm>
            <a:off x="6492240" y="1645920"/>
            <a:ext cx="640080" cy="640080"/>
          </a:xfrm>
          <a:prstGeom prst="ellipse">
            <a:avLst/>
          </a:prstGeom>
          <a:solidFill>
            <a:srgbClr val="1D5FD6"/>
          </a:solidFill>
          <a:ln w="12700">
            <a:solidFill>
              <a:srgbClr val="1D5FD6"/>
            </a:solidFill>
            <a:prstDash val="solid"/>
          </a:ln>
        </p:spPr>
      </p:sp>
      <p:pic>
        <p:nvPicPr>
          <p:cNvPr id="10" name="icon-388" descr="preencoded.png">    </p:cNvPr>
          <p:cNvPicPr>
            <a:picLocks noChangeAspect="1"/>
          </p:cNvPicPr>
          <p:nvPr/>
        </p:nvPicPr>
        <p:blipFill>
          <a:blip r:embed="rId2"/>
          <a:stretch>
            <a:fillRect/>
          </a:stretch>
        </p:blipFill>
        <p:spPr>
          <a:xfrm>
            <a:off x="6633058" y="1786738"/>
            <a:ext cx="358445" cy="358445"/>
          </a:xfrm>
          <a:prstGeom prst="rect">
            <a:avLst/>
          </a:prstGeom>
        </p:spPr>
      </p:pic>
      <p:sp>
        <p:nvSpPr>
          <p:cNvPr id="11" name="text-389"/>
          <p:cNvSpPr txBox="1"/>
          <p:nvPr/>
        </p:nvSpPr>
        <p:spPr>
          <a:xfrm>
            <a:off x="7315200" y="1691640"/>
            <a:ext cx="4023360" cy="548640"/>
          </a:xfrm>
          <a:prstGeom prst="rect">
            <a:avLst/>
          </a:prstGeom>
          <a:noFill/>
          <a:ln/>
        </p:spPr>
        <p:txBody>
          <a:bodyPr wrap="square" lIns="0" tIns="0" rIns="0" bIns="0" rtlCol="0" anchor="ctr"/>
          <a:lstStyle/>
          <a:p>
            <a:pPr indent="0" marL="0">
              <a:buNone/>
            </a:pPr>
            <a:r>
              <a:rPr lang="en-US" sz="2200" b="1" dirty="0">
                <a:solidFill>
                  <a:srgbClr val="0A1B3D"/>
                </a:solidFill>
                <a:latin typeface="Cambria" pitchFamily="34" charset="0"/>
                <a:ea typeface="Cambria" pitchFamily="34" charset="-122"/>
                <a:cs typeface="Cambria" pitchFamily="34" charset="-120"/>
              </a:rPr>
              <a:t>Phase 2</a:t>
            </a:r>
            <a:endParaRPr lang="en-US" sz="2200" dirty="0"/>
          </a:p>
        </p:txBody>
      </p:sp>
      <p:sp>
        <p:nvSpPr>
          <p:cNvPr id="12" name="text-390"/>
          <p:cNvSpPr txBox="1"/>
          <p:nvPr/>
        </p:nvSpPr>
        <p:spPr>
          <a:xfrm>
            <a:off x="6492240" y="2560320"/>
            <a:ext cx="484632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4161A"/>
                </a:solidFill>
                <a:latin typeface="Calibri" pitchFamily="34" charset="0"/>
                <a:ea typeface="Calibri" pitchFamily="34" charset="-122"/>
                <a:cs typeface="Calibri" pitchFamily="34" charset="-120"/>
              </a:rPr>
              <a:t>Fit G, S, T per concept from the Decision logs; prior weight by empirical Bayes</a:t>
            </a:r>
            <a:endParaRPr lang="en-US" sz="1600" dirty="0"/>
          </a:p>
          <a:p>
            <a:pPr marL="342900" indent="-342900">
              <a:spcAft>
                <a:spcPts val="1200"/>
              </a:spcAft>
              <a:buSzPct val="100000"/>
              <a:buChar char="•"/>
            </a:pPr>
            <a:r>
              <a:rPr lang="en-US" sz="1600" dirty="0">
                <a:solidFill>
                  <a:srgbClr val="14161A"/>
                </a:solidFill>
                <a:latin typeface="Calibri" pitchFamily="34" charset="0"/>
                <a:ea typeface="Calibri" pitchFamily="34" charset="-122"/>
                <a:cs typeface="Calibri" pitchFamily="34" charset="-120"/>
              </a:rPr>
              <a:t>Calibrate the simulator on real logs, then validate the DQN agent offline</a:t>
            </a:r>
            <a:endParaRPr lang="en-US" sz="1600" dirty="0"/>
          </a:p>
          <a:p>
            <a:pPr marL="342900" indent="-342900">
              <a:spcAft>
                <a:spcPts val="1200"/>
              </a:spcAft>
              <a:buSzPct val="100000"/>
              <a:buChar char="•"/>
            </a:pPr>
            <a:r>
              <a:rPr lang="en-US" sz="1600" dirty="0">
                <a:solidFill>
                  <a:srgbClr val="14161A"/>
                </a:solidFill>
                <a:latin typeface="Calibri" pitchFamily="34" charset="0"/>
                <a:ea typeface="Calibri" pitchFamily="34" charset="-122"/>
                <a:cs typeface="Calibri" pitchFamily="34" charset="-120"/>
              </a:rPr>
              <a:t>Score gating and the learned policy, layered on top of the ladder</a:t>
            </a:r>
            <a:endParaRPr lang="en-US" sz="16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MAVIA">
  <a:themeElements>
    <a:clrScheme name="MAVIA">
      <a:dk1>
        <a:srgbClr val="14161A"/>
      </a:dk1>
      <a:lt1>
        <a:srgbClr val="FFFFFF"/>
      </a:lt1>
      <a:dk2>
        <a:srgbClr val="0A1B3D"/>
      </a:dk2>
      <a:lt2>
        <a:srgbClr val="EEF1F5"/>
      </a:lt2>
      <a:accent1>
        <a:srgbClr val="1D5FD6"/>
      </a:accent1>
      <a:accent2>
        <a:srgbClr val="1A47A8"/>
      </a:accent2>
      <a:accent3>
        <a:srgbClr val="E8833A"/>
      </a:accent3>
      <a:accent4>
        <a:srgbClr val="157A4F"/>
      </a:accent4>
      <a:accent5>
        <a:srgbClr val="B5271B"/>
      </a:accent5>
      <a:accent6>
        <a:srgbClr val="6BA3F6"/>
      </a:accent6>
      <a:hlink>
        <a:srgbClr val="1D5FD6"/>
      </a:hlink>
      <a:folHlink>
        <a:srgbClr val="1A47A8"/>
      </a:folHlink>
    </a:clrScheme>
    <a:fontScheme name="MAVI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MAVIA: the mobile adaptive audio course pipeline</dc:title>
  <dc:subject>PptxGenJS Presentation</dc:subject>
  <dc:creator>MAVIA</dc:creator>
  <cp:lastModifiedBy>MAVIA</cp:lastModifiedBy>
  <cp:revision>1</cp:revision>
  <dcterms:created xsi:type="dcterms:W3CDTF">2026-10-05T05:09:44Z</dcterms:created>
  <dcterms:modified xsi:type="dcterms:W3CDTF">2026-10-05T05:09:44Z</dcterms:modified>
</cp:coreProperties>
</file>